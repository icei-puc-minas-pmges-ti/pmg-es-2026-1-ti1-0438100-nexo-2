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notesMasterIdLst>
    <p:notesMasterId r:id="rId17"/>
  </p:notesMasterIdLst>
  <p:sldIdLst>
    <p:sldId id="258" r:id="rId2"/>
    <p:sldId id="300" r:id="rId3"/>
    <p:sldId id="496" r:id="rId4"/>
    <p:sldId id="497" r:id="rId5"/>
    <p:sldId id="498" r:id="rId6"/>
    <p:sldId id="499" r:id="rId7"/>
    <p:sldId id="500" r:id="rId8"/>
    <p:sldId id="501" r:id="rId9"/>
    <p:sldId id="502" r:id="rId10"/>
    <p:sldId id="503" r:id="rId11"/>
    <p:sldId id="505" r:id="rId12"/>
    <p:sldId id="506" r:id="rId13"/>
    <p:sldId id="507" r:id="rId14"/>
    <p:sldId id="508" r:id="rId15"/>
    <p:sldId id="42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ia Augusta Vieira Nelson" initials="M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623" autoAdjust="0"/>
  </p:normalViewPr>
  <p:slideViewPr>
    <p:cSldViewPr snapToGrid="0" snapToObjects="1">
      <p:cViewPr>
        <p:scale>
          <a:sx n="76" d="100"/>
          <a:sy n="76" d="100"/>
        </p:scale>
        <p:origin x="-1528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interSettings" Target="printerSettings/printerSettings1.bin"/><Relationship Id="rId1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D6E76-89BB-CC41-8BBB-051FCFF70D82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bg-BG" smtClean="0"/>
              <a:t>Click to edit Master text styles</a:t>
            </a:r>
          </a:p>
          <a:p>
            <a:pPr lvl="1"/>
            <a:r>
              <a:rPr lang="bg-BG" smtClean="0"/>
              <a:t>Second level</a:t>
            </a:r>
          </a:p>
          <a:p>
            <a:pPr lvl="2"/>
            <a:r>
              <a:rPr lang="bg-BG" smtClean="0"/>
              <a:t>Third level</a:t>
            </a:r>
          </a:p>
          <a:p>
            <a:pPr lvl="3"/>
            <a:r>
              <a:rPr lang="bg-BG" smtClean="0"/>
              <a:t>Fourth level</a:t>
            </a:r>
          </a:p>
          <a:p>
            <a:pPr lvl="4"/>
            <a:r>
              <a:rPr lang="bg-BG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24916-7BB6-BA49-9D0A-B51A49E1D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034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10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10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10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10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10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10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bg-BG" sz="1200" b="0" i="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524916-7BB6-BA49-9D0A-B51A49E1DCC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27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bg-BG" smtClean="0"/>
              <a:t>Click to edit Master subtitle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596" y="6248176"/>
            <a:ext cx="8153400" cy="365125"/>
          </a:xfrm>
        </p:spPr>
        <p:txBody>
          <a:bodyPr/>
          <a:lstStyle/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bg-BG" dirty="0" smtClean="0"/>
              <a:t>Click to edit Master text styles</a:t>
            </a:r>
          </a:p>
          <a:p>
            <a:pPr lvl="1" eaLnBrk="1" latinLnBrk="0" hangingPunct="1"/>
            <a:r>
              <a:rPr lang="bg-BG" dirty="0" smtClean="0"/>
              <a:t>Second level</a:t>
            </a:r>
          </a:p>
          <a:p>
            <a:pPr lvl="2" eaLnBrk="1" latinLnBrk="0" hangingPunct="1"/>
            <a:r>
              <a:rPr lang="bg-BG" dirty="0" smtClean="0"/>
              <a:t>Third level</a:t>
            </a:r>
          </a:p>
          <a:p>
            <a:pPr lvl="3" eaLnBrk="1" latinLnBrk="0" hangingPunct="1"/>
            <a:r>
              <a:rPr lang="bg-BG" dirty="0" smtClean="0"/>
              <a:t>Fourth level</a:t>
            </a:r>
          </a:p>
          <a:p>
            <a:pPr lvl="4" eaLnBrk="1" latinLnBrk="0" hangingPunct="1"/>
            <a:r>
              <a:rPr lang="bg-BG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bg-BG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bg-BG" smtClean="0"/>
              <a:t>Drag picture to placeholder or click icon to add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bg-BG" smtClean="0"/>
              <a:t>Click to edit Master text styles</a:t>
            </a:r>
          </a:p>
          <a:p>
            <a:pPr lvl="1" eaLnBrk="1" latinLnBrk="0" hangingPunct="1"/>
            <a:r>
              <a:rPr lang="bg-BG" smtClean="0"/>
              <a:t>Second level</a:t>
            </a:r>
          </a:p>
          <a:p>
            <a:pPr lvl="2" eaLnBrk="1" latinLnBrk="0" hangingPunct="1"/>
            <a:r>
              <a:rPr lang="bg-BG" smtClean="0"/>
              <a:t>Third level</a:t>
            </a:r>
          </a:p>
          <a:p>
            <a:pPr lvl="3" eaLnBrk="1" latinLnBrk="0" hangingPunct="1"/>
            <a:r>
              <a:rPr lang="bg-BG" smtClean="0"/>
              <a:t>Fourth level</a:t>
            </a:r>
          </a:p>
          <a:p>
            <a:pPr lvl="4" eaLnBrk="1" latinLnBrk="0" hangingPunct="1"/>
            <a:r>
              <a:rPr lang="bg-BG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  <a:prstGeom prst="rect">
            <a:avLst/>
          </a:prstGeom>
        </p:spPr>
        <p:txBody>
          <a:bodyPr/>
          <a:lstStyle/>
          <a:p>
            <a:fld id="{E60281C1-6469-0640-888E-68CBBF2C8786}" type="datetimeFigureOut">
              <a:rPr lang="en-US" smtClean="0"/>
              <a:t>28/02/22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3B58505F-DAC4-7749-B33D-798050CFFB8C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bg-BG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bg-BG" smtClean="0"/>
              <a:t>Click to edit Master text styles</a:t>
            </a:r>
          </a:p>
          <a:p>
            <a:pPr lvl="1" eaLnBrk="1" latinLnBrk="0" hangingPunct="1"/>
            <a:r>
              <a:rPr kumimoji="0" lang="bg-BG" smtClean="0"/>
              <a:t>Second level</a:t>
            </a:r>
          </a:p>
          <a:p>
            <a:pPr lvl="2" eaLnBrk="1" latinLnBrk="0" hangingPunct="1"/>
            <a:r>
              <a:rPr kumimoji="0" lang="bg-BG" smtClean="0"/>
              <a:t>Third level</a:t>
            </a:r>
          </a:p>
          <a:p>
            <a:pPr lvl="3" eaLnBrk="1" latinLnBrk="0" hangingPunct="1"/>
            <a:r>
              <a:rPr kumimoji="0" lang="bg-BG" smtClean="0"/>
              <a:t>Fourth level</a:t>
            </a:r>
          </a:p>
          <a:p>
            <a:pPr lvl="4" eaLnBrk="1" latinLnBrk="0" hangingPunct="1"/>
            <a:r>
              <a:rPr kumimoji="0" lang="bg-BG" smtClean="0"/>
              <a:t>Fifth level</a:t>
            </a:r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73115" y="354805"/>
            <a:ext cx="6115538" cy="3945757"/>
          </a:xfrm>
        </p:spPr>
        <p:txBody>
          <a:bodyPr>
            <a:noAutofit/>
          </a:bodyPr>
          <a:lstStyle/>
          <a:p>
            <a:r>
              <a:rPr lang="bg-BG" sz="9600" dirty="0" smtClean="0"/>
              <a:t>MÉTODOS ÁGEIS</a:t>
            </a:r>
            <a:endParaRPr lang="en-US" sz="96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73115" y="4435234"/>
            <a:ext cx="6115538" cy="1348154"/>
          </a:xfrm>
        </p:spPr>
        <p:txBody>
          <a:bodyPr>
            <a:noAutofit/>
          </a:bodyPr>
          <a:lstStyle/>
          <a:p>
            <a:r>
              <a:rPr lang="bg-BG" sz="2800" dirty="0" smtClean="0"/>
              <a:t>Eveline Alonso Veloso*</a:t>
            </a:r>
          </a:p>
          <a:p>
            <a:r>
              <a:rPr lang="bg-BG" sz="2400" dirty="0" smtClean="0"/>
              <a:t>* Adaptado do material da Prof.</a:t>
            </a:r>
            <a:r>
              <a:rPr lang="bg-BG" sz="2400" baseline="30000" dirty="0" smtClean="0"/>
              <a:t>a</a:t>
            </a:r>
            <a:r>
              <a:rPr lang="bg-BG" sz="2400" dirty="0" smtClean="0"/>
              <a:t> Maria Augusta Vieira Nelson</a:t>
            </a:r>
            <a:endParaRPr lang="en-US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36777" y="6126261"/>
            <a:ext cx="198924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3200" dirty="0" smtClean="0"/>
              <a:t>PUC Minas</a:t>
            </a: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403234" y="5961135"/>
            <a:ext cx="572347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4400" dirty="0" smtClean="0"/>
              <a:t>Engenharia de </a:t>
            </a:r>
            <a:r>
              <a:rPr lang="bg-BG" sz="4400" i="1" dirty="0" smtClean="0"/>
              <a:t>Software</a:t>
            </a:r>
            <a:endParaRPr lang="en-US" sz="4400" i="1" dirty="0"/>
          </a:p>
        </p:txBody>
      </p:sp>
    </p:spTree>
    <p:extLst>
      <p:ext uri="{BB962C8B-B14F-4D97-AF65-F5344CB8AC3E}">
        <p14:creationId xmlns:p14="http://schemas.microsoft.com/office/powerpoint/2010/main" val="305279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O que é um Método Ágil de Desenvolvimento de </a:t>
            </a:r>
            <a:r>
              <a:rPr lang="bg-BG" i="1" dirty="0" smtClean="0">
                <a:latin typeface="Tahoma"/>
                <a:cs typeface="Tahoma"/>
              </a:rPr>
              <a:t>Software</a:t>
            </a:r>
            <a:r>
              <a:rPr lang="bg-BG" dirty="0" smtClean="0">
                <a:latin typeface="Tahoma"/>
                <a:cs typeface="Tahoma"/>
              </a:rPr>
              <a:t>?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bg-BG" sz="3600" dirty="0" smtClean="0">
                <a:latin typeface="Tahoma"/>
                <a:ea typeface="+mn-lt"/>
                <a:cs typeface="Tahoma"/>
              </a:rPr>
              <a:t>Método para o </a:t>
            </a:r>
            <a:r>
              <a:rPr lang="en-US" sz="3600" dirty="0" err="1" smtClean="0">
                <a:latin typeface="Tahoma"/>
                <a:ea typeface="+mn-lt"/>
                <a:cs typeface="Tahoma"/>
              </a:rPr>
              <a:t>desenvolvimento</a:t>
            </a:r>
            <a:r>
              <a:rPr lang="en-US" sz="3600" dirty="0" smtClean="0">
                <a:latin typeface="Tahoma"/>
                <a:ea typeface="+mn-lt"/>
                <a:cs typeface="Tahoma"/>
              </a:rPr>
              <a:t> </a:t>
            </a:r>
            <a:r>
              <a:rPr lang="bg-BG" sz="3600" b="1" dirty="0" smtClean="0">
                <a:latin typeface="Tahoma"/>
                <a:ea typeface="+mn-lt"/>
                <a:cs typeface="Tahoma"/>
              </a:rPr>
              <a:t>iterativo e </a:t>
            </a:r>
            <a:r>
              <a:rPr lang="en-US" sz="3600" b="1" dirty="0" smtClean="0">
                <a:latin typeface="Tahoma"/>
                <a:ea typeface="+mn-lt"/>
                <a:cs typeface="Tahoma"/>
              </a:rPr>
              <a:t>incremental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 de </a:t>
            </a:r>
            <a:r>
              <a:rPr lang="bg-BG" sz="3600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10000"/>
              </a:lnSpc>
            </a:pPr>
            <a:r>
              <a:rPr lang="bg-BG" sz="3200" b="1" dirty="0" smtClean="0">
                <a:latin typeface="Tahoma"/>
                <a:ea typeface="+mn-lt"/>
                <a:cs typeface="Tahoma"/>
              </a:rPr>
              <a:t>i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ncrementos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 err="1" smtClean="0">
                <a:latin typeface="Tahoma"/>
                <a:ea typeface="+mn-lt"/>
                <a:cs typeface="Tahoma"/>
              </a:rPr>
              <a:t>muito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pequenos</a:t>
            </a:r>
            <a:r>
              <a:rPr lang="bg-BG" sz="32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10000"/>
              </a:lnSpc>
            </a:pPr>
            <a:r>
              <a:rPr lang="en-US" sz="3200" dirty="0" err="1" smtClean="0">
                <a:latin typeface="Tahoma"/>
                <a:ea typeface="+mn-lt"/>
                <a:cs typeface="Tahoma"/>
              </a:rPr>
              <a:t>novas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versões</a:t>
            </a:r>
            <a:r>
              <a:rPr lang="en-US" sz="3200" dirty="0">
                <a:latin typeface="Tahoma"/>
                <a:ea typeface="+mn-lt"/>
                <a:cs typeface="Tahoma"/>
              </a:rPr>
              <a:t> do </a:t>
            </a:r>
            <a:r>
              <a:rPr lang="bg-BG" sz="3200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bg-BG" sz="3200" dirty="0" smtClean="0">
                <a:latin typeface="Tahoma"/>
                <a:ea typeface="+mn-lt"/>
                <a:cs typeface="Tahoma"/>
              </a:rPr>
              <a:t>, </a:t>
            </a:r>
            <a:r>
              <a:rPr lang="en-US" sz="3200" dirty="0" err="1" smtClean="0">
                <a:latin typeface="Tahoma"/>
                <a:ea typeface="+mn-lt"/>
                <a:cs typeface="Tahoma"/>
              </a:rPr>
              <a:t>criadas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>
                <a:latin typeface="Tahoma"/>
                <a:ea typeface="+mn-lt"/>
                <a:cs typeface="Tahoma"/>
              </a:rPr>
              <a:t>e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disponibilizadas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ao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cliente</a:t>
            </a:r>
            <a:r>
              <a:rPr lang="bg-BG" sz="32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10000"/>
              </a:lnSpc>
            </a:pPr>
            <a:r>
              <a:rPr lang="bg-BG" sz="2800" dirty="0" smtClean="0">
                <a:latin typeface="Tahoma"/>
                <a:ea typeface="+mn-lt"/>
                <a:cs typeface="Tahoma"/>
              </a:rPr>
              <a:t>em um intervalo de </a:t>
            </a:r>
            <a:r>
              <a:rPr lang="en-US" sz="2800" b="1" dirty="0" err="1" smtClean="0">
                <a:latin typeface="Tahoma"/>
                <a:ea typeface="+mn-lt"/>
                <a:cs typeface="Tahoma"/>
              </a:rPr>
              <a:t>duas</a:t>
            </a:r>
            <a:r>
              <a:rPr lang="en-US" sz="2800" b="1" dirty="0" smtClean="0">
                <a:latin typeface="Tahoma"/>
                <a:ea typeface="+mn-lt"/>
                <a:cs typeface="Tahoma"/>
              </a:rPr>
              <a:t> </a:t>
            </a:r>
            <a:r>
              <a:rPr lang="bg-BG" sz="2800" b="1" dirty="0" smtClean="0">
                <a:latin typeface="Tahoma"/>
                <a:ea typeface="+mn-lt"/>
                <a:cs typeface="Tahoma"/>
              </a:rPr>
              <a:t>a</a:t>
            </a:r>
            <a:r>
              <a:rPr lang="en-US" sz="2800" b="1" dirty="0" smtClean="0">
                <a:latin typeface="Tahoma"/>
                <a:ea typeface="+mn-lt"/>
                <a:cs typeface="Tahoma"/>
              </a:rPr>
              <a:t> </a:t>
            </a:r>
            <a:r>
              <a:rPr lang="bg-BG" sz="2800" b="1" dirty="0" smtClean="0">
                <a:latin typeface="Tahoma"/>
                <a:ea typeface="+mn-lt"/>
                <a:cs typeface="Tahoma"/>
              </a:rPr>
              <a:t>quatro</a:t>
            </a:r>
            <a:r>
              <a:rPr lang="en-US" sz="28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semanas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.</a:t>
            </a:r>
            <a:endParaRPr lang="en-US" sz="28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05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cs typeface="Tahoma"/>
              </a:rPr>
              <a:t>O que é um Método Ágil de Desenvolvimento de </a:t>
            </a:r>
            <a:r>
              <a:rPr lang="bg-BG" i="1" dirty="0" smtClean="0">
                <a:latin typeface="Tahoma"/>
                <a:cs typeface="Tahoma"/>
              </a:rPr>
              <a:t>Software</a:t>
            </a:r>
            <a:r>
              <a:rPr lang="bg-BG" dirty="0" smtClean="0">
                <a:latin typeface="Tahoma"/>
                <a:cs typeface="Tahoma"/>
              </a:rPr>
              <a:t>?</a:t>
            </a:r>
            <a:endParaRPr lang="en-US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bg-BG" sz="3200" b="1" dirty="0" smtClean="0">
                <a:latin typeface="Tahoma"/>
                <a:ea typeface="+mn-lt"/>
                <a:cs typeface="Tahoma"/>
              </a:rPr>
              <a:t>C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lientes</a:t>
            </a:r>
            <a:r>
              <a:rPr lang="en-US" sz="32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envolvidos</a:t>
            </a:r>
            <a:r>
              <a:rPr lang="en-US" sz="32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dirty="0">
                <a:latin typeface="Tahoma"/>
                <a:ea typeface="+mn-lt"/>
                <a:cs typeface="Tahoma"/>
              </a:rPr>
              <a:t>no </a:t>
            </a:r>
            <a:r>
              <a:rPr lang="en-US" sz="3200" dirty="0" err="1" smtClean="0">
                <a:latin typeface="Tahoma"/>
                <a:ea typeface="+mn-lt"/>
                <a:cs typeface="Tahoma"/>
              </a:rPr>
              <a:t>processo</a:t>
            </a:r>
            <a:r>
              <a:rPr lang="bg-BG" sz="32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en-US" sz="2800" dirty="0" err="1" smtClean="0">
                <a:latin typeface="Tahoma"/>
                <a:ea typeface="+mn-lt"/>
                <a:cs typeface="Tahoma"/>
              </a:rPr>
              <a:t>fornece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m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b="1" i="1" dirty="0">
                <a:latin typeface="Tahoma"/>
                <a:ea typeface="+mn-lt"/>
                <a:cs typeface="Tahoma"/>
              </a:rPr>
              <a:t>feedback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err="1" smtClean="0">
                <a:latin typeface="Tahoma"/>
                <a:ea typeface="+mn-lt"/>
                <a:cs typeface="Tahoma"/>
              </a:rPr>
              <a:t>rápido</a:t>
            </a:r>
            <a:endParaRPr lang="bg-BG" sz="2800" dirty="0" smtClean="0">
              <a:latin typeface="Tahoma"/>
              <a:ea typeface="+mn-lt"/>
              <a:cs typeface="Tahoma"/>
            </a:endParaRPr>
          </a:p>
          <a:p>
            <a:pPr lvl="2">
              <a:lnSpc>
                <a:spcPct val="130000"/>
              </a:lnSpc>
            </a:pPr>
            <a:r>
              <a:rPr lang="en-US" sz="2400" dirty="0" err="1" smtClean="0">
                <a:latin typeface="Tahoma"/>
                <a:ea typeface="+mn-lt"/>
                <a:cs typeface="Tahoma"/>
              </a:rPr>
              <a:t>sobre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 smtClean="0">
                <a:latin typeface="Tahoma"/>
                <a:ea typeface="+mn-lt"/>
                <a:cs typeface="Tahoma"/>
              </a:rPr>
              <a:t>os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400" b="1" dirty="0" err="1" smtClean="0">
                <a:latin typeface="Tahoma"/>
                <a:ea typeface="+mn-lt"/>
                <a:cs typeface="Tahoma"/>
              </a:rPr>
              <a:t>requisitos</a:t>
            </a:r>
            <a:r>
              <a:rPr lang="bg-BG" sz="24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bg-BG" sz="2400" dirty="0" smtClean="0">
                <a:latin typeface="Tahoma"/>
                <a:ea typeface="+mn-lt"/>
                <a:cs typeface="Tahoma"/>
              </a:rPr>
              <a:t>e </a:t>
            </a:r>
            <a:r>
              <a:rPr lang="bg-BG" sz="2400" b="1" dirty="0" smtClean="0">
                <a:latin typeface="Tahoma"/>
                <a:ea typeface="+mn-lt"/>
                <a:cs typeface="Tahoma"/>
              </a:rPr>
              <a:t>o que </a:t>
            </a:r>
            <a:r>
              <a:rPr lang="bg-BG" sz="2400" b="1" dirty="0" smtClean="0">
                <a:latin typeface="Tahoma"/>
                <a:ea typeface="+mn-lt"/>
                <a:cs typeface="Tahoma"/>
              </a:rPr>
              <a:t>foi </a:t>
            </a:r>
            <a:r>
              <a:rPr lang="bg-BG" sz="2400" b="1" dirty="0" smtClean="0">
                <a:latin typeface="Tahoma"/>
                <a:ea typeface="+mn-lt"/>
                <a:cs typeface="Tahoma"/>
              </a:rPr>
              <a:t>produzido</a:t>
            </a:r>
            <a:r>
              <a:rPr lang="en-US" sz="2400" dirty="0" smtClean="0">
                <a:latin typeface="Tahoma"/>
                <a:ea typeface="+mn-lt"/>
                <a:cs typeface="Tahoma"/>
              </a:rPr>
              <a:t>. </a:t>
            </a:r>
            <a:endParaRPr lang="en-US" sz="2400" dirty="0">
              <a:latin typeface="Tahoma"/>
              <a:ea typeface="+mn-lt"/>
              <a:cs typeface="Tahoma"/>
            </a:endParaRPr>
          </a:p>
          <a:p>
            <a:pPr>
              <a:lnSpc>
                <a:spcPct val="130000"/>
              </a:lnSpc>
            </a:pPr>
            <a:r>
              <a:rPr lang="en-US" sz="3200" b="1" dirty="0" err="1">
                <a:latin typeface="Tahoma"/>
                <a:ea typeface="+mn-lt"/>
                <a:cs typeface="Tahoma"/>
              </a:rPr>
              <a:t>Minimiza</a:t>
            </a:r>
            <a:r>
              <a:rPr lang="en-US" sz="3200" b="1" dirty="0">
                <a:latin typeface="Tahoma"/>
                <a:ea typeface="+mn-lt"/>
                <a:cs typeface="Tahoma"/>
              </a:rPr>
              <a:t>-se</a:t>
            </a:r>
            <a:r>
              <a:rPr lang="en-US" sz="3200" dirty="0">
                <a:latin typeface="Tahoma"/>
                <a:ea typeface="+mn-lt"/>
                <a:cs typeface="Tahoma"/>
              </a:rPr>
              <a:t> a </a:t>
            </a:r>
            <a:r>
              <a:rPr lang="en-US" sz="3200" b="1" dirty="0" err="1" smtClean="0">
                <a:latin typeface="Tahoma"/>
                <a:ea typeface="+mn-lt"/>
                <a:cs typeface="Tahoma"/>
              </a:rPr>
              <a:t>documentação</a:t>
            </a:r>
            <a:r>
              <a:rPr lang="bg-BG" sz="32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bg-BG" sz="2800" dirty="0" smtClean="0">
                <a:latin typeface="Tahoma"/>
                <a:ea typeface="+mn-lt"/>
                <a:cs typeface="Tahoma"/>
              </a:rPr>
              <a:t>u</a:t>
            </a:r>
            <a:r>
              <a:rPr lang="en-US" sz="2800" dirty="0" err="1" smtClean="0">
                <a:latin typeface="Tahoma"/>
                <a:ea typeface="+mn-lt"/>
                <a:cs typeface="Tahoma"/>
              </a:rPr>
              <a:t>tiliza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-se</a:t>
            </a:r>
            <a:r>
              <a:rPr lang="en-US" sz="2800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2800" dirty="0" err="1">
                <a:latin typeface="Tahoma"/>
                <a:ea typeface="+mn-lt"/>
                <a:cs typeface="Tahoma"/>
              </a:rPr>
              <a:t>mais</a:t>
            </a:r>
            <a:r>
              <a:rPr lang="en-US" sz="2800" dirty="0">
                <a:latin typeface="Tahoma"/>
                <a:ea typeface="+mn-lt"/>
                <a:cs typeface="Tahoma"/>
              </a:rPr>
              <a:t> a </a:t>
            </a:r>
            <a:r>
              <a:rPr lang="en-US" sz="2800" b="1" dirty="0" err="1">
                <a:latin typeface="Tahoma"/>
                <a:ea typeface="+mn-lt"/>
                <a:cs typeface="Tahoma"/>
              </a:rPr>
              <a:t>comunicação</a:t>
            </a:r>
            <a:r>
              <a:rPr lang="en-US" sz="2800" b="1" dirty="0">
                <a:latin typeface="Tahoma"/>
                <a:ea typeface="+mn-lt"/>
                <a:cs typeface="Tahoma"/>
              </a:rPr>
              <a:t> </a:t>
            </a:r>
            <a:r>
              <a:rPr lang="en-US" sz="2800" b="1" dirty="0" smtClean="0">
                <a:latin typeface="Tahoma"/>
                <a:ea typeface="+mn-lt"/>
                <a:cs typeface="Tahoma"/>
              </a:rPr>
              <a:t>informal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en-US" sz="2400" dirty="0" smtClean="0">
                <a:latin typeface="Tahoma"/>
                <a:ea typeface="+mn-lt"/>
                <a:cs typeface="Tahoma"/>
              </a:rPr>
              <a:t>do </a:t>
            </a:r>
            <a:r>
              <a:rPr lang="en-US" sz="2400" dirty="0" err="1">
                <a:latin typeface="Tahoma"/>
                <a:ea typeface="+mn-lt"/>
                <a:cs typeface="Tahoma"/>
              </a:rPr>
              <a:t>que</a:t>
            </a:r>
            <a:r>
              <a:rPr lang="en-US" sz="2400" dirty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>
                <a:latin typeface="Tahoma"/>
                <a:ea typeface="+mn-lt"/>
                <a:cs typeface="Tahoma"/>
              </a:rPr>
              <a:t>reuniões</a:t>
            </a:r>
            <a:r>
              <a:rPr lang="en-US" sz="2400" dirty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>
                <a:latin typeface="Tahoma"/>
                <a:ea typeface="+mn-lt"/>
                <a:cs typeface="Tahoma"/>
              </a:rPr>
              <a:t>formais</a:t>
            </a:r>
            <a:r>
              <a:rPr lang="en-US" sz="2400" dirty="0">
                <a:latin typeface="Tahoma"/>
                <a:ea typeface="+mn-lt"/>
                <a:cs typeface="Tahoma"/>
              </a:rPr>
              <a:t> com </a:t>
            </a:r>
            <a:r>
              <a:rPr lang="en-US" sz="2400" dirty="0" err="1">
                <a:latin typeface="Tahoma"/>
                <a:ea typeface="+mn-lt"/>
                <a:cs typeface="Tahoma"/>
              </a:rPr>
              <a:t>documentos</a:t>
            </a:r>
            <a:r>
              <a:rPr lang="en-US" sz="2400" dirty="0">
                <a:latin typeface="Tahoma"/>
                <a:ea typeface="+mn-lt"/>
                <a:cs typeface="Tahoma"/>
              </a:rPr>
              <a:t> </a:t>
            </a:r>
            <a:r>
              <a:rPr lang="en-US" sz="2400" dirty="0" err="1">
                <a:latin typeface="Tahoma"/>
                <a:ea typeface="+mn-lt"/>
                <a:cs typeface="Tahoma"/>
              </a:rPr>
              <a:t>escritos</a:t>
            </a:r>
            <a:r>
              <a:rPr lang="en-US" sz="2400" dirty="0">
                <a:latin typeface="Tahoma"/>
                <a:ea typeface="+mn-lt"/>
                <a:cs typeface="Tahoma"/>
              </a:rPr>
              <a:t>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14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000" dirty="0" smtClean="0">
                <a:latin typeface="Tahoma"/>
                <a:cs typeface="Tahoma"/>
              </a:rPr>
              <a:t>Manifesto para o Desenvolvimento Ágil de </a:t>
            </a:r>
            <a:r>
              <a:rPr lang="bg-BG" sz="4000" i="1" dirty="0" smtClean="0">
                <a:latin typeface="Tahoma"/>
                <a:cs typeface="Tahoma"/>
              </a:rPr>
              <a:t>Software</a:t>
            </a:r>
            <a:endParaRPr lang="en-US" sz="40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2800" dirty="0" smtClean="0">
                <a:latin typeface="Tahoma"/>
                <a:ea typeface="+mn-lt"/>
                <a:cs typeface="Tahoma"/>
              </a:rPr>
              <a:t>Grupo </a:t>
            </a:r>
            <a:r>
              <a:rPr lang="pt-BR" sz="2800" dirty="0">
                <a:latin typeface="Tahoma"/>
                <a:ea typeface="+mn-lt"/>
                <a:cs typeface="Tahoma"/>
              </a:rPr>
              <a:t>de 17 </a:t>
            </a:r>
            <a:r>
              <a:rPr lang="pt-BR" sz="2800" b="1" dirty="0">
                <a:latin typeface="Tahoma"/>
                <a:ea typeface="+mn-lt"/>
                <a:cs typeface="Tahoma"/>
              </a:rPr>
              <a:t>desenvolvedores e consultores de </a:t>
            </a:r>
            <a:r>
              <a:rPr lang="pt-BR" sz="2800" b="1" i="1" dirty="0">
                <a:latin typeface="Tahoma"/>
                <a:ea typeface="+mn-lt"/>
                <a:cs typeface="Tahoma"/>
              </a:rPr>
              <a:t>software</a:t>
            </a:r>
            <a:r>
              <a:rPr lang="pt-BR" sz="28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20000"/>
              </a:lnSpc>
            </a:pPr>
            <a:r>
              <a:rPr lang="pt-BR" sz="2400" dirty="0">
                <a:latin typeface="Tahoma"/>
                <a:ea typeface="+mn-lt"/>
                <a:cs typeface="Tahoma"/>
              </a:rPr>
              <a:t>dispostos a </a:t>
            </a:r>
            <a:r>
              <a:rPr lang="pt-BR" sz="2400" b="1" dirty="0">
                <a:latin typeface="Tahoma"/>
                <a:ea typeface="+mn-lt"/>
                <a:cs typeface="Tahoma"/>
              </a:rPr>
              <a:t>atacar problemas típicos</a:t>
            </a:r>
            <a:r>
              <a:rPr lang="pt-BR" sz="2400" dirty="0">
                <a:latin typeface="Tahoma"/>
                <a:ea typeface="+mn-lt"/>
                <a:cs typeface="Tahoma"/>
              </a:rPr>
              <a:t> relacionados ao </a:t>
            </a:r>
            <a:r>
              <a:rPr lang="pt-BR" sz="2400" b="1" dirty="0">
                <a:latin typeface="Tahoma"/>
                <a:ea typeface="+mn-lt"/>
                <a:cs typeface="Tahoma"/>
              </a:rPr>
              <a:t>desenvolvimento de </a:t>
            </a:r>
            <a:r>
              <a:rPr lang="pt-BR" sz="2400" b="1" i="1" dirty="0">
                <a:latin typeface="Tahoma"/>
                <a:ea typeface="+mn-lt"/>
                <a:cs typeface="Tahoma"/>
              </a:rPr>
              <a:t>software</a:t>
            </a:r>
            <a:r>
              <a:rPr lang="pt-BR" sz="2400" dirty="0">
                <a:latin typeface="Tahoma"/>
                <a:ea typeface="+mn-lt"/>
                <a:cs typeface="Tahom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pt-BR" sz="2800" dirty="0">
                <a:latin typeface="Tahoma"/>
                <a:ea typeface="+mn-lt"/>
                <a:cs typeface="Tahoma"/>
              </a:rPr>
              <a:t>Criação da </a:t>
            </a:r>
            <a:r>
              <a:rPr lang="pt-BR" sz="2800" b="1" dirty="0">
                <a:latin typeface="Tahoma"/>
                <a:ea typeface="+mn-lt"/>
                <a:cs typeface="Tahoma"/>
              </a:rPr>
              <a:t>Aliança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Ágil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 (</a:t>
            </a:r>
            <a:r>
              <a:rPr lang="bg-BG" sz="2800" i="1" dirty="0" smtClean="0">
                <a:latin typeface="Tahoma"/>
                <a:ea typeface="+mn-lt"/>
                <a:cs typeface="Tahoma"/>
              </a:rPr>
              <a:t>Agile Alliance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)</a:t>
            </a:r>
            <a:r>
              <a:rPr lang="pt-BR" sz="2800" dirty="0" smtClean="0">
                <a:latin typeface="Tahoma"/>
                <a:ea typeface="+mn-lt"/>
                <a:cs typeface="Tahoma"/>
              </a:rPr>
              <a:t>, </a:t>
            </a:r>
            <a:r>
              <a:rPr lang="pt-BR" sz="2800" dirty="0">
                <a:latin typeface="Tahoma"/>
                <a:ea typeface="+mn-lt"/>
                <a:cs typeface="Tahoma"/>
              </a:rPr>
              <a:t>em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2001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:</a:t>
            </a:r>
            <a:endParaRPr lang="pt-BR" sz="28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20000"/>
              </a:lnSpc>
            </a:pPr>
            <a:r>
              <a:rPr lang="pt-BR" sz="2400" dirty="0">
                <a:latin typeface="Tahoma"/>
                <a:ea typeface="+mn-lt"/>
                <a:cs typeface="Tahoma"/>
              </a:rPr>
              <a:t>organização não-lucrativa;</a:t>
            </a:r>
          </a:p>
          <a:p>
            <a:pPr lvl="1">
              <a:lnSpc>
                <a:spcPct val="120000"/>
              </a:lnSpc>
            </a:pPr>
            <a:r>
              <a:rPr lang="pt-BR" sz="2400" dirty="0">
                <a:latin typeface="Tahoma"/>
                <a:ea typeface="+mn-lt"/>
                <a:cs typeface="Tahoma"/>
              </a:rPr>
              <a:t>auxilia indivíduos e organizações que utilizam abordagens ágeis para desenvolver </a:t>
            </a:r>
            <a:r>
              <a:rPr lang="pt-BR" sz="2400" i="1" dirty="0">
                <a:latin typeface="Tahoma"/>
                <a:ea typeface="+mn-lt"/>
                <a:cs typeface="Tahoma"/>
              </a:rPr>
              <a:t>software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.</a:t>
            </a:r>
            <a:endParaRPr lang="pt-BR" sz="24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0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000" dirty="0" smtClean="0">
                <a:latin typeface="Tahoma"/>
                <a:cs typeface="Tahoma"/>
              </a:rPr>
              <a:t>Manifesto para o Desenvolvimento Ágil de </a:t>
            </a:r>
            <a:r>
              <a:rPr lang="bg-BG" sz="4000" i="1" dirty="0" smtClean="0">
                <a:latin typeface="Tahoma"/>
                <a:cs typeface="Tahoma"/>
              </a:rPr>
              <a:t>Software</a:t>
            </a:r>
            <a:endParaRPr lang="en-US" sz="40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r>
              <a:rPr lang="bg-BG" sz="2800" dirty="0" smtClean="0">
                <a:latin typeface="Tahoma"/>
                <a:ea typeface="+mn-lt"/>
                <a:cs typeface="Tahoma"/>
              </a:rPr>
              <a:t>D</a:t>
            </a:r>
            <a:r>
              <a:rPr lang="pt-BR" sz="2800" dirty="0" err="1" smtClean="0">
                <a:latin typeface="Tahoma"/>
                <a:ea typeface="+mn-lt"/>
                <a:cs typeface="Tahoma"/>
              </a:rPr>
              <a:t>efinição</a:t>
            </a:r>
            <a:r>
              <a:rPr lang="pt-BR" sz="28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800" dirty="0">
                <a:latin typeface="Tahoma"/>
                <a:ea typeface="+mn-lt"/>
                <a:cs typeface="Tahoma"/>
              </a:rPr>
              <a:t>de </a:t>
            </a:r>
            <a:r>
              <a:rPr lang="pt-BR" sz="2800" b="1" dirty="0">
                <a:latin typeface="Tahoma"/>
                <a:ea typeface="+mn-lt"/>
                <a:cs typeface="Tahoma"/>
              </a:rPr>
              <a:t>4 valores</a:t>
            </a:r>
            <a:r>
              <a:rPr lang="bg-BG" sz="2800" dirty="0">
                <a:latin typeface="Tahoma"/>
                <a:ea typeface="+mn-lt"/>
                <a:cs typeface="Tahoma"/>
              </a:rPr>
              <a:t>;</a:t>
            </a:r>
          </a:p>
          <a:p>
            <a:pPr lvl="1"/>
            <a:r>
              <a:rPr lang="bg-BG" sz="2400" b="1" dirty="0">
                <a:latin typeface="Tahoma"/>
                <a:ea typeface="+mn-lt"/>
                <a:cs typeface="Tahoma"/>
              </a:rPr>
              <a:t>preferências</a:t>
            </a:r>
            <a:r>
              <a:rPr lang="bg-BG" sz="2400" dirty="0">
                <a:latin typeface="Tahoma"/>
                <a:ea typeface="+mn-lt"/>
                <a:cs typeface="Tahoma"/>
              </a:rPr>
              <a:t>, não alternativas.</a:t>
            </a:r>
            <a:endParaRPr lang="pt-BR" sz="2400" dirty="0">
              <a:latin typeface="Tahoma"/>
              <a:ea typeface="+mn-lt"/>
              <a:cs typeface="Tahoma"/>
            </a:endParaRPr>
          </a:p>
          <a:p>
            <a:r>
              <a:rPr lang="pt-BR" sz="2800" b="1" dirty="0">
                <a:latin typeface="Tahoma"/>
                <a:ea typeface="+mn-lt"/>
                <a:cs typeface="Tahoma"/>
              </a:rPr>
              <a:t>Indivíduos e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interações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/>
            <a:r>
              <a:rPr lang="bg-BG" sz="2400" dirty="0" smtClean="0">
                <a:latin typeface="Tahoma"/>
                <a:ea typeface="+mn-lt"/>
                <a:cs typeface="Tahoma"/>
              </a:rPr>
              <a:t>t</a:t>
            </a:r>
            <a:r>
              <a:rPr lang="bg-BG" sz="2400" dirty="0" smtClean="0">
                <a:latin typeface="Tahoma"/>
                <a:ea typeface="+mn-lt"/>
                <a:cs typeface="Tahoma"/>
              </a:rPr>
              <a:t>êm mais valor que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400" dirty="0">
                <a:latin typeface="Tahoma"/>
                <a:ea typeface="+mn-lt"/>
                <a:cs typeface="Tahoma"/>
              </a:rPr>
              <a:t>processos e ferramentas.</a:t>
            </a:r>
          </a:p>
          <a:p>
            <a:r>
              <a:rPr lang="pt-BR" sz="2800" b="1" i="1" dirty="0">
                <a:latin typeface="Tahoma"/>
                <a:ea typeface="+mn-lt"/>
                <a:cs typeface="Tahoma"/>
              </a:rPr>
              <a:t>Software</a:t>
            </a:r>
            <a:r>
              <a:rPr lang="pt-BR" sz="2800" b="1" dirty="0">
                <a:latin typeface="Tahoma"/>
                <a:ea typeface="+mn-lt"/>
                <a:cs typeface="Tahoma"/>
              </a:rPr>
              <a:t>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funcionando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/>
            <a:r>
              <a:rPr lang="bg-BG" sz="2400" dirty="0" smtClean="0">
                <a:latin typeface="Tahoma"/>
                <a:ea typeface="+mn-lt"/>
                <a:cs typeface="Tahoma"/>
              </a:rPr>
              <a:t>tem </a:t>
            </a:r>
            <a:r>
              <a:rPr lang="bg-BG" sz="2400" dirty="0">
                <a:latin typeface="Tahoma"/>
                <a:ea typeface="+mn-lt"/>
                <a:cs typeface="Tahoma"/>
              </a:rPr>
              <a:t>mais valor que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 </a:t>
            </a:r>
            <a:r>
              <a:rPr lang="bg-BG" sz="2400" dirty="0" smtClean="0">
                <a:latin typeface="Tahoma"/>
                <a:ea typeface="+mn-lt"/>
                <a:cs typeface="Tahoma"/>
              </a:rPr>
              <a:t>uma 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documentação </a:t>
            </a:r>
            <a:r>
              <a:rPr lang="pt-BR" sz="2400" dirty="0">
                <a:latin typeface="Tahoma"/>
                <a:ea typeface="+mn-lt"/>
                <a:cs typeface="Tahoma"/>
              </a:rPr>
              <a:t>abrangente.</a:t>
            </a:r>
          </a:p>
          <a:p>
            <a:r>
              <a:rPr lang="pt-BR" sz="2800" b="1" dirty="0">
                <a:latin typeface="Tahoma"/>
                <a:ea typeface="+mn-lt"/>
                <a:cs typeface="Tahoma"/>
              </a:rPr>
              <a:t>Colaboração </a:t>
            </a:r>
            <a:r>
              <a:rPr lang="bg-BG" sz="2800" b="1" dirty="0" smtClean="0">
                <a:latin typeface="Tahoma"/>
                <a:ea typeface="+mn-lt"/>
                <a:cs typeface="Tahoma"/>
              </a:rPr>
              <a:t>com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o cliente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/>
            <a:r>
              <a:rPr lang="bg-BG" sz="2400" dirty="0" smtClean="0">
                <a:latin typeface="Tahoma"/>
                <a:ea typeface="+mn-lt"/>
                <a:cs typeface="Tahoma"/>
              </a:rPr>
              <a:t>tem </a:t>
            </a:r>
            <a:r>
              <a:rPr lang="bg-BG" sz="2400" dirty="0">
                <a:latin typeface="Tahoma"/>
                <a:ea typeface="+mn-lt"/>
                <a:cs typeface="Tahoma"/>
              </a:rPr>
              <a:t>mais valor que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400" dirty="0">
                <a:latin typeface="Tahoma"/>
                <a:ea typeface="+mn-lt"/>
                <a:cs typeface="Tahoma"/>
              </a:rPr>
              <a:t>negociação contratual.</a:t>
            </a:r>
          </a:p>
          <a:p>
            <a:r>
              <a:rPr lang="pt-BR" sz="2800" b="1" dirty="0">
                <a:latin typeface="Tahoma"/>
                <a:ea typeface="+mn-lt"/>
                <a:cs typeface="Tahoma"/>
              </a:rPr>
              <a:t>Respostas a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m</a:t>
            </a:r>
            <a:r>
              <a:rPr lang="bg-BG" sz="2800" b="1" dirty="0" smtClean="0">
                <a:latin typeface="Tahoma"/>
                <a:ea typeface="+mn-lt"/>
                <a:cs typeface="Tahoma"/>
              </a:rPr>
              <a:t>udan</a:t>
            </a:r>
            <a:r>
              <a:rPr lang="bg-BG" sz="2800" b="1" dirty="0" smtClean="0">
                <a:latin typeface="Tahoma"/>
                <a:ea typeface="+mn-lt"/>
                <a:cs typeface="Tahoma"/>
              </a:rPr>
              <a:t>ça</a:t>
            </a:r>
            <a:r>
              <a:rPr lang="pt-BR" sz="2800" b="1" dirty="0" err="1" smtClean="0">
                <a:latin typeface="Tahoma"/>
                <a:ea typeface="+mn-lt"/>
                <a:cs typeface="Tahoma"/>
              </a:rPr>
              <a:t>s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/>
            <a:r>
              <a:rPr lang="bg-BG" sz="2400" dirty="0">
                <a:latin typeface="Tahoma"/>
                <a:ea typeface="+mn-lt"/>
                <a:cs typeface="Tahoma"/>
              </a:rPr>
              <a:t>têm mais valor que</a:t>
            </a:r>
            <a:r>
              <a:rPr lang="pt-BR" sz="24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400" dirty="0">
                <a:latin typeface="Tahoma"/>
                <a:ea typeface="+mn-lt"/>
                <a:cs typeface="Tahoma"/>
              </a:rPr>
              <a:t>aderência a um plano.</a:t>
            </a:r>
            <a:endParaRPr lang="pt-BR" sz="25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1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pt-BR" sz="3600" dirty="0">
                <a:latin typeface="Tahoma"/>
                <a:ea typeface="+mn-lt"/>
                <a:cs typeface="Tahoma"/>
              </a:rPr>
              <a:t>Indivíduos e 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I</a:t>
            </a:r>
            <a:r>
              <a:rPr lang="pt-BR" sz="3600" dirty="0" err="1" smtClean="0">
                <a:latin typeface="Tahoma"/>
                <a:ea typeface="+mn-lt"/>
                <a:cs typeface="Tahoma"/>
              </a:rPr>
              <a:t>nterações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 </a:t>
            </a:r>
            <a:r>
              <a:rPr lang="bg-BG" sz="3600" dirty="0">
                <a:latin typeface="Tahoma"/>
                <a:ea typeface="+mn-lt"/>
                <a:cs typeface="Tahoma"/>
              </a:rPr>
              <a:t/>
            </a:r>
            <a:br>
              <a:rPr lang="bg-BG" sz="3600" dirty="0">
                <a:latin typeface="Tahoma"/>
                <a:ea typeface="+mn-lt"/>
                <a:cs typeface="Tahoma"/>
              </a:rPr>
            </a:br>
            <a:r>
              <a:rPr lang="bg-BG" sz="3600" dirty="0" smtClean="0">
                <a:latin typeface="Tahoma"/>
                <a:ea typeface="+mn-lt"/>
                <a:cs typeface="Tahoma"/>
              </a:rPr>
              <a:t>em vez de</a:t>
            </a:r>
            <a:r>
              <a:rPr lang="pt-BR" sz="3600" dirty="0" smtClean="0">
                <a:latin typeface="Tahoma"/>
                <a:ea typeface="+mn-lt"/>
                <a:cs typeface="Tahoma"/>
              </a:rPr>
              <a:t> 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P</a:t>
            </a:r>
            <a:r>
              <a:rPr lang="pt-BR" sz="3600" dirty="0" err="1" smtClean="0">
                <a:latin typeface="Tahoma"/>
                <a:ea typeface="+mn-lt"/>
                <a:cs typeface="Tahoma"/>
              </a:rPr>
              <a:t>rocessos</a:t>
            </a:r>
            <a:r>
              <a:rPr lang="pt-BR" sz="36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3600" dirty="0">
                <a:latin typeface="Tahoma"/>
                <a:ea typeface="+mn-lt"/>
                <a:cs typeface="Tahoma"/>
              </a:rPr>
              <a:t>e 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F</a:t>
            </a:r>
            <a:r>
              <a:rPr lang="pt-BR" sz="3600" dirty="0" err="1" smtClean="0">
                <a:latin typeface="Tahoma"/>
                <a:ea typeface="+mn-lt"/>
                <a:cs typeface="Tahoma"/>
              </a:rPr>
              <a:t>erramenta</a:t>
            </a:r>
            <a:r>
              <a:rPr lang="bg-BG" sz="3600" dirty="0" smtClean="0">
                <a:latin typeface="Tahoma"/>
                <a:ea typeface="+mn-lt"/>
                <a:cs typeface="Tahoma"/>
              </a:rPr>
              <a:t>s</a:t>
            </a:r>
            <a:endParaRPr lang="pt-BR" sz="3600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3200" dirty="0" smtClean="0">
                <a:latin typeface="Tahoma"/>
                <a:ea typeface="+mn-lt"/>
                <a:cs typeface="Tahoma"/>
              </a:rPr>
              <a:t>Os </a:t>
            </a:r>
            <a:r>
              <a:rPr lang="pt-BR" sz="3200" dirty="0">
                <a:latin typeface="Tahoma"/>
                <a:ea typeface="+mn-lt"/>
                <a:cs typeface="Tahoma"/>
              </a:rPr>
              <a:t>fatores mais importantes a serem considerados são as </a:t>
            </a:r>
            <a:r>
              <a:rPr lang="pt-BR" sz="3200" b="1" dirty="0">
                <a:latin typeface="Tahoma"/>
                <a:ea typeface="+mn-lt"/>
                <a:cs typeface="Tahoma"/>
              </a:rPr>
              <a:t>pessoas</a:t>
            </a:r>
            <a:r>
              <a:rPr lang="pt-BR" sz="32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pt-BR" sz="2800" dirty="0">
                <a:latin typeface="Tahoma"/>
                <a:ea typeface="+mn-lt"/>
                <a:cs typeface="Tahoma"/>
              </a:rPr>
              <a:t>e 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a forma </a:t>
            </a:r>
            <a:r>
              <a:rPr lang="bg-BG" sz="2800" b="1" dirty="0" smtClean="0">
                <a:latin typeface="Tahoma"/>
                <a:ea typeface="+mn-lt"/>
                <a:cs typeface="Tahoma"/>
              </a:rPr>
              <a:t>como</a:t>
            </a:r>
            <a:r>
              <a:rPr lang="pt-BR" sz="28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800" dirty="0">
                <a:latin typeface="Tahoma"/>
                <a:ea typeface="+mn-lt"/>
                <a:cs typeface="Tahoma"/>
              </a:rPr>
              <a:t>elas </a:t>
            </a:r>
            <a:r>
              <a:rPr lang="pt-BR" sz="2800" b="1" dirty="0">
                <a:latin typeface="Tahoma"/>
                <a:ea typeface="+mn-lt"/>
                <a:cs typeface="Tahoma"/>
              </a:rPr>
              <a:t>trabalham juntas</a:t>
            </a:r>
            <a:r>
              <a:rPr lang="pt-BR" sz="2800" dirty="0">
                <a:latin typeface="Tahoma"/>
                <a:ea typeface="+mn-lt"/>
                <a:cs typeface="Tahoma"/>
              </a:rPr>
              <a:t>.</a:t>
            </a:r>
            <a:endParaRPr lang="en-US" sz="2800" dirty="0">
              <a:latin typeface="Tahoma"/>
              <a:ea typeface="+mn-lt"/>
              <a:cs typeface="Tahoma"/>
            </a:endParaRPr>
          </a:p>
          <a:p>
            <a:pPr>
              <a:lnSpc>
                <a:spcPct val="130000"/>
              </a:lnSpc>
            </a:pPr>
            <a:r>
              <a:rPr lang="pt-BR" sz="3200" dirty="0">
                <a:latin typeface="Tahoma"/>
                <a:ea typeface="+mn-lt"/>
                <a:cs typeface="Tahoma"/>
              </a:rPr>
              <a:t>Se as pessoas não trabalham juntas adequadamente;</a:t>
            </a:r>
          </a:p>
          <a:p>
            <a:pPr lvl="1">
              <a:lnSpc>
                <a:spcPct val="130000"/>
              </a:lnSpc>
            </a:pPr>
            <a:r>
              <a:rPr lang="pt-BR" sz="2800" dirty="0">
                <a:latin typeface="Tahoma"/>
                <a:ea typeface="+mn-lt"/>
                <a:cs typeface="Tahoma"/>
              </a:rPr>
              <a:t>nem as melhores ferramentas 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nem</a:t>
            </a:r>
            <a:r>
              <a:rPr lang="pt-BR" sz="2800" dirty="0" smtClean="0">
                <a:latin typeface="Tahoma"/>
                <a:ea typeface="+mn-lt"/>
                <a:cs typeface="Tahoma"/>
              </a:rPr>
              <a:t> </a:t>
            </a:r>
            <a:r>
              <a:rPr lang="pt-BR" sz="2800" dirty="0">
                <a:latin typeface="Tahoma"/>
                <a:ea typeface="+mn-lt"/>
                <a:cs typeface="Tahoma"/>
              </a:rPr>
              <a:t>os melhores processos ajudarão.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97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bg-BG" dirty="0" smtClean="0">
                <a:latin typeface="Tahoma"/>
                <a:ea typeface="+mn-lt"/>
                <a:cs typeface="Tahoma"/>
              </a:rPr>
              <a:t> Funcionando em vez de</a:t>
            </a:r>
            <a:r>
              <a:rPr lang="pt-BR" dirty="0" smtClean="0">
                <a:latin typeface="Tahoma"/>
                <a:ea typeface="+mn-lt"/>
                <a:cs typeface="Tahoma"/>
              </a:rPr>
              <a:t> </a:t>
            </a:r>
            <a:r>
              <a:rPr lang="bg-BG" dirty="0" smtClean="0">
                <a:latin typeface="Tahoma"/>
                <a:ea typeface="+mn-lt"/>
                <a:cs typeface="Tahoma"/>
              </a:rPr>
              <a:t>Documenta</a:t>
            </a:r>
            <a:r>
              <a:rPr lang="bg-BG" dirty="0" smtClean="0">
                <a:latin typeface="Tahoma"/>
                <a:ea typeface="+mn-lt"/>
                <a:cs typeface="Tahoma"/>
              </a:rPr>
              <a:t>ção Abrangente</a:t>
            </a:r>
            <a:endParaRPr lang="pt-BR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3200" dirty="0" smtClean="0">
                <a:latin typeface="Tahoma"/>
                <a:ea typeface="+mn-lt"/>
                <a:cs typeface="Tahoma"/>
              </a:rPr>
              <a:t>A </a:t>
            </a:r>
            <a:r>
              <a:rPr lang="pt-BR" sz="3200" dirty="0">
                <a:latin typeface="Tahoma"/>
                <a:ea typeface="+mn-lt"/>
                <a:cs typeface="Tahoma"/>
              </a:rPr>
              <a:t>maioria dos desenvolvedores prefere </a:t>
            </a:r>
            <a:r>
              <a:rPr lang="pt-BR" sz="3200" b="1" dirty="0">
                <a:latin typeface="Tahoma"/>
                <a:ea typeface="+mn-lt"/>
                <a:cs typeface="Tahoma"/>
              </a:rPr>
              <a:t>escrever </a:t>
            </a:r>
            <a:r>
              <a:rPr lang="bg-BG" sz="3200" b="1" i="1" dirty="0" smtClean="0">
                <a:latin typeface="Tahoma"/>
                <a:ea typeface="+mn-lt"/>
                <a:cs typeface="Tahoma"/>
              </a:rPr>
              <a:t>software</a:t>
            </a:r>
            <a:r>
              <a:rPr lang="bg-BG" sz="32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pt-BR" sz="2800" dirty="0" smtClean="0">
                <a:latin typeface="Tahoma"/>
                <a:ea typeface="+mn-lt"/>
                <a:cs typeface="Tahoma"/>
              </a:rPr>
              <a:t>a </a:t>
            </a:r>
            <a:r>
              <a:rPr lang="pt-BR" sz="2800" dirty="0">
                <a:latin typeface="Tahoma"/>
                <a:ea typeface="+mn-lt"/>
                <a:cs typeface="Tahoma"/>
              </a:rPr>
              <a:t>documentos</a:t>
            </a:r>
            <a:r>
              <a:rPr lang="en-US" sz="2800" dirty="0">
                <a:latin typeface="Tahoma"/>
                <a:ea typeface="+mn-lt"/>
                <a:cs typeface="Tahom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bg-BG" sz="3200" b="1" i="1" dirty="0" smtClean="0">
                <a:latin typeface="Tahoma"/>
                <a:ea typeface="+mn-lt"/>
                <a:cs typeface="Tahoma"/>
              </a:rPr>
              <a:t>S</a:t>
            </a:r>
            <a:r>
              <a:rPr lang="en-US" sz="3200" b="1" i="1" dirty="0" err="1" smtClean="0">
                <a:latin typeface="Tahoma"/>
                <a:ea typeface="+mn-lt"/>
                <a:cs typeface="Tahoma"/>
              </a:rPr>
              <a:t>oftware</a:t>
            </a:r>
            <a:r>
              <a:rPr lang="en-US" sz="3200" b="1" dirty="0" smtClean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funcionando</a:t>
            </a:r>
            <a:r>
              <a:rPr lang="en-US" sz="3200" dirty="0">
                <a:latin typeface="Tahoma"/>
                <a:ea typeface="+mn-lt"/>
                <a:cs typeface="Tahoma"/>
              </a:rPr>
              <a:t> </a:t>
            </a:r>
            <a:r>
              <a:rPr lang="en-US" sz="3200" dirty="0" err="1">
                <a:latin typeface="Tahoma"/>
                <a:ea typeface="+mn-lt"/>
                <a:cs typeface="Tahoma"/>
              </a:rPr>
              <a:t>é</a:t>
            </a:r>
            <a:r>
              <a:rPr lang="en-US" sz="3200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mais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importante</a:t>
            </a:r>
            <a:r>
              <a:rPr lang="en-US" sz="3200" dirty="0">
                <a:latin typeface="Tahoma"/>
                <a:ea typeface="+mn-lt"/>
                <a:cs typeface="Tahoma"/>
              </a:rPr>
              <a:t> do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que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artefatos</a:t>
            </a:r>
            <a:r>
              <a:rPr lang="en-US" sz="3200" b="1" dirty="0">
                <a:latin typeface="Tahoma"/>
                <a:ea typeface="+mn-lt"/>
                <a:cs typeface="Tahoma"/>
              </a:rPr>
              <a:t> </a:t>
            </a:r>
            <a:r>
              <a:rPr lang="en-US" sz="3200" b="1" dirty="0" err="1">
                <a:latin typeface="Tahoma"/>
                <a:ea typeface="+mn-lt"/>
                <a:cs typeface="Tahoma"/>
              </a:rPr>
              <a:t>intermediários</a:t>
            </a:r>
            <a:r>
              <a:rPr lang="en-US" sz="32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pt-BR" sz="2800" dirty="0" smtClean="0">
                <a:latin typeface="Tahoma"/>
                <a:ea typeface="+mn-lt"/>
                <a:cs typeface="Tahoma"/>
              </a:rPr>
              <a:t>nem sempre uma boa prática.</a:t>
            </a:r>
            <a:endParaRPr lang="pt-BR" sz="2800" dirty="0">
              <a:latin typeface="Tahoma"/>
              <a:ea typeface="+mn-lt"/>
              <a:cs typeface="Tahoma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679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en-US" dirty="0" smtClean="0">
                <a:latin typeface="Tahoma"/>
                <a:ea typeface="+mn-lt"/>
                <a:cs typeface="Tahoma"/>
              </a:rPr>
              <a:t>C</a:t>
            </a:r>
            <a:r>
              <a:rPr lang="bg-BG" dirty="0" smtClean="0">
                <a:latin typeface="Tahoma"/>
                <a:ea typeface="+mn-lt"/>
                <a:cs typeface="Tahoma"/>
              </a:rPr>
              <a:t>olabora</a:t>
            </a:r>
            <a:r>
              <a:rPr lang="bg-BG" dirty="0" smtClean="0">
                <a:latin typeface="Tahoma"/>
                <a:ea typeface="+mn-lt"/>
                <a:cs typeface="Tahoma"/>
              </a:rPr>
              <a:t>ção com o Cliente</a:t>
            </a:r>
            <a:r>
              <a:rPr lang="bg-BG" dirty="0" smtClean="0">
                <a:latin typeface="Tahoma"/>
                <a:ea typeface="+mn-lt"/>
                <a:cs typeface="Tahoma"/>
              </a:rPr>
              <a:t> em vez de</a:t>
            </a:r>
            <a:r>
              <a:rPr lang="pt-BR" dirty="0" smtClean="0">
                <a:latin typeface="Tahoma"/>
                <a:ea typeface="+mn-lt"/>
                <a:cs typeface="Tahoma"/>
              </a:rPr>
              <a:t> </a:t>
            </a:r>
            <a:r>
              <a:rPr lang="bg-BG" dirty="0" smtClean="0">
                <a:latin typeface="Tahoma"/>
                <a:ea typeface="+mn-lt"/>
                <a:cs typeface="Tahoma"/>
              </a:rPr>
              <a:t>Negocia</a:t>
            </a:r>
            <a:r>
              <a:rPr lang="bg-BG" dirty="0" smtClean="0">
                <a:latin typeface="Tahoma"/>
                <a:ea typeface="+mn-lt"/>
                <a:cs typeface="Tahoma"/>
              </a:rPr>
              <a:t>ção Contratual</a:t>
            </a:r>
            <a:endParaRPr lang="pt-BR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2800" dirty="0" smtClean="0">
                <a:latin typeface="Tahoma"/>
                <a:ea typeface="+mn-lt"/>
                <a:cs typeface="Tahoma"/>
              </a:rPr>
              <a:t>Somente </a:t>
            </a:r>
            <a:r>
              <a:rPr lang="pt-BR" sz="2800" b="1" dirty="0">
                <a:latin typeface="Tahoma"/>
                <a:ea typeface="+mn-lt"/>
                <a:cs typeface="Tahoma"/>
              </a:rPr>
              <a:t>clientes e usuários</a:t>
            </a:r>
            <a:r>
              <a:rPr lang="pt-BR" sz="2800" dirty="0">
                <a:latin typeface="Tahoma"/>
                <a:ea typeface="+mn-lt"/>
                <a:cs typeface="Tahoma"/>
              </a:rPr>
              <a:t> podem </a:t>
            </a:r>
            <a:r>
              <a:rPr lang="pt-BR" sz="2800" b="1" dirty="0">
                <a:latin typeface="Tahoma"/>
                <a:ea typeface="+mn-lt"/>
                <a:cs typeface="Tahoma"/>
              </a:rPr>
              <a:t>dizer</a:t>
            </a:r>
            <a:r>
              <a:rPr lang="pt-BR" sz="2800" dirty="0">
                <a:latin typeface="Tahoma"/>
                <a:ea typeface="+mn-lt"/>
                <a:cs typeface="Tahoma"/>
              </a:rPr>
              <a:t> o que eles realmente </a:t>
            </a:r>
            <a:r>
              <a:rPr lang="pt-BR" sz="2800" b="1" dirty="0">
                <a:latin typeface="Tahoma"/>
                <a:ea typeface="+mn-lt"/>
                <a:cs typeface="Tahoma"/>
              </a:rPr>
              <a:t>querem e </a:t>
            </a:r>
            <a:r>
              <a:rPr lang="pt-BR" sz="2800" b="1" dirty="0" smtClean="0">
                <a:latin typeface="Tahoma"/>
                <a:ea typeface="+mn-lt"/>
                <a:cs typeface="Tahoma"/>
              </a:rPr>
              <a:t>precisam</a:t>
            </a:r>
            <a:r>
              <a:rPr lang="bg-BG" sz="2800" dirty="0" smtClean="0">
                <a:latin typeface="Tahoma"/>
                <a:ea typeface="+mn-lt"/>
                <a:cs typeface="Tahoma"/>
              </a:rPr>
              <a:t>;</a:t>
            </a:r>
            <a:endParaRPr lang="pt-BR" sz="2800" dirty="0">
              <a:latin typeface="Tahoma"/>
              <a:ea typeface="+mn-lt"/>
              <a:cs typeface="Tahoma"/>
            </a:endParaRPr>
          </a:p>
          <a:p>
            <a:pPr lvl="1">
              <a:lnSpc>
                <a:spcPct val="130000"/>
              </a:lnSpc>
            </a:pPr>
            <a:r>
              <a:rPr lang="bg-BG" dirty="0" smtClean="0">
                <a:latin typeface="Tahoma"/>
                <a:ea typeface="+mn-lt"/>
                <a:cs typeface="Tahoma"/>
              </a:rPr>
              <a:t>e</a:t>
            </a:r>
            <a:r>
              <a:rPr lang="pt-BR" dirty="0" err="1" smtClean="0">
                <a:latin typeface="Tahoma"/>
                <a:ea typeface="+mn-lt"/>
                <a:cs typeface="Tahoma"/>
              </a:rPr>
              <a:t>les</a:t>
            </a:r>
            <a:r>
              <a:rPr lang="pt-BR" dirty="0" smtClean="0">
                <a:latin typeface="Tahoma"/>
                <a:ea typeface="+mn-lt"/>
                <a:cs typeface="Tahoma"/>
              </a:rPr>
              <a:t> </a:t>
            </a:r>
            <a:r>
              <a:rPr lang="pt-BR" dirty="0">
                <a:latin typeface="Tahoma"/>
                <a:ea typeface="+mn-lt"/>
                <a:cs typeface="Tahoma"/>
              </a:rPr>
              <a:t>provavelmente </a:t>
            </a:r>
            <a:r>
              <a:rPr lang="pt-BR" b="1" dirty="0">
                <a:latin typeface="Tahoma"/>
                <a:ea typeface="+mn-lt"/>
                <a:cs typeface="Tahoma"/>
              </a:rPr>
              <a:t>não pedem</a:t>
            </a:r>
            <a:r>
              <a:rPr lang="pt-BR" dirty="0">
                <a:latin typeface="Tahoma"/>
                <a:ea typeface="+mn-lt"/>
                <a:cs typeface="Tahoma"/>
              </a:rPr>
              <a:t> as </a:t>
            </a:r>
            <a:r>
              <a:rPr lang="pt-BR" b="1" dirty="0">
                <a:latin typeface="Tahoma"/>
                <a:ea typeface="+mn-lt"/>
                <a:cs typeface="Tahoma"/>
              </a:rPr>
              <a:t>coisas certas</a:t>
            </a:r>
            <a:r>
              <a:rPr lang="pt-BR" dirty="0">
                <a:latin typeface="Tahoma"/>
                <a:ea typeface="+mn-lt"/>
                <a:cs typeface="Tahoma"/>
              </a:rPr>
              <a:t> da </a:t>
            </a:r>
            <a:r>
              <a:rPr lang="pt-BR" b="1" dirty="0">
                <a:latin typeface="Tahoma"/>
                <a:ea typeface="+mn-lt"/>
                <a:cs typeface="Tahoma"/>
              </a:rPr>
              <a:t>primeira vez</a:t>
            </a:r>
            <a:r>
              <a:rPr lang="pt-BR" dirty="0">
                <a:latin typeface="Tahoma"/>
                <a:ea typeface="+mn-lt"/>
                <a:cs typeface="Tahom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pt-BR" sz="2800" dirty="0">
                <a:latin typeface="Tahoma"/>
                <a:ea typeface="+mn-lt"/>
                <a:cs typeface="Tahoma"/>
              </a:rPr>
              <a:t>Contratos são importantes;</a:t>
            </a:r>
          </a:p>
          <a:p>
            <a:pPr lvl="1">
              <a:lnSpc>
                <a:spcPct val="130000"/>
              </a:lnSpc>
            </a:pPr>
            <a:r>
              <a:rPr lang="pt-BR" dirty="0">
                <a:latin typeface="Tahoma"/>
                <a:ea typeface="+mn-lt"/>
                <a:cs typeface="Tahoma"/>
              </a:rPr>
              <a:t>mas o </a:t>
            </a:r>
            <a:r>
              <a:rPr lang="pt-BR" b="1" dirty="0">
                <a:latin typeface="Tahoma"/>
                <a:ea typeface="+mn-lt"/>
                <a:cs typeface="Tahoma"/>
              </a:rPr>
              <a:t>entendimento</a:t>
            </a:r>
            <a:r>
              <a:rPr lang="pt-BR" dirty="0">
                <a:latin typeface="Tahoma"/>
                <a:ea typeface="+mn-lt"/>
                <a:cs typeface="Tahoma"/>
              </a:rPr>
              <a:t> do </a:t>
            </a:r>
            <a:r>
              <a:rPr lang="pt-BR" b="1" dirty="0">
                <a:latin typeface="Tahoma"/>
                <a:ea typeface="+mn-lt"/>
                <a:cs typeface="Tahoma"/>
              </a:rPr>
              <a:t>papel</a:t>
            </a:r>
            <a:r>
              <a:rPr lang="pt-BR" dirty="0">
                <a:latin typeface="Tahoma"/>
                <a:ea typeface="+mn-lt"/>
                <a:cs typeface="Tahoma"/>
              </a:rPr>
              <a:t> de </a:t>
            </a:r>
            <a:r>
              <a:rPr lang="pt-BR" b="1" dirty="0">
                <a:latin typeface="Tahoma"/>
                <a:ea typeface="+mn-lt"/>
                <a:cs typeface="Tahoma"/>
              </a:rPr>
              <a:t>cada </a:t>
            </a:r>
            <a:r>
              <a:rPr lang="pt-BR" b="1" dirty="0" smtClean="0">
                <a:latin typeface="Tahoma"/>
                <a:ea typeface="+mn-lt"/>
                <a:cs typeface="Tahoma"/>
              </a:rPr>
              <a:t>um</a:t>
            </a:r>
            <a:r>
              <a:rPr lang="bg-BG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pt-BR" sz="2400" dirty="0" smtClean="0">
                <a:latin typeface="Tahoma"/>
                <a:ea typeface="+mn-lt"/>
                <a:cs typeface="Tahoma"/>
              </a:rPr>
              <a:t>com </a:t>
            </a:r>
            <a:r>
              <a:rPr lang="pt-BR" sz="2400" b="1" dirty="0">
                <a:latin typeface="Tahoma"/>
                <a:ea typeface="+mn-lt"/>
                <a:cs typeface="Tahoma"/>
              </a:rPr>
              <a:t>adequada </a:t>
            </a:r>
            <a:r>
              <a:rPr lang="pt-BR" sz="2400" b="1" dirty="0" smtClean="0">
                <a:latin typeface="Tahoma"/>
                <a:ea typeface="+mn-lt"/>
                <a:cs typeface="Tahoma"/>
              </a:rPr>
              <a:t>comunicação</a:t>
            </a:r>
            <a:r>
              <a:rPr lang="bg-BG" sz="2400" dirty="0" smtClean="0">
                <a:latin typeface="Tahoma"/>
                <a:ea typeface="+mn-lt"/>
                <a:cs typeface="Tahoma"/>
              </a:rPr>
              <a:t>;</a:t>
            </a:r>
          </a:p>
          <a:p>
            <a:pPr lvl="2">
              <a:lnSpc>
                <a:spcPct val="130000"/>
              </a:lnSpc>
            </a:pPr>
            <a:r>
              <a:rPr lang="pt-BR" sz="2400" dirty="0" smtClean="0">
                <a:latin typeface="Tahoma"/>
                <a:ea typeface="+mn-lt"/>
                <a:cs typeface="Tahoma"/>
              </a:rPr>
              <a:t>é </a:t>
            </a:r>
            <a:r>
              <a:rPr lang="pt-BR" sz="2400" dirty="0">
                <a:latin typeface="Tahoma"/>
                <a:ea typeface="+mn-lt"/>
                <a:cs typeface="Tahoma"/>
              </a:rPr>
              <a:t>mais importante ainda.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688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dirty="0" smtClean="0">
                <a:latin typeface="Tahoma"/>
                <a:ea typeface="+mn-lt"/>
                <a:cs typeface="Tahoma"/>
              </a:rPr>
              <a:t>Respostas a Mudan</a:t>
            </a:r>
            <a:r>
              <a:rPr lang="bg-BG" dirty="0" smtClean="0">
                <a:latin typeface="Tahoma"/>
                <a:ea typeface="+mn-lt"/>
                <a:cs typeface="Tahoma"/>
              </a:rPr>
              <a:t>ças</a:t>
            </a:r>
            <a:r>
              <a:rPr lang="bg-BG" dirty="0" smtClean="0">
                <a:latin typeface="Tahoma"/>
                <a:ea typeface="+mn-lt"/>
                <a:cs typeface="Tahoma"/>
              </a:rPr>
              <a:t> em vez de</a:t>
            </a:r>
            <a:r>
              <a:rPr lang="pt-BR" dirty="0" smtClean="0">
                <a:latin typeface="Tahoma"/>
                <a:ea typeface="+mn-lt"/>
                <a:cs typeface="Tahoma"/>
              </a:rPr>
              <a:t> </a:t>
            </a:r>
            <a:r>
              <a:rPr lang="bg-BG" dirty="0" smtClean="0">
                <a:latin typeface="Tahoma"/>
                <a:ea typeface="+mn-lt"/>
                <a:cs typeface="Tahoma"/>
              </a:rPr>
              <a:t>Ader</a:t>
            </a:r>
            <a:r>
              <a:rPr lang="bg-BG" dirty="0" smtClean="0">
                <a:latin typeface="Tahoma"/>
                <a:ea typeface="+mn-lt"/>
                <a:cs typeface="Tahoma"/>
              </a:rPr>
              <a:t>ência a um Plano</a:t>
            </a:r>
            <a:endParaRPr lang="pt-BR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pt-BR" sz="3200" b="1" dirty="0" smtClean="0">
                <a:latin typeface="Tahoma"/>
                <a:ea typeface="+mn-lt"/>
                <a:cs typeface="Tahoma"/>
              </a:rPr>
              <a:t>Pessoas </a:t>
            </a:r>
            <a:r>
              <a:rPr lang="pt-BR" sz="3200" b="1" dirty="0">
                <a:latin typeface="Tahoma"/>
                <a:ea typeface="+mn-lt"/>
                <a:cs typeface="Tahoma"/>
              </a:rPr>
              <a:t>mudam</a:t>
            </a:r>
            <a:r>
              <a:rPr lang="pt-BR" sz="3200" dirty="0">
                <a:latin typeface="Tahoma"/>
                <a:ea typeface="+mn-lt"/>
                <a:cs typeface="Tahoma"/>
              </a:rPr>
              <a:t> suas </a:t>
            </a:r>
            <a:r>
              <a:rPr lang="pt-BR" sz="3200" b="1" dirty="0">
                <a:latin typeface="Tahoma"/>
                <a:ea typeface="+mn-lt"/>
                <a:cs typeface="Tahoma"/>
              </a:rPr>
              <a:t>prioridades</a:t>
            </a:r>
            <a:r>
              <a:rPr lang="en-US" sz="32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pt-BR" sz="2800" b="1" dirty="0">
                <a:latin typeface="Tahoma"/>
                <a:ea typeface="+mn-lt"/>
                <a:cs typeface="Tahoma"/>
              </a:rPr>
              <a:t>mudança</a:t>
            </a:r>
            <a:r>
              <a:rPr lang="pt-BR" sz="2800" dirty="0">
                <a:latin typeface="Tahoma"/>
                <a:ea typeface="+mn-lt"/>
                <a:cs typeface="Tahoma"/>
              </a:rPr>
              <a:t> é uma </a:t>
            </a:r>
            <a:r>
              <a:rPr lang="pt-BR" sz="2800" b="1" dirty="0">
                <a:latin typeface="Tahoma"/>
                <a:ea typeface="+mn-lt"/>
                <a:cs typeface="Tahoma"/>
              </a:rPr>
              <a:t>realidade</a:t>
            </a:r>
            <a:r>
              <a:rPr lang="pt-BR" sz="2800" dirty="0">
                <a:latin typeface="Tahoma"/>
                <a:ea typeface="+mn-lt"/>
                <a:cs typeface="Tahoma"/>
              </a:rPr>
              <a:t> do </a:t>
            </a:r>
            <a:r>
              <a:rPr lang="pt-BR" sz="2800" b="1" dirty="0">
                <a:latin typeface="Tahoma"/>
                <a:ea typeface="+mn-lt"/>
                <a:cs typeface="Tahoma"/>
              </a:rPr>
              <a:t>desenvolvimento de </a:t>
            </a:r>
            <a:r>
              <a:rPr lang="pt-BR" sz="2800" b="1" i="1" dirty="0">
                <a:latin typeface="Tahoma"/>
                <a:ea typeface="+mn-lt"/>
                <a:cs typeface="Tahoma"/>
              </a:rPr>
              <a:t>software</a:t>
            </a:r>
            <a:r>
              <a:rPr lang="en-US" sz="2800" dirty="0">
                <a:latin typeface="Tahoma"/>
                <a:ea typeface="+mn-lt"/>
                <a:cs typeface="Tahoma"/>
              </a:rPr>
              <a:t>.</a:t>
            </a:r>
          </a:p>
          <a:p>
            <a:pPr>
              <a:lnSpc>
                <a:spcPct val="130000"/>
              </a:lnSpc>
            </a:pPr>
            <a:r>
              <a:rPr lang="pt-BR" sz="3200" dirty="0">
                <a:latin typeface="Tahoma"/>
                <a:ea typeface="+mn-lt"/>
                <a:cs typeface="Tahoma"/>
              </a:rPr>
              <a:t>Não existe problema nenhum em se ter um </a:t>
            </a:r>
            <a:r>
              <a:rPr lang="pt-BR" sz="3200" b="1" dirty="0">
                <a:latin typeface="Tahoma"/>
                <a:ea typeface="+mn-lt"/>
                <a:cs typeface="Tahoma"/>
              </a:rPr>
              <a:t>plano</a:t>
            </a:r>
            <a:r>
              <a:rPr lang="pt-BR" sz="3200" dirty="0">
                <a:latin typeface="Tahoma"/>
                <a:ea typeface="+mn-lt"/>
                <a:cs typeface="Tahoma"/>
              </a:rPr>
              <a:t>;</a:t>
            </a:r>
          </a:p>
          <a:p>
            <a:pPr lvl="1">
              <a:lnSpc>
                <a:spcPct val="130000"/>
              </a:lnSpc>
            </a:pPr>
            <a:r>
              <a:rPr lang="pt-BR" sz="2800" dirty="0">
                <a:latin typeface="Tahoma"/>
                <a:ea typeface="+mn-lt"/>
                <a:cs typeface="Tahoma"/>
              </a:rPr>
              <a:t>ele só precisa ser </a:t>
            </a:r>
            <a:r>
              <a:rPr lang="pt-BR" sz="2800" b="1" dirty="0">
                <a:latin typeface="Tahoma"/>
                <a:ea typeface="+mn-lt"/>
                <a:cs typeface="Tahoma"/>
              </a:rPr>
              <a:t>maleável</a:t>
            </a:r>
            <a:r>
              <a:rPr lang="pt-BR" sz="2800" dirty="0">
                <a:latin typeface="Tahoma"/>
                <a:ea typeface="+mn-lt"/>
                <a:cs typeface="Tahoma"/>
              </a:rPr>
              <a:t> para </a:t>
            </a:r>
            <a:r>
              <a:rPr lang="pt-BR" sz="2800" b="1" dirty="0">
                <a:latin typeface="Tahoma"/>
                <a:ea typeface="+mn-lt"/>
                <a:cs typeface="Tahoma"/>
              </a:rPr>
              <a:t>acomodar</a:t>
            </a:r>
            <a:r>
              <a:rPr lang="pt-BR" sz="2800" dirty="0">
                <a:latin typeface="Tahoma"/>
                <a:ea typeface="+mn-lt"/>
                <a:cs typeface="Tahoma"/>
              </a:rPr>
              <a:t> as </a:t>
            </a:r>
            <a:r>
              <a:rPr lang="pt-BR" sz="2800" b="1" dirty="0">
                <a:latin typeface="Tahoma"/>
                <a:ea typeface="+mn-lt"/>
                <a:cs typeface="Tahoma"/>
              </a:rPr>
              <a:t>mudanças</a:t>
            </a:r>
            <a:r>
              <a:rPr lang="pt-BR" sz="2800" dirty="0">
                <a:latin typeface="Tahoma"/>
                <a:ea typeface="+mn-lt"/>
                <a:cs typeface="Tahoma"/>
              </a:rPr>
              <a:t>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33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ea typeface="+mn-lt"/>
                <a:cs typeface="Tahoma"/>
              </a:rPr>
              <a:t>Princ</a:t>
            </a:r>
            <a:r>
              <a:rPr lang="bg-BG" sz="5400" dirty="0" smtClean="0">
                <a:latin typeface="Tahoma"/>
                <a:ea typeface="+mn-lt"/>
                <a:cs typeface="Tahoma"/>
              </a:rPr>
              <a:t>ípios da Aliança Ágil</a:t>
            </a:r>
            <a:endParaRPr lang="pt-BR" sz="5400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2800" b="1" dirty="0">
                <a:latin typeface="Tahoma" charset="0"/>
                <a:cs typeface="Times New Roman" charset="0"/>
              </a:rPr>
              <a:t>Satisfação</a:t>
            </a:r>
            <a:r>
              <a:rPr lang="pt-BR" sz="2800" dirty="0">
                <a:latin typeface="Tahoma" charset="0"/>
                <a:cs typeface="Times New Roman" charset="0"/>
              </a:rPr>
              <a:t> do </a:t>
            </a:r>
            <a:r>
              <a:rPr lang="pt-BR" sz="2800" b="1" dirty="0">
                <a:latin typeface="Tahoma" charset="0"/>
                <a:cs typeface="Times New Roman" charset="0"/>
              </a:rPr>
              <a:t>cliente</a:t>
            </a:r>
            <a:r>
              <a:rPr lang="pt-BR" sz="2800" dirty="0">
                <a:latin typeface="Tahoma" charset="0"/>
                <a:cs typeface="Times New Roman" charset="0"/>
              </a:rPr>
              <a:t> desde o início; </a:t>
            </a:r>
          </a:p>
          <a:p>
            <a:pPr lvl="1">
              <a:lnSpc>
                <a:spcPct val="120000"/>
              </a:lnSpc>
            </a:pPr>
            <a:r>
              <a:rPr lang="bg-BG" sz="2400" dirty="0" smtClean="0">
                <a:latin typeface="Tahoma" charset="0"/>
                <a:cs typeface="Times New Roman" charset="0"/>
              </a:rPr>
              <a:t>por meio</a:t>
            </a:r>
            <a:r>
              <a:rPr lang="pt-BR" sz="2400" dirty="0" smtClean="0">
                <a:latin typeface="Tahoma" charset="0"/>
                <a:cs typeface="Times New Roman" charset="0"/>
              </a:rPr>
              <a:t> </a:t>
            </a:r>
            <a:r>
              <a:rPr lang="pt-BR" sz="2400" dirty="0">
                <a:latin typeface="Tahoma" charset="0"/>
                <a:cs typeface="Times New Roman" charset="0"/>
              </a:rPr>
              <a:t>de </a:t>
            </a:r>
            <a:r>
              <a:rPr lang="pt-BR" sz="2400" b="1" dirty="0">
                <a:latin typeface="Tahoma" charset="0"/>
                <a:cs typeface="Times New Roman" charset="0"/>
              </a:rPr>
              <a:t>entrega </a:t>
            </a:r>
            <a:r>
              <a:rPr lang="bg-BG" sz="2400" b="1" dirty="0" smtClean="0">
                <a:latin typeface="Tahoma" charset="0"/>
                <a:cs typeface="Times New Roman" charset="0"/>
              </a:rPr>
              <a:t>antecipada e </a:t>
            </a:r>
            <a:r>
              <a:rPr lang="pt-BR" sz="2400" b="1" dirty="0" smtClean="0">
                <a:latin typeface="Tahoma" charset="0"/>
                <a:cs typeface="Times New Roman" charset="0"/>
              </a:rPr>
              <a:t>contínua</a:t>
            </a:r>
            <a:r>
              <a:rPr lang="pt-BR" sz="2400" dirty="0" smtClean="0">
                <a:latin typeface="Tahoma" charset="0"/>
                <a:cs typeface="Times New Roman" charset="0"/>
              </a:rPr>
              <a:t> </a:t>
            </a:r>
            <a:r>
              <a:rPr lang="pt-BR" sz="2400" dirty="0">
                <a:latin typeface="Tahoma" charset="0"/>
                <a:cs typeface="Times New Roman" charset="0"/>
              </a:rPr>
              <a:t>de </a:t>
            </a:r>
            <a:r>
              <a:rPr lang="pt-BR" sz="2400" b="1" i="1" dirty="0">
                <a:latin typeface="Tahoma" charset="0"/>
                <a:cs typeface="Times New Roman" charset="0"/>
              </a:rPr>
              <a:t>software</a:t>
            </a:r>
            <a:r>
              <a:rPr lang="pt-BR" sz="2400" b="1" dirty="0">
                <a:latin typeface="Tahoma" charset="0"/>
                <a:cs typeface="Times New Roman" charset="0"/>
              </a:rPr>
              <a:t> de valor</a:t>
            </a:r>
            <a:r>
              <a:rPr lang="pt-BR" sz="2400" dirty="0">
                <a:latin typeface="Tahoma" charset="0"/>
                <a:cs typeface="Times New Roman" charset="0"/>
              </a:rPr>
              <a:t>.</a:t>
            </a:r>
          </a:p>
          <a:p>
            <a:pPr lvl="1">
              <a:lnSpc>
                <a:spcPct val="120000"/>
              </a:lnSpc>
            </a:pPr>
            <a:r>
              <a:rPr lang="pt-BR" sz="2400" b="1" dirty="0">
                <a:latin typeface="Tahoma" charset="0"/>
                <a:cs typeface="Times New Roman" charset="0"/>
              </a:rPr>
              <a:t>Maior prioridade</a:t>
            </a:r>
            <a:r>
              <a:rPr lang="pt-BR" sz="2400" dirty="0">
                <a:latin typeface="Tahoma" charset="0"/>
                <a:cs typeface="Times New Roman" charset="0"/>
              </a:rPr>
              <a:t> do desenvolvimento ágil.</a:t>
            </a:r>
          </a:p>
          <a:p>
            <a:pPr>
              <a:lnSpc>
                <a:spcPct val="120000"/>
              </a:lnSpc>
            </a:pPr>
            <a:r>
              <a:rPr lang="pt-BR" sz="2800" b="1" dirty="0">
                <a:latin typeface="Tahoma" charset="0"/>
                <a:cs typeface="Times New Roman" charset="0"/>
              </a:rPr>
              <a:t>Modificações de requisitos</a:t>
            </a:r>
            <a:r>
              <a:rPr lang="pt-BR" sz="2800" dirty="0">
                <a:latin typeface="Tahoma" charset="0"/>
                <a:cs typeface="Times New Roman" charset="0"/>
              </a:rPr>
              <a:t> são </a:t>
            </a:r>
            <a:r>
              <a:rPr lang="pt-BR" sz="2800" b="1" dirty="0">
                <a:latin typeface="Tahoma" charset="0"/>
                <a:cs typeface="Times New Roman" charset="0"/>
              </a:rPr>
              <a:t>bem-vindas</a:t>
            </a:r>
            <a:r>
              <a:rPr lang="pt-BR" sz="2800" dirty="0">
                <a:latin typeface="Tahoma" charset="0"/>
                <a:cs typeface="Times New Roman" charset="0"/>
              </a:rPr>
              <a:t>;</a:t>
            </a:r>
          </a:p>
          <a:p>
            <a:pPr lvl="1">
              <a:lnSpc>
                <a:spcPct val="120000"/>
              </a:lnSpc>
            </a:pPr>
            <a:r>
              <a:rPr lang="pt-BR" sz="2400" dirty="0">
                <a:latin typeface="Tahoma" charset="0"/>
                <a:cs typeface="Times New Roman" charset="0"/>
              </a:rPr>
              <a:t>mesmo que tardiamente no desenvolvimento.</a:t>
            </a:r>
          </a:p>
          <a:p>
            <a:pPr lvl="1">
              <a:lnSpc>
                <a:spcPct val="120000"/>
              </a:lnSpc>
            </a:pPr>
            <a:r>
              <a:rPr lang="pt-BR" sz="2400" dirty="0">
                <a:latin typeface="Tahoma" charset="0"/>
                <a:cs typeface="Times New Roman" charset="0"/>
              </a:rPr>
              <a:t>Processos ágeis </a:t>
            </a:r>
            <a:r>
              <a:rPr lang="pt-BR" sz="2400" b="1" dirty="0">
                <a:latin typeface="Tahoma" charset="0"/>
                <a:cs typeface="Times New Roman" charset="0"/>
              </a:rPr>
              <a:t>submetem-se a mudanças</a:t>
            </a:r>
            <a:r>
              <a:rPr lang="pt-BR" sz="2400" dirty="0">
                <a:latin typeface="Tahoma" charset="0"/>
                <a:cs typeface="Times New Roman" charset="0"/>
              </a:rPr>
              <a:t>;</a:t>
            </a:r>
          </a:p>
          <a:p>
            <a:pPr lvl="2">
              <a:lnSpc>
                <a:spcPct val="120000"/>
              </a:lnSpc>
            </a:pPr>
            <a:r>
              <a:rPr lang="pt-BR" sz="2200" dirty="0">
                <a:latin typeface="Tahoma" charset="0"/>
                <a:cs typeface="Times New Roman" charset="0"/>
              </a:rPr>
              <a:t>em favor da vantagem competitiva do cliente</a:t>
            </a:r>
            <a:r>
              <a:rPr lang="pt-BR" sz="2200" dirty="0" smtClean="0">
                <a:latin typeface="Tahoma" charset="0"/>
                <a:cs typeface="Times New Roman" charset="0"/>
              </a:rPr>
              <a:t>.</a:t>
            </a:r>
            <a:endParaRPr lang="pt-BR" sz="2200" dirty="0">
              <a:latin typeface="Tahoma" charset="0"/>
              <a:cs typeface="Times New Roman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375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ea typeface="+mn-lt"/>
                <a:cs typeface="Tahoma"/>
              </a:rPr>
              <a:t>Princ</a:t>
            </a:r>
            <a:r>
              <a:rPr lang="bg-BG" sz="5400" dirty="0" smtClean="0">
                <a:latin typeface="Tahoma"/>
                <a:ea typeface="+mn-lt"/>
                <a:cs typeface="Tahoma"/>
              </a:rPr>
              <a:t>ípios da Aliança Ágil</a:t>
            </a:r>
            <a:endParaRPr lang="pt-BR" sz="5400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2600" b="1" dirty="0" smtClean="0">
                <a:latin typeface="Tahoma" charset="0"/>
                <a:cs typeface="Times New Roman" charset="0"/>
              </a:rPr>
              <a:t>Entrega </a:t>
            </a:r>
            <a:r>
              <a:rPr lang="pt-BR" sz="2600" b="1" dirty="0" err="1">
                <a:latin typeface="Tahoma" charset="0"/>
                <a:cs typeface="Times New Roman" charset="0"/>
              </a:rPr>
              <a:t>freqüente</a:t>
            </a:r>
            <a:r>
              <a:rPr lang="pt-BR" sz="2600" dirty="0">
                <a:latin typeface="Tahoma" charset="0"/>
                <a:cs typeface="Times New Roman" charset="0"/>
              </a:rPr>
              <a:t> de </a:t>
            </a:r>
            <a:r>
              <a:rPr lang="pt-BR" sz="2600" b="1" i="1" dirty="0">
                <a:latin typeface="Tahoma" charset="0"/>
                <a:cs typeface="Times New Roman" charset="0"/>
              </a:rPr>
              <a:t>software</a:t>
            </a:r>
            <a:r>
              <a:rPr lang="pt-BR" sz="2600" b="1" dirty="0">
                <a:latin typeface="Tahoma" charset="0"/>
                <a:cs typeface="Times New Roman" charset="0"/>
              </a:rPr>
              <a:t> </a:t>
            </a:r>
            <a:r>
              <a:rPr lang="pt-BR" sz="2600" b="1" dirty="0" smtClean="0">
                <a:latin typeface="Tahoma" charset="0"/>
                <a:cs typeface="Times New Roman" charset="0"/>
              </a:rPr>
              <a:t>funcionando</a:t>
            </a:r>
            <a:r>
              <a:rPr lang="bg-BG" sz="2600" dirty="0" smtClean="0">
                <a:latin typeface="Tahoma" charset="0"/>
                <a:cs typeface="Times New Roman" charset="0"/>
              </a:rPr>
              <a:t>:</a:t>
            </a:r>
            <a:endParaRPr lang="bg-BG" sz="2600" dirty="0">
              <a:latin typeface="Tahoma" charset="0"/>
              <a:cs typeface="Times New Roman" charset="0"/>
            </a:endParaRPr>
          </a:p>
          <a:p>
            <a:pPr lvl="1">
              <a:lnSpc>
                <a:spcPct val="120000"/>
              </a:lnSpc>
            </a:pPr>
            <a:r>
              <a:rPr lang="pt-BR" sz="2400" dirty="0">
                <a:latin typeface="Tahoma" charset="0"/>
                <a:cs typeface="Times New Roman" charset="0"/>
              </a:rPr>
              <a:t>de </a:t>
            </a:r>
            <a:r>
              <a:rPr lang="pt-BR" sz="2400" b="1" dirty="0">
                <a:latin typeface="Tahoma" charset="0"/>
                <a:cs typeface="Times New Roman" charset="0"/>
              </a:rPr>
              <a:t>duas semanas a dois </a:t>
            </a:r>
            <a:r>
              <a:rPr lang="pt-BR" sz="2400" b="1" dirty="0" smtClean="0">
                <a:latin typeface="Tahoma" charset="0"/>
                <a:cs typeface="Times New Roman" charset="0"/>
              </a:rPr>
              <a:t>meses</a:t>
            </a:r>
            <a:r>
              <a:rPr lang="bg-BG" sz="2400" dirty="0" smtClean="0">
                <a:latin typeface="Tahoma" charset="0"/>
                <a:cs typeface="Times New Roman" charset="0"/>
              </a:rPr>
              <a:t>;</a:t>
            </a:r>
          </a:p>
          <a:p>
            <a:pPr lvl="2">
              <a:lnSpc>
                <a:spcPct val="120000"/>
              </a:lnSpc>
            </a:pPr>
            <a:r>
              <a:rPr lang="pt-BR" sz="2200" dirty="0" smtClean="0">
                <a:latin typeface="Tahoma" charset="0"/>
                <a:cs typeface="Times New Roman" charset="0"/>
              </a:rPr>
              <a:t>favorecendo </a:t>
            </a:r>
            <a:r>
              <a:rPr lang="pt-BR" sz="2200" dirty="0">
                <a:latin typeface="Tahoma" charset="0"/>
                <a:cs typeface="Times New Roman" charset="0"/>
              </a:rPr>
              <a:t>a </a:t>
            </a:r>
            <a:r>
              <a:rPr lang="pt-BR" sz="2200" b="1" dirty="0">
                <a:latin typeface="Tahoma" charset="0"/>
                <a:cs typeface="Times New Roman" charset="0"/>
              </a:rPr>
              <a:t>menor escala</a:t>
            </a:r>
            <a:r>
              <a:rPr lang="pt-BR" sz="2200" dirty="0">
                <a:latin typeface="Tahoma" charset="0"/>
                <a:cs typeface="Times New Roman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pt-BR" sz="2600" i="1" dirty="0">
                <a:latin typeface="Tahoma" charset="0"/>
                <a:cs typeface="Times New Roman" charset="0"/>
              </a:rPr>
              <a:t>Software</a:t>
            </a:r>
            <a:r>
              <a:rPr lang="pt-BR" sz="2600" dirty="0">
                <a:latin typeface="Tahoma" charset="0"/>
                <a:cs typeface="Times New Roman" charset="0"/>
              </a:rPr>
              <a:t> </a:t>
            </a:r>
            <a:r>
              <a:rPr lang="pt-BR" sz="2600" dirty="0" smtClean="0">
                <a:latin typeface="Tahoma" charset="0"/>
                <a:cs typeface="Times New Roman" charset="0"/>
              </a:rPr>
              <a:t>funcionando</a:t>
            </a:r>
            <a:r>
              <a:rPr lang="bg-BG" sz="2600" dirty="0" smtClean="0">
                <a:latin typeface="Tahoma" charset="0"/>
                <a:cs typeface="Times New Roman" charset="0"/>
              </a:rPr>
              <a:t>:</a:t>
            </a:r>
            <a:endParaRPr lang="pt-BR" sz="2600" dirty="0">
              <a:latin typeface="Tahoma" charset="0"/>
              <a:cs typeface="Times New Roman" charset="0"/>
            </a:endParaRPr>
          </a:p>
          <a:p>
            <a:pPr lvl="1">
              <a:lnSpc>
                <a:spcPct val="120000"/>
              </a:lnSpc>
            </a:pPr>
            <a:r>
              <a:rPr lang="pt-BR" sz="2400" b="1" dirty="0">
                <a:latin typeface="Tahoma" charset="0"/>
                <a:cs typeface="Times New Roman" charset="0"/>
              </a:rPr>
              <a:t>principal medida</a:t>
            </a:r>
            <a:r>
              <a:rPr lang="pt-BR" sz="2400" dirty="0">
                <a:latin typeface="Tahoma" charset="0"/>
                <a:cs typeface="Times New Roman" charset="0"/>
              </a:rPr>
              <a:t> de</a:t>
            </a:r>
            <a:r>
              <a:rPr lang="pt-BR" sz="2400" b="1" dirty="0">
                <a:latin typeface="Tahoma" charset="0"/>
                <a:cs typeface="Times New Roman" charset="0"/>
              </a:rPr>
              <a:t> progresso</a:t>
            </a:r>
            <a:r>
              <a:rPr lang="pt-BR" sz="2400" dirty="0">
                <a:latin typeface="Tahoma" charset="0"/>
                <a:cs typeface="Times New Roman" charset="0"/>
              </a:rPr>
              <a:t> do projeto</a:t>
            </a:r>
            <a:r>
              <a:rPr lang="pt-BR" sz="2400" dirty="0" smtClean="0">
                <a:latin typeface="Tahoma" charset="0"/>
                <a:cs typeface="Times New Roman" charset="0"/>
              </a:rPr>
              <a:t>.</a:t>
            </a:r>
            <a:endParaRPr lang="bg-BG" sz="2400" dirty="0" smtClean="0">
              <a:latin typeface="Tahoma" charset="0"/>
              <a:cs typeface="Times New Roman" charset="0"/>
            </a:endParaRPr>
          </a:p>
          <a:p>
            <a:pPr>
              <a:lnSpc>
                <a:spcPct val="120000"/>
              </a:lnSpc>
            </a:pPr>
            <a:r>
              <a:rPr lang="pt-BR" sz="2600" dirty="0" smtClean="0">
                <a:latin typeface="Tahoma" charset="0"/>
                <a:cs typeface="Times New Roman" charset="0"/>
              </a:rPr>
              <a:t>Construção de projetos por </a:t>
            </a:r>
            <a:r>
              <a:rPr lang="pt-BR" sz="2600" b="1" dirty="0" smtClean="0">
                <a:latin typeface="Tahoma" charset="0"/>
                <a:cs typeface="Times New Roman" charset="0"/>
              </a:rPr>
              <a:t>indivíduos motivados</a:t>
            </a:r>
            <a:r>
              <a:rPr lang="bg-BG" sz="2600" dirty="0" smtClean="0">
                <a:latin typeface="Tahoma" charset="0"/>
                <a:cs typeface="Times New Roman" charset="0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bg-BG" sz="2400" dirty="0" smtClean="0">
                <a:latin typeface="Tahoma" charset="0"/>
                <a:cs typeface="Times New Roman" charset="0"/>
              </a:rPr>
              <a:t>d</a:t>
            </a:r>
            <a:r>
              <a:rPr lang="pt-BR" sz="2400" dirty="0" err="1" smtClean="0">
                <a:latin typeface="Tahoma" charset="0"/>
                <a:cs typeface="Times New Roman" charset="0"/>
              </a:rPr>
              <a:t>ê</a:t>
            </a:r>
            <a:r>
              <a:rPr lang="pt-BR" sz="2400" dirty="0" smtClean="0">
                <a:latin typeface="Tahoma" charset="0"/>
                <a:cs typeface="Times New Roman" charset="0"/>
              </a:rPr>
              <a:t> </a:t>
            </a:r>
            <a:r>
              <a:rPr lang="pt-BR" sz="2400" dirty="0">
                <a:latin typeface="Tahoma" charset="0"/>
                <a:cs typeface="Times New Roman" charset="0"/>
              </a:rPr>
              <a:t>a eles o ambiente e o suporte que </a:t>
            </a:r>
            <a:r>
              <a:rPr lang="pt-BR" sz="2400" dirty="0" smtClean="0">
                <a:latin typeface="Tahoma" charset="0"/>
                <a:cs typeface="Times New Roman" charset="0"/>
              </a:rPr>
              <a:t>precisam</a:t>
            </a:r>
            <a:r>
              <a:rPr lang="bg-BG" sz="2400" dirty="0" smtClean="0">
                <a:latin typeface="Tahoma" charset="0"/>
                <a:cs typeface="Times New Roman" charset="0"/>
              </a:rPr>
              <a:t>;</a:t>
            </a:r>
          </a:p>
          <a:p>
            <a:pPr lvl="1">
              <a:lnSpc>
                <a:spcPct val="120000"/>
              </a:lnSpc>
            </a:pPr>
            <a:r>
              <a:rPr lang="pt-BR" sz="2400" dirty="0" smtClean="0">
                <a:latin typeface="Tahoma" charset="0"/>
                <a:cs typeface="Times New Roman" charset="0"/>
              </a:rPr>
              <a:t>e </a:t>
            </a:r>
            <a:r>
              <a:rPr lang="pt-BR" sz="2400" b="1" dirty="0">
                <a:latin typeface="Tahoma" charset="0"/>
                <a:cs typeface="Times New Roman" charset="0"/>
              </a:rPr>
              <a:t>confie</a:t>
            </a:r>
            <a:r>
              <a:rPr lang="pt-BR" sz="2400" dirty="0">
                <a:latin typeface="Tahoma" charset="0"/>
                <a:cs typeface="Times New Roman" charset="0"/>
              </a:rPr>
              <a:t> neles para obter o trabalho feito</a:t>
            </a:r>
            <a:r>
              <a:rPr lang="pt-BR" sz="2400" dirty="0">
                <a:latin typeface="Tahoma" charset="0"/>
                <a:cs typeface="Times New Roman" charset="0"/>
              </a:rPr>
              <a:t>.</a:t>
            </a:r>
            <a:endParaRPr lang="pt-BR" sz="2400" dirty="0">
              <a:latin typeface="Tahoma" charset="0"/>
              <a:cs typeface="Times New Roman" charset="0"/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0529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ea typeface="+mn-lt"/>
                <a:cs typeface="Tahoma"/>
              </a:rPr>
              <a:t>Princ</a:t>
            </a:r>
            <a:r>
              <a:rPr lang="bg-BG" sz="5400" dirty="0" smtClean="0">
                <a:latin typeface="Tahoma"/>
                <a:ea typeface="+mn-lt"/>
                <a:cs typeface="Tahoma"/>
              </a:rPr>
              <a:t>ípios da Aliança Ágil</a:t>
            </a:r>
            <a:endParaRPr lang="pt-BR" sz="5400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pt-BR" sz="2600" b="1" dirty="0" smtClean="0">
                <a:latin typeface="Tahoma" charset="0"/>
                <a:cs typeface="Times New Roman" charset="0"/>
              </a:rPr>
              <a:t>Equipe </a:t>
            </a:r>
            <a:r>
              <a:rPr lang="pt-BR" sz="2600" b="1" dirty="0">
                <a:latin typeface="Tahoma" charset="0"/>
                <a:cs typeface="Times New Roman" charset="0"/>
              </a:rPr>
              <a:t>de negócios e desenvolvedores</a:t>
            </a:r>
            <a:r>
              <a:rPr lang="pt-BR" sz="2600" dirty="0">
                <a:latin typeface="Tahoma" charset="0"/>
                <a:cs typeface="Times New Roman" charset="0"/>
              </a:rPr>
              <a:t> devem </a:t>
            </a:r>
            <a:r>
              <a:rPr lang="pt-BR" sz="2600" b="1" dirty="0">
                <a:latin typeface="Tahoma" charset="0"/>
                <a:cs typeface="Times New Roman" charset="0"/>
              </a:rPr>
              <a:t>trabalhar em conjunto</a:t>
            </a:r>
            <a:r>
              <a:rPr lang="pt-BR" sz="2600" dirty="0">
                <a:latin typeface="Tahoma" charset="0"/>
                <a:cs typeface="Times New Roman" charset="0"/>
              </a:rPr>
              <a:t>;</a:t>
            </a:r>
            <a:endParaRPr lang="bg-BG" sz="2600" dirty="0">
              <a:latin typeface="Tahoma" charset="0"/>
              <a:cs typeface="Times New Roman" charset="0"/>
            </a:endParaRPr>
          </a:p>
          <a:p>
            <a:pPr lvl="1">
              <a:lnSpc>
                <a:spcPct val="90000"/>
              </a:lnSpc>
            </a:pPr>
            <a:r>
              <a:rPr lang="pt-BR" sz="2400" b="1" dirty="0">
                <a:latin typeface="Tahoma" charset="0"/>
                <a:cs typeface="Times New Roman" charset="0"/>
              </a:rPr>
              <a:t>diariamente</a:t>
            </a:r>
            <a:r>
              <a:rPr lang="pt-BR" sz="2400" dirty="0">
                <a:latin typeface="Tahoma" charset="0"/>
                <a:cs typeface="Times New Roman" charset="0"/>
              </a:rPr>
              <a:t> durante </a:t>
            </a:r>
            <a:r>
              <a:rPr lang="pt-BR" sz="2400" b="1" dirty="0">
                <a:latin typeface="Tahoma" charset="0"/>
                <a:cs typeface="Times New Roman" charset="0"/>
              </a:rPr>
              <a:t>todo o projeto</a:t>
            </a:r>
            <a:r>
              <a:rPr lang="pt-BR" sz="2400" dirty="0">
                <a:latin typeface="Tahoma" charset="0"/>
                <a:cs typeface="Times New Roman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pt-BR" sz="2600" b="1" dirty="0">
                <a:latin typeface="Tahoma" charset="0"/>
                <a:cs typeface="Times New Roman" charset="0"/>
              </a:rPr>
              <a:t>Conversa face-a-</a:t>
            </a:r>
            <a:r>
              <a:rPr lang="pt-BR" sz="2600" b="1" dirty="0" smtClean="0">
                <a:latin typeface="Tahoma" charset="0"/>
                <a:cs typeface="Times New Roman" charset="0"/>
              </a:rPr>
              <a:t>face</a:t>
            </a:r>
            <a:r>
              <a:rPr lang="bg-BG" sz="2600" dirty="0" smtClean="0">
                <a:latin typeface="Tahoma" charset="0"/>
                <a:cs typeface="Times New Roman" charset="0"/>
              </a:rPr>
              <a:t>:</a:t>
            </a:r>
            <a:endParaRPr lang="pt-BR" sz="2600" dirty="0">
              <a:latin typeface="Tahoma" charset="0"/>
              <a:cs typeface="Times New Roman" charset="0"/>
            </a:endParaRPr>
          </a:p>
          <a:p>
            <a:pPr lvl="1">
              <a:lnSpc>
                <a:spcPct val="90000"/>
              </a:lnSpc>
            </a:pPr>
            <a:r>
              <a:rPr lang="pt-BR" sz="2400" dirty="0" smtClean="0">
                <a:latin typeface="Tahoma" charset="0"/>
                <a:cs typeface="Times New Roman" charset="0"/>
              </a:rPr>
              <a:t>método </a:t>
            </a:r>
            <a:r>
              <a:rPr lang="pt-BR" sz="2400" dirty="0">
                <a:latin typeface="Tahoma" charset="0"/>
                <a:cs typeface="Times New Roman" charset="0"/>
              </a:rPr>
              <a:t>mais eficiente e efetivo de </a:t>
            </a:r>
            <a:r>
              <a:rPr lang="bg-BG" sz="2400" dirty="0" smtClean="0">
                <a:latin typeface="Tahoma" charset="0"/>
                <a:cs typeface="Times New Roman" charset="0"/>
              </a:rPr>
              <a:t>transmitir</a:t>
            </a:r>
            <a:r>
              <a:rPr lang="pt-BR" sz="2400" dirty="0" smtClean="0">
                <a:latin typeface="Tahoma" charset="0"/>
                <a:cs typeface="Times New Roman" charset="0"/>
              </a:rPr>
              <a:t> </a:t>
            </a:r>
            <a:r>
              <a:rPr lang="pt-BR" sz="2400" dirty="0">
                <a:latin typeface="Tahoma" charset="0"/>
                <a:cs typeface="Times New Roman" charset="0"/>
              </a:rPr>
              <a:t>informação para e dentro de uma equipe de desenvolvimento de </a:t>
            </a:r>
            <a:r>
              <a:rPr lang="pt-BR" sz="2400" i="1" dirty="0">
                <a:latin typeface="Tahoma" charset="0"/>
                <a:cs typeface="Times New Roman" charset="0"/>
              </a:rPr>
              <a:t>software</a:t>
            </a:r>
            <a:r>
              <a:rPr lang="pt-BR" sz="2400" dirty="0">
                <a:latin typeface="Tahoma" charset="0"/>
                <a:cs typeface="Times New Roman" charset="0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pt-BR" sz="2600" dirty="0">
                <a:latin typeface="Tahoma" charset="0"/>
                <a:cs typeface="Times New Roman" charset="0"/>
              </a:rPr>
              <a:t>Processos ágeis promovem </a:t>
            </a:r>
            <a:r>
              <a:rPr lang="pt-BR" sz="2600" b="1" dirty="0">
                <a:latin typeface="Tahoma" charset="0"/>
                <a:cs typeface="Times New Roman" charset="0"/>
              </a:rPr>
              <a:t>desenvolvimento </a:t>
            </a:r>
            <a:r>
              <a:rPr lang="pt-BR" sz="2600" b="1" dirty="0" smtClean="0">
                <a:latin typeface="Tahoma" charset="0"/>
                <a:cs typeface="Times New Roman" charset="0"/>
              </a:rPr>
              <a:t>sustentável</a:t>
            </a:r>
            <a:r>
              <a:rPr lang="bg-BG" sz="2600" dirty="0" smtClean="0">
                <a:latin typeface="Tahoma" charset="0"/>
                <a:cs typeface="Times New Roman" charset="0"/>
              </a:rPr>
              <a:t>:</a:t>
            </a:r>
          </a:p>
          <a:p>
            <a:pPr lvl="1">
              <a:lnSpc>
                <a:spcPct val="90000"/>
              </a:lnSpc>
            </a:pPr>
            <a:r>
              <a:rPr lang="bg-BG" sz="2400" dirty="0" smtClean="0">
                <a:latin typeface="Tahoma" charset="0"/>
                <a:cs typeface="Times New Roman" charset="0"/>
              </a:rPr>
              <a:t>clientes</a:t>
            </a:r>
            <a:r>
              <a:rPr lang="pt-BR" sz="2400" dirty="0" smtClean="0">
                <a:latin typeface="Tahoma" charset="0"/>
                <a:cs typeface="Times New Roman" charset="0"/>
              </a:rPr>
              <a:t>, </a:t>
            </a:r>
            <a:r>
              <a:rPr lang="pt-BR" sz="2400" dirty="0">
                <a:latin typeface="Tahoma" charset="0"/>
                <a:cs typeface="Times New Roman" charset="0"/>
              </a:rPr>
              <a:t>desenvolvedores e usuários devem estar aptos a </a:t>
            </a:r>
            <a:r>
              <a:rPr lang="pt-BR" sz="2400" b="1" dirty="0">
                <a:latin typeface="Tahoma" charset="0"/>
                <a:cs typeface="Times New Roman" charset="0"/>
              </a:rPr>
              <a:t>manter</a:t>
            </a:r>
            <a:r>
              <a:rPr lang="pt-BR" sz="2400" dirty="0">
                <a:latin typeface="Tahoma" charset="0"/>
                <a:cs typeface="Times New Roman" charset="0"/>
              </a:rPr>
              <a:t> um </a:t>
            </a:r>
            <a:r>
              <a:rPr lang="pt-BR" sz="2400" b="1" dirty="0">
                <a:latin typeface="Tahoma" charset="0"/>
                <a:cs typeface="Times New Roman" charset="0"/>
              </a:rPr>
              <a:t>ritmo constante indefinidamente</a:t>
            </a:r>
            <a:r>
              <a:rPr lang="pt-BR" sz="2400" dirty="0">
                <a:latin typeface="Tahoma" charset="0"/>
                <a:cs typeface="Times New Roman" charset="0"/>
              </a:rPr>
              <a:t>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5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ea typeface="+mn-lt"/>
                <a:cs typeface="Tahoma"/>
              </a:rPr>
              <a:t>Princ</a:t>
            </a:r>
            <a:r>
              <a:rPr lang="bg-BG" sz="5400" dirty="0" smtClean="0">
                <a:latin typeface="Tahoma"/>
                <a:ea typeface="+mn-lt"/>
                <a:cs typeface="Tahoma"/>
              </a:rPr>
              <a:t>ípios da Aliança Ágil</a:t>
            </a:r>
            <a:endParaRPr lang="pt-BR" sz="5400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87000"/>
              </a:lnSpc>
            </a:pPr>
            <a:r>
              <a:rPr lang="pt-BR" sz="2600" dirty="0" smtClean="0">
                <a:latin typeface="Tahoma" charset="0"/>
                <a:cs typeface="Times New Roman" charset="0"/>
              </a:rPr>
              <a:t>Atenção </a:t>
            </a:r>
            <a:r>
              <a:rPr lang="pt-BR" sz="2600" dirty="0">
                <a:latin typeface="Tahoma" charset="0"/>
                <a:cs typeface="Times New Roman" charset="0"/>
              </a:rPr>
              <a:t>contínua à </a:t>
            </a:r>
            <a:r>
              <a:rPr lang="pt-BR" sz="2600" b="1" dirty="0">
                <a:latin typeface="Tahoma" charset="0"/>
                <a:cs typeface="Times New Roman" charset="0"/>
              </a:rPr>
              <a:t>excelência técnica</a:t>
            </a:r>
            <a:r>
              <a:rPr lang="pt-BR" sz="2600" dirty="0">
                <a:latin typeface="Tahoma" charset="0"/>
                <a:cs typeface="Times New Roman" charset="0"/>
              </a:rPr>
              <a:t> e </a:t>
            </a:r>
            <a:r>
              <a:rPr lang="pt-BR" sz="2600" b="1" dirty="0">
                <a:latin typeface="Tahoma" charset="0"/>
                <a:cs typeface="Times New Roman" charset="0"/>
              </a:rPr>
              <a:t>bom </a:t>
            </a:r>
            <a:r>
              <a:rPr lang="pt-BR" sz="2600" b="1" dirty="0" smtClean="0">
                <a:latin typeface="Tahoma" charset="0"/>
                <a:cs typeface="Times New Roman" charset="0"/>
              </a:rPr>
              <a:t>desenho</a:t>
            </a:r>
            <a:r>
              <a:rPr lang="bg-BG" sz="2600" dirty="0" smtClean="0">
                <a:latin typeface="Tahoma" charset="0"/>
                <a:cs typeface="Times New Roman" charset="0"/>
              </a:rPr>
              <a:t>;</a:t>
            </a:r>
          </a:p>
          <a:p>
            <a:pPr lvl="1">
              <a:lnSpc>
                <a:spcPct val="87000"/>
              </a:lnSpc>
            </a:pPr>
            <a:r>
              <a:rPr lang="pt-BR" sz="2400" dirty="0" smtClean="0">
                <a:latin typeface="Tahoma" charset="0"/>
                <a:cs typeface="Times New Roman" charset="0"/>
              </a:rPr>
              <a:t>facilitam </a:t>
            </a:r>
            <a:r>
              <a:rPr lang="pt-BR" sz="2400" dirty="0">
                <a:latin typeface="Tahoma" charset="0"/>
                <a:cs typeface="Times New Roman" charset="0"/>
              </a:rPr>
              <a:t>a agilidade.</a:t>
            </a:r>
          </a:p>
          <a:p>
            <a:pPr>
              <a:lnSpc>
                <a:spcPct val="87000"/>
              </a:lnSpc>
            </a:pPr>
            <a:r>
              <a:rPr lang="pt-BR" sz="2600" b="1" dirty="0">
                <a:latin typeface="Tahoma" charset="0"/>
                <a:cs typeface="Times New Roman" charset="0"/>
              </a:rPr>
              <a:t>Simplicidade é essencial</a:t>
            </a:r>
            <a:r>
              <a:rPr lang="pt-BR" sz="2600" dirty="0">
                <a:latin typeface="Tahoma" charset="0"/>
                <a:cs typeface="Times New Roman" charset="0"/>
              </a:rPr>
              <a:t>:</a:t>
            </a:r>
          </a:p>
          <a:p>
            <a:pPr lvl="1">
              <a:lnSpc>
                <a:spcPct val="87000"/>
              </a:lnSpc>
            </a:pPr>
            <a:r>
              <a:rPr lang="pt-BR" sz="2400" dirty="0">
                <a:latin typeface="Tahoma" charset="0"/>
                <a:cs typeface="Times New Roman" charset="0"/>
              </a:rPr>
              <a:t>arte de maximizar a quantidade de trabalho não realizado.</a:t>
            </a:r>
          </a:p>
          <a:p>
            <a:pPr>
              <a:lnSpc>
                <a:spcPct val="87000"/>
              </a:lnSpc>
            </a:pPr>
            <a:r>
              <a:rPr lang="pt-BR" sz="2600" dirty="0">
                <a:latin typeface="Tahoma" charset="0"/>
                <a:cs typeface="Times New Roman" charset="0"/>
              </a:rPr>
              <a:t>As </a:t>
            </a:r>
            <a:r>
              <a:rPr lang="pt-BR" sz="2600" b="1" dirty="0">
                <a:latin typeface="Tahoma" charset="0"/>
                <a:cs typeface="Times New Roman" charset="0"/>
              </a:rPr>
              <a:t>melhores arquiteturas</a:t>
            </a:r>
            <a:r>
              <a:rPr lang="pt-BR" sz="2600" dirty="0">
                <a:latin typeface="Tahoma" charset="0"/>
                <a:cs typeface="Times New Roman" charset="0"/>
              </a:rPr>
              <a:t>, </a:t>
            </a:r>
            <a:r>
              <a:rPr lang="pt-BR" sz="2600" b="1" dirty="0">
                <a:latin typeface="Tahoma" charset="0"/>
                <a:cs typeface="Times New Roman" charset="0"/>
              </a:rPr>
              <a:t>requisitos</a:t>
            </a:r>
            <a:r>
              <a:rPr lang="pt-BR" sz="2600" dirty="0">
                <a:latin typeface="Tahoma" charset="0"/>
                <a:cs typeface="Times New Roman" charset="0"/>
              </a:rPr>
              <a:t> e </a:t>
            </a:r>
            <a:r>
              <a:rPr lang="pt-BR" sz="2600" b="1" dirty="0">
                <a:latin typeface="Tahoma" charset="0"/>
                <a:cs typeface="Times New Roman" charset="0"/>
              </a:rPr>
              <a:t>desenhos</a:t>
            </a:r>
            <a:r>
              <a:rPr lang="pt-BR" sz="2600" dirty="0">
                <a:latin typeface="Tahoma" charset="0"/>
                <a:cs typeface="Times New Roman" charset="0"/>
              </a:rPr>
              <a:t>;</a:t>
            </a:r>
          </a:p>
          <a:p>
            <a:pPr lvl="1">
              <a:lnSpc>
                <a:spcPct val="87000"/>
              </a:lnSpc>
            </a:pPr>
            <a:r>
              <a:rPr lang="pt-BR" sz="2400" dirty="0">
                <a:latin typeface="Tahoma" charset="0"/>
                <a:cs typeface="Times New Roman" charset="0"/>
              </a:rPr>
              <a:t>emergem de </a:t>
            </a:r>
            <a:r>
              <a:rPr lang="pt-BR" sz="2400" b="1" dirty="0">
                <a:latin typeface="Tahoma" charset="0"/>
                <a:cs typeface="Times New Roman" charset="0"/>
              </a:rPr>
              <a:t>equipes auto-organizadas</a:t>
            </a:r>
            <a:r>
              <a:rPr lang="pt-BR" sz="2400" dirty="0">
                <a:latin typeface="Tahoma" charset="0"/>
                <a:cs typeface="Times New Roman" charset="0"/>
              </a:rPr>
              <a:t>.</a:t>
            </a:r>
          </a:p>
          <a:p>
            <a:pPr>
              <a:lnSpc>
                <a:spcPct val="87000"/>
              </a:lnSpc>
            </a:pPr>
            <a:r>
              <a:rPr lang="pt-BR" sz="2600" dirty="0">
                <a:latin typeface="Tahoma" charset="0"/>
                <a:cs typeface="Times New Roman" charset="0"/>
              </a:rPr>
              <a:t>Em intervalos regulares, a </a:t>
            </a:r>
            <a:r>
              <a:rPr lang="pt-BR" sz="2600" b="1" dirty="0">
                <a:latin typeface="Tahoma" charset="0"/>
                <a:cs typeface="Times New Roman" charset="0"/>
              </a:rPr>
              <a:t>equipe</a:t>
            </a:r>
            <a:r>
              <a:rPr lang="pt-BR" sz="2600" dirty="0">
                <a:latin typeface="Tahoma" charset="0"/>
                <a:cs typeface="Times New Roman" charset="0"/>
              </a:rPr>
              <a:t> deve refletir sobre </a:t>
            </a:r>
            <a:r>
              <a:rPr lang="pt-BR" sz="2600" b="1" dirty="0">
                <a:latin typeface="Tahoma" charset="0"/>
                <a:cs typeface="Times New Roman" charset="0"/>
              </a:rPr>
              <a:t>como</a:t>
            </a:r>
            <a:r>
              <a:rPr lang="pt-BR" sz="2600" dirty="0">
                <a:latin typeface="Tahoma" charset="0"/>
                <a:cs typeface="Times New Roman" charset="0"/>
              </a:rPr>
              <a:t> pode </a:t>
            </a:r>
            <a:r>
              <a:rPr lang="pt-BR" sz="2600" b="1" dirty="0">
                <a:latin typeface="Tahoma" charset="0"/>
                <a:cs typeface="Times New Roman" charset="0"/>
              </a:rPr>
              <a:t>se tornar mais efetiva</a:t>
            </a:r>
            <a:r>
              <a:rPr lang="pt-BR" sz="2600" dirty="0">
                <a:latin typeface="Tahoma" charset="0"/>
                <a:cs typeface="Times New Roman" charset="0"/>
              </a:rPr>
              <a:t>;</a:t>
            </a:r>
          </a:p>
          <a:p>
            <a:pPr lvl="1">
              <a:lnSpc>
                <a:spcPct val="87000"/>
              </a:lnSpc>
            </a:pPr>
            <a:r>
              <a:rPr lang="pt-BR" sz="2400" b="1" dirty="0" smtClean="0">
                <a:latin typeface="Tahoma" charset="0"/>
                <a:cs typeface="Times New Roman" charset="0"/>
              </a:rPr>
              <a:t>ajustar</a:t>
            </a:r>
            <a:r>
              <a:rPr lang="pt-BR" sz="2400" dirty="0" smtClean="0">
                <a:latin typeface="Tahoma" charset="0"/>
                <a:cs typeface="Times New Roman" charset="0"/>
              </a:rPr>
              <a:t> </a:t>
            </a:r>
            <a:r>
              <a:rPr lang="pt-BR" sz="2400" dirty="0">
                <a:latin typeface="Tahoma" charset="0"/>
                <a:cs typeface="Times New Roman" charset="0"/>
              </a:rPr>
              <a:t>seu comportamento adequadamente.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219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4800" dirty="0" smtClean="0">
                <a:latin typeface="Tahoma"/>
                <a:ea typeface="+mn-lt"/>
                <a:cs typeface="Tahoma"/>
              </a:rPr>
              <a:t>Exemplos de M</a:t>
            </a:r>
            <a:r>
              <a:rPr lang="bg-BG" sz="4800" dirty="0" smtClean="0">
                <a:latin typeface="Tahoma"/>
                <a:ea typeface="+mn-lt"/>
                <a:cs typeface="Tahoma"/>
              </a:rPr>
              <a:t>étodos Ágeis</a:t>
            </a:r>
            <a:endParaRPr lang="pt-BR" sz="4800" dirty="0">
              <a:latin typeface="Tahoma"/>
              <a:ea typeface="+mn-lt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3200" i="1" dirty="0" err="1" smtClean="0">
                <a:latin typeface="Tahoma" charset="0"/>
                <a:cs typeface="Times New Roman" charset="0"/>
              </a:rPr>
              <a:t>eXtreme</a:t>
            </a:r>
            <a:r>
              <a:rPr lang="pt-BR" sz="3200" dirty="0" smtClean="0">
                <a:latin typeface="Tahoma" charset="0"/>
                <a:cs typeface="Times New Roman" charset="0"/>
              </a:rPr>
              <a:t> </a:t>
            </a:r>
            <a:r>
              <a:rPr lang="pt-BR" sz="3200" i="1" dirty="0" err="1">
                <a:latin typeface="Tahoma" charset="0"/>
                <a:cs typeface="Times New Roman" charset="0"/>
              </a:rPr>
              <a:t>Programming</a:t>
            </a:r>
            <a:r>
              <a:rPr lang="pt-BR" sz="3200" dirty="0">
                <a:latin typeface="Tahoma" charset="0"/>
                <a:cs typeface="Times New Roman" charset="0"/>
              </a:rPr>
              <a:t> (XP</a:t>
            </a:r>
            <a:r>
              <a:rPr lang="pt-BR" sz="3200" dirty="0" smtClean="0">
                <a:latin typeface="Tahoma" charset="0"/>
                <a:cs typeface="Times New Roman" charset="0"/>
              </a:rPr>
              <a:t>)</a:t>
            </a:r>
            <a:r>
              <a:rPr lang="bg-BG" sz="3200" dirty="0" smtClean="0">
                <a:latin typeface="Tahoma" charset="0"/>
                <a:cs typeface="Times New Roman" charset="0"/>
              </a:rPr>
              <a:t>;</a:t>
            </a:r>
          </a:p>
          <a:p>
            <a:pPr lvl="1">
              <a:lnSpc>
                <a:spcPct val="120000"/>
              </a:lnSpc>
            </a:pPr>
            <a:r>
              <a:rPr lang="bg-BG" sz="2800" dirty="0" smtClean="0">
                <a:latin typeface="Tahoma" charset="0"/>
                <a:cs typeface="Times New Roman" charset="0"/>
              </a:rPr>
              <a:t>Programa</a:t>
            </a:r>
            <a:r>
              <a:rPr lang="bg-BG" sz="2800" dirty="0" smtClean="0">
                <a:latin typeface="Tahoma" charset="0"/>
                <a:cs typeface="Times New Roman" charset="0"/>
              </a:rPr>
              <a:t>ção Extrema</a:t>
            </a:r>
            <a:endParaRPr lang="pt-BR" sz="2800" dirty="0">
              <a:latin typeface="Tahoma" charset="0"/>
              <a:cs typeface="Times New Roman" charset="0"/>
            </a:endParaRPr>
          </a:p>
          <a:p>
            <a:pPr>
              <a:lnSpc>
                <a:spcPct val="120000"/>
              </a:lnSpc>
            </a:pPr>
            <a:r>
              <a:rPr lang="pt-BR" sz="3200" dirty="0" smtClean="0">
                <a:latin typeface="Tahoma" charset="0"/>
                <a:cs typeface="Times New Roman" charset="0"/>
              </a:rPr>
              <a:t>SCRUM</a:t>
            </a:r>
            <a:endParaRPr lang="pt-BR" sz="3200" dirty="0">
              <a:latin typeface="Tahoma" charset="0"/>
              <a:cs typeface="Times New Roman" charset="0"/>
            </a:endParaRPr>
          </a:p>
          <a:p>
            <a:pPr>
              <a:lnSpc>
                <a:spcPct val="120000"/>
              </a:lnSpc>
            </a:pPr>
            <a:r>
              <a:rPr lang="pt-BR" sz="3200" i="1" dirty="0" err="1">
                <a:latin typeface="Tahoma" charset="0"/>
                <a:cs typeface="Times New Roman" charset="0"/>
              </a:rPr>
              <a:t>Dynamic</a:t>
            </a:r>
            <a:r>
              <a:rPr lang="pt-BR" sz="3200" i="1" dirty="0">
                <a:latin typeface="Tahoma" charset="0"/>
                <a:cs typeface="Times New Roman" charset="0"/>
              </a:rPr>
              <a:t> System </a:t>
            </a:r>
            <a:r>
              <a:rPr lang="pt-BR" sz="3200" i="1" dirty="0" err="1">
                <a:latin typeface="Tahoma" charset="0"/>
                <a:cs typeface="Times New Roman" charset="0"/>
              </a:rPr>
              <a:t>Development</a:t>
            </a:r>
            <a:r>
              <a:rPr lang="pt-BR" sz="3200" i="1" dirty="0">
                <a:latin typeface="Tahoma" charset="0"/>
                <a:cs typeface="Times New Roman" charset="0"/>
              </a:rPr>
              <a:t> </a:t>
            </a:r>
            <a:r>
              <a:rPr lang="pt-BR" sz="3200" i="1" dirty="0" err="1">
                <a:latin typeface="Tahoma" charset="0"/>
                <a:cs typeface="Times New Roman" charset="0"/>
              </a:rPr>
              <a:t>Method</a:t>
            </a:r>
            <a:r>
              <a:rPr lang="pt-BR" sz="3200" dirty="0">
                <a:latin typeface="Tahoma" charset="0"/>
                <a:cs typeface="Times New Roman" charset="0"/>
              </a:rPr>
              <a:t> (DSDM)</a:t>
            </a:r>
          </a:p>
          <a:p>
            <a:pPr>
              <a:lnSpc>
                <a:spcPct val="120000"/>
              </a:lnSpc>
            </a:pPr>
            <a:r>
              <a:rPr lang="pt-BR" sz="3200" i="1" dirty="0" err="1">
                <a:latin typeface="Tahoma" charset="0"/>
                <a:cs typeface="Times New Roman" charset="0"/>
              </a:rPr>
              <a:t>Feature</a:t>
            </a:r>
            <a:r>
              <a:rPr lang="pt-BR" sz="3200" i="1" dirty="0">
                <a:latin typeface="Tahoma" charset="0"/>
                <a:cs typeface="Times New Roman" charset="0"/>
              </a:rPr>
              <a:t> </a:t>
            </a:r>
            <a:r>
              <a:rPr lang="pt-BR" sz="3200" i="1" dirty="0" err="1">
                <a:latin typeface="Tahoma" charset="0"/>
                <a:cs typeface="Times New Roman" charset="0"/>
              </a:rPr>
              <a:t>Driven</a:t>
            </a:r>
            <a:r>
              <a:rPr lang="pt-BR" sz="3200" i="1" dirty="0">
                <a:latin typeface="Tahoma" charset="0"/>
                <a:cs typeface="Times New Roman" charset="0"/>
              </a:rPr>
              <a:t> </a:t>
            </a:r>
            <a:r>
              <a:rPr lang="pt-BR" sz="3200" i="1" dirty="0" err="1">
                <a:latin typeface="Tahoma" charset="0"/>
                <a:cs typeface="Times New Roman" charset="0"/>
              </a:rPr>
              <a:t>Development</a:t>
            </a:r>
            <a:r>
              <a:rPr lang="pt-BR" sz="3200" dirty="0">
                <a:latin typeface="Tahoma" charset="0"/>
                <a:cs typeface="Times New Roman" charset="0"/>
              </a:rPr>
              <a:t> (FDD)</a:t>
            </a:r>
          </a:p>
          <a:p>
            <a:pPr>
              <a:lnSpc>
                <a:spcPct val="120000"/>
              </a:lnSpc>
            </a:pPr>
            <a:r>
              <a:rPr lang="pt-BR" sz="3200" i="1" dirty="0">
                <a:latin typeface="Tahoma" charset="0"/>
                <a:cs typeface="Times New Roman" charset="0"/>
              </a:rPr>
              <a:t>Crystal </a:t>
            </a:r>
            <a:r>
              <a:rPr lang="pt-BR" sz="3200" i="1" dirty="0" err="1">
                <a:latin typeface="Tahoma" charset="0"/>
                <a:cs typeface="Times New Roman" charset="0"/>
              </a:rPr>
              <a:t>Families</a:t>
            </a:r>
            <a:r>
              <a:rPr lang="pt-BR" sz="3200" dirty="0">
                <a:latin typeface="Tahoma" charset="0"/>
                <a:cs typeface="Times New Roman" charset="0"/>
              </a:rPr>
              <a:t> 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46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39076"/>
            <a:ext cx="8153400" cy="1219200"/>
          </a:xfrm>
        </p:spPr>
        <p:txBody>
          <a:bodyPr>
            <a:noAutofit/>
          </a:bodyPr>
          <a:lstStyle/>
          <a:p>
            <a:r>
              <a:rPr lang="bg-BG" sz="5400" dirty="0" smtClean="0">
                <a:latin typeface="Tahoma"/>
                <a:cs typeface="Tahoma"/>
              </a:rPr>
              <a:t>Referências</a:t>
            </a:r>
            <a:endParaRPr lang="en-US" sz="5400" dirty="0">
              <a:latin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7" y="1582613"/>
            <a:ext cx="7984275" cy="466559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Tahoma"/>
                <a:cs typeface="Tahoma"/>
              </a:rPr>
              <a:t>PRESSMAN, Roger. </a:t>
            </a:r>
            <a:r>
              <a:rPr lang="en-US" sz="3200" b="1" dirty="0" err="1">
                <a:latin typeface="Tahoma"/>
                <a:cs typeface="Tahoma"/>
              </a:rPr>
              <a:t>Engenharia</a:t>
            </a:r>
            <a:r>
              <a:rPr lang="en-US" sz="3200" b="1" dirty="0">
                <a:latin typeface="Tahoma"/>
                <a:cs typeface="Tahoma"/>
              </a:rPr>
              <a:t> de </a:t>
            </a:r>
            <a:r>
              <a:rPr lang="en-US" sz="3200" b="1" i="1" dirty="0">
                <a:latin typeface="Tahoma"/>
                <a:cs typeface="Tahoma"/>
              </a:rPr>
              <a:t>software</a:t>
            </a:r>
            <a:r>
              <a:rPr lang="en-US" sz="3200" b="1" dirty="0">
                <a:latin typeface="Tahoma"/>
                <a:cs typeface="Tahoma"/>
              </a:rPr>
              <a:t>: </a:t>
            </a:r>
            <a:r>
              <a:rPr lang="en-US" sz="3200" b="1" dirty="0" err="1">
                <a:latin typeface="Tahoma"/>
                <a:cs typeface="Tahoma"/>
              </a:rPr>
              <a:t>uma</a:t>
            </a:r>
            <a:r>
              <a:rPr lang="en-US" sz="3200" b="1" dirty="0">
                <a:latin typeface="Tahoma"/>
                <a:cs typeface="Tahoma"/>
              </a:rPr>
              <a:t> </a:t>
            </a:r>
            <a:r>
              <a:rPr lang="en-US" sz="3200" b="1" dirty="0" err="1">
                <a:latin typeface="Tahoma"/>
                <a:cs typeface="Tahoma"/>
              </a:rPr>
              <a:t>abordagem</a:t>
            </a:r>
            <a:r>
              <a:rPr lang="en-US" sz="3200" b="1" dirty="0">
                <a:latin typeface="Tahoma"/>
                <a:cs typeface="Tahoma"/>
              </a:rPr>
              <a:t> </a:t>
            </a:r>
            <a:r>
              <a:rPr lang="en-US" sz="3200" b="1" dirty="0" err="1">
                <a:latin typeface="Tahoma"/>
                <a:cs typeface="Tahoma"/>
              </a:rPr>
              <a:t>profissional</a:t>
            </a:r>
            <a:r>
              <a:rPr lang="en-US" sz="3200" dirty="0">
                <a:latin typeface="Tahoma"/>
                <a:cs typeface="Tahoma"/>
              </a:rPr>
              <a:t>. </a:t>
            </a:r>
            <a:r>
              <a:rPr lang="bg-BG" sz="3200" dirty="0" smtClean="0">
                <a:latin typeface="Tahoma"/>
                <a:cs typeface="Tahoma"/>
              </a:rPr>
              <a:t>Capítulo </a:t>
            </a:r>
            <a:r>
              <a:rPr lang="bg-BG" sz="3200" dirty="0" smtClean="0">
                <a:latin typeface="Tahoma"/>
                <a:cs typeface="Tahoma"/>
              </a:rPr>
              <a:t>3</a:t>
            </a:r>
            <a:r>
              <a:rPr lang="en-US" sz="3200" dirty="0" smtClean="0">
                <a:latin typeface="Tahoma"/>
                <a:cs typeface="Tahoma"/>
              </a:rPr>
              <a:t>. </a:t>
            </a:r>
            <a:endParaRPr lang="en-US" sz="3200" dirty="0">
              <a:latin typeface="Tahoma"/>
              <a:cs typeface="Tahoma"/>
            </a:endParaRPr>
          </a:p>
          <a:p>
            <a:pPr>
              <a:lnSpc>
                <a:spcPct val="120000"/>
              </a:lnSpc>
            </a:pPr>
            <a:r>
              <a:rPr lang="en-US" sz="3200" dirty="0" smtClean="0">
                <a:latin typeface="Tahoma"/>
                <a:cs typeface="Tahoma"/>
              </a:rPr>
              <a:t>SOMMERVILLE</a:t>
            </a:r>
            <a:r>
              <a:rPr lang="en-US" sz="3200" dirty="0">
                <a:latin typeface="Tahoma"/>
                <a:cs typeface="Tahoma"/>
              </a:rPr>
              <a:t>, Ian. </a:t>
            </a:r>
            <a:r>
              <a:rPr lang="en-US" sz="3200" b="1" dirty="0" err="1">
                <a:latin typeface="Tahoma"/>
                <a:cs typeface="Tahoma"/>
              </a:rPr>
              <a:t>Engenharia</a:t>
            </a:r>
            <a:r>
              <a:rPr lang="en-US" sz="3200" b="1" dirty="0">
                <a:latin typeface="Tahoma"/>
                <a:cs typeface="Tahoma"/>
              </a:rPr>
              <a:t> de </a:t>
            </a:r>
            <a:r>
              <a:rPr lang="en-US" sz="3200" b="1" i="1" dirty="0">
                <a:latin typeface="Tahoma"/>
                <a:cs typeface="Tahoma"/>
              </a:rPr>
              <a:t>software</a:t>
            </a:r>
            <a:r>
              <a:rPr lang="en-US" sz="3200" dirty="0">
                <a:latin typeface="Tahoma"/>
                <a:cs typeface="Tahoma"/>
              </a:rPr>
              <a:t>. </a:t>
            </a:r>
            <a:r>
              <a:rPr lang="bg-BG" sz="3200" dirty="0" smtClean="0">
                <a:latin typeface="Tahoma"/>
                <a:cs typeface="Tahoma"/>
              </a:rPr>
              <a:t>Capítulo </a:t>
            </a:r>
            <a:r>
              <a:rPr lang="bg-BG" sz="3200" dirty="0" smtClean="0">
                <a:latin typeface="Tahoma"/>
                <a:cs typeface="Tahoma"/>
              </a:rPr>
              <a:t>3.</a:t>
            </a:r>
            <a:endParaRPr lang="en-US" sz="3200" dirty="0">
              <a:latin typeface="Tahoma"/>
              <a:cs typeface="Tahoma"/>
            </a:endParaRPr>
          </a:p>
          <a:p>
            <a:pPr>
              <a:lnSpc>
                <a:spcPct val="120000"/>
              </a:lnSpc>
            </a:pPr>
            <a:r>
              <a:rPr lang="pt-BR" sz="3200" dirty="0">
                <a:latin typeface="Tahoma"/>
                <a:cs typeface="Tahoma"/>
              </a:rPr>
              <a:t>AMBLER, </a:t>
            </a:r>
            <a:r>
              <a:rPr lang="pt-BR" sz="3200" dirty="0" err="1" smtClean="0">
                <a:latin typeface="Tahoma"/>
                <a:cs typeface="Tahoma"/>
              </a:rPr>
              <a:t>S</a:t>
            </a:r>
            <a:r>
              <a:rPr lang="bg-BG" sz="3200" dirty="0" smtClean="0">
                <a:latin typeface="Tahoma"/>
                <a:cs typeface="Tahoma"/>
              </a:rPr>
              <a:t>cott</a:t>
            </a:r>
            <a:r>
              <a:rPr lang="pt-BR" sz="3200" dirty="0" smtClean="0">
                <a:latin typeface="Tahoma"/>
                <a:cs typeface="Tahoma"/>
              </a:rPr>
              <a:t>. </a:t>
            </a:r>
            <a:r>
              <a:rPr lang="pt-BR" sz="3200" i="1" dirty="0" err="1">
                <a:latin typeface="Tahoma"/>
                <a:cs typeface="Tahoma"/>
              </a:rPr>
              <a:t>Agile</a:t>
            </a:r>
            <a:r>
              <a:rPr lang="pt-BR" sz="3200" i="1" dirty="0">
                <a:latin typeface="Tahoma"/>
                <a:cs typeface="Tahoma"/>
              </a:rPr>
              <a:t> </a:t>
            </a:r>
            <a:r>
              <a:rPr lang="pt-BR" sz="3200" i="1" dirty="0" err="1">
                <a:latin typeface="Tahoma"/>
                <a:cs typeface="Tahoma"/>
              </a:rPr>
              <a:t>Modeling</a:t>
            </a:r>
            <a:r>
              <a:rPr lang="pt-BR" sz="3200" dirty="0">
                <a:latin typeface="Tahoma"/>
                <a:cs typeface="Tahoma"/>
              </a:rPr>
              <a:t>, </a:t>
            </a:r>
            <a:r>
              <a:rPr lang="pt-BR" sz="3200" dirty="0" err="1">
                <a:latin typeface="Tahoma"/>
                <a:cs typeface="Tahoma"/>
              </a:rPr>
              <a:t>Wiley</a:t>
            </a:r>
            <a:r>
              <a:rPr lang="pt-BR" sz="3200" dirty="0">
                <a:latin typeface="Tahoma"/>
                <a:cs typeface="Tahoma"/>
              </a:rPr>
              <a:t> </a:t>
            </a:r>
            <a:r>
              <a:rPr lang="pt-BR" sz="3200" i="1" dirty="0">
                <a:latin typeface="Tahoma"/>
                <a:cs typeface="Tahoma"/>
              </a:rPr>
              <a:t>Computer </a:t>
            </a:r>
            <a:r>
              <a:rPr lang="pt-BR" sz="3200" i="1" dirty="0" err="1">
                <a:latin typeface="Tahoma"/>
                <a:cs typeface="Tahoma"/>
              </a:rPr>
              <a:t>Publishing</a:t>
            </a:r>
            <a:r>
              <a:rPr lang="pt-BR" sz="3200" dirty="0">
                <a:latin typeface="Tahoma"/>
                <a:cs typeface="Tahoma"/>
              </a:rPr>
              <a:t>, 2002.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4294967295"/>
          </p:nvPr>
        </p:nvSpPr>
        <p:spPr>
          <a:xfrm>
            <a:off x="609600" y="6248206"/>
            <a:ext cx="8153400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bg-BG" dirty="0" smtClean="0"/>
              <a:t>Fundamentos de Engenharia de </a:t>
            </a:r>
            <a:r>
              <a:rPr lang="bg-BG" i="1" dirty="0" smtClean="0"/>
              <a:t>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3784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Median.thmx</Template>
  <TotalTime>3973</TotalTime>
  <Words>809</Words>
  <Application>Microsoft Macintosh PowerPoint</Application>
  <PresentationFormat>On-screen Show (4:3)</PresentationFormat>
  <Paragraphs>122</Paragraphs>
  <Slides>15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Median</vt:lpstr>
      <vt:lpstr>MÉTODOS ÁGEIS</vt:lpstr>
      <vt:lpstr>O que é um Método Ágil de Desenvolvimento de Software?</vt:lpstr>
      <vt:lpstr>O que é um Método Ágil de Desenvolvimento de Software?</vt:lpstr>
      <vt:lpstr>Manifesto para o Desenvolvimento Ágil de Software</vt:lpstr>
      <vt:lpstr>Manifesto para o Desenvolvimento Ágil de Software</vt:lpstr>
      <vt:lpstr>Indivíduos e Interações  em vez de Processos e Ferramentas</vt:lpstr>
      <vt:lpstr>Software Funcionando em vez de Documentação Abrangente</vt:lpstr>
      <vt:lpstr>Colaboração com o Cliente em vez de Negociação Contratual</vt:lpstr>
      <vt:lpstr>Respostas a Mudanças em vez de Aderência a um Plano</vt:lpstr>
      <vt:lpstr>Princípios da Aliança Ágil</vt:lpstr>
      <vt:lpstr>Princípios da Aliança Ágil</vt:lpstr>
      <vt:lpstr>Princípios da Aliança Ágil</vt:lpstr>
      <vt:lpstr>Princípios da Aliança Ágil</vt:lpstr>
      <vt:lpstr>Exemplos de Métodos Ágeis</vt:lpstr>
      <vt:lpstr>Referências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EVELINE ALONSO</dc:creator>
  <cp:lastModifiedBy>EVELINE ALONSO</cp:lastModifiedBy>
  <cp:revision>366</cp:revision>
  <dcterms:created xsi:type="dcterms:W3CDTF">2022-02-17T12:52:56Z</dcterms:created>
  <dcterms:modified xsi:type="dcterms:W3CDTF">2022-02-28T17:05:50Z</dcterms:modified>
</cp:coreProperties>
</file>