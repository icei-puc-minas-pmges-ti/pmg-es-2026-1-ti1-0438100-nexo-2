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26"/>
  </p:notesMasterIdLst>
  <p:sldIdLst>
    <p:sldId id="258" r:id="rId2"/>
    <p:sldId id="300" r:id="rId3"/>
    <p:sldId id="562" r:id="rId4"/>
    <p:sldId id="536" r:id="rId5"/>
    <p:sldId id="563" r:id="rId6"/>
    <p:sldId id="564" r:id="rId7"/>
    <p:sldId id="565" r:id="rId8"/>
    <p:sldId id="566" r:id="rId9"/>
    <p:sldId id="567" r:id="rId10"/>
    <p:sldId id="568" r:id="rId11"/>
    <p:sldId id="569" r:id="rId12"/>
    <p:sldId id="570" r:id="rId13"/>
    <p:sldId id="571" r:id="rId14"/>
    <p:sldId id="575" r:id="rId15"/>
    <p:sldId id="576" r:id="rId16"/>
    <p:sldId id="577" r:id="rId17"/>
    <p:sldId id="574" r:id="rId18"/>
    <p:sldId id="578" r:id="rId19"/>
    <p:sldId id="572" r:id="rId20"/>
    <p:sldId id="579" r:id="rId21"/>
    <p:sldId id="580" r:id="rId22"/>
    <p:sldId id="581" r:id="rId23"/>
    <p:sldId id="582" r:id="rId24"/>
    <p:sldId id="42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ia Augusta Vieira Nelson" initials="M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034"/>
    <a:srgbClr val="E47934"/>
    <a:srgbClr val="F58034"/>
    <a:srgbClr val="FA8034"/>
    <a:srgbClr val="ED8034"/>
    <a:srgbClr val="EC8034"/>
    <a:srgbClr val="F67A3E"/>
    <a:srgbClr val="FD8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82" autoAdjust="0"/>
  </p:normalViewPr>
  <p:slideViewPr>
    <p:cSldViewPr snapToGrid="0" snapToObjects="1">
      <p:cViewPr>
        <p:scale>
          <a:sx n="120" d="100"/>
          <a:sy n="120" d="100"/>
        </p:scale>
        <p:origin x="-1872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D6E76-89BB-CC41-8BBB-051FCFF70D82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smtClean="0"/>
              <a:t>Click to edit Master text styles</a:t>
            </a:r>
          </a:p>
          <a:p>
            <a:pPr lvl="1"/>
            <a:r>
              <a:rPr lang="bg-BG" smtClean="0"/>
              <a:t>Second level</a:t>
            </a:r>
          </a:p>
          <a:p>
            <a:pPr lvl="2"/>
            <a:r>
              <a:rPr lang="bg-BG" smtClean="0"/>
              <a:t>Third level</a:t>
            </a:r>
          </a:p>
          <a:p>
            <a:pPr lvl="3"/>
            <a:r>
              <a:rPr lang="bg-BG" smtClean="0"/>
              <a:t>Fourth level</a:t>
            </a:r>
          </a:p>
          <a:p>
            <a:pPr lvl="4"/>
            <a:r>
              <a:rPr lang="bg-BG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24916-7BB6-BA49-9D0A-B51A49E1D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3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 least</a:t>
            </a:r>
            <a:r>
              <a:rPr lang="en-US" baseline="0" dirty="0" smtClean="0"/>
              <a:t> it seems </a:t>
            </a:r>
            <a:r>
              <a:rPr lang="en-US" dirty="0" smtClean="0"/>
              <a:t>to be</a:t>
            </a:r>
            <a:r>
              <a:rPr lang="en-US" baseline="0" dirty="0" smtClean="0"/>
              <a:t> the case when it comes to methods, where most of our good references come from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3D01A-6134-4296-885B-10EF64E1786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4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Marcos: </a:t>
            </a:r>
            <a:r>
              <a:rPr lang="en-US" dirty="0" err="1" smtClean="0"/>
              <a:t>pontos</a:t>
            </a:r>
            <a:r>
              <a:rPr lang="en-US" dirty="0" smtClean="0"/>
              <a:t> de </a:t>
            </a:r>
            <a:r>
              <a:rPr lang="en-US" dirty="0" err="1" smtClean="0"/>
              <a:t>controle</a:t>
            </a:r>
            <a:r>
              <a:rPr lang="en-US" dirty="0" smtClean="0"/>
              <a:t> e </a:t>
            </a:r>
            <a:r>
              <a:rPr lang="en-US" dirty="0" err="1" smtClean="0"/>
              <a:t>verifica</a:t>
            </a:r>
            <a:r>
              <a:rPr lang="en-US" dirty="0" err="1" smtClean="0"/>
              <a:t>ção</a:t>
            </a:r>
            <a:r>
              <a:rPr lang="en-US" dirty="0" smtClean="0"/>
              <a:t> no </a:t>
            </a:r>
            <a:r>
              <a:rPr lang="en-US" dirty="0" err="1" smtClean="0"/>
              <a:t>cronograma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Estão</a:t>
            </a:r>
            <a:r>
              <a:rPr lang="en-US" dirty="0" smtClean="0"/>
              <a:t> </a:t>
            </a:r>
            <a:r>
              <a:rPr lang="en-US" dirty="0" err="1" smtClean="0"/>
              <a:t>associados</a:t>
            </a:r>
            <a:r>
              <a:rPr lang="en-US" dirty="0" smtClean="0"/>
              <a:t> a </a:t>
            </a:r>
            <a:r>
              <a:rPr lang="en-US" dirty="0" err="1" smtClean="0"/>
              <a:t>estados</a:t>
            </a:r>
            <a:r>
              <a:rPr lang="en-US" dirty="0" smtClean="0"/>
              <a:t> </a:t>
            </a:r>
            <a:r>
              <a:rPr lang="en-US" dirty="0" err="1" smtClean="0"/>
              <a:t>significativos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24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2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bg-BG" smtClean="0"/>
              <a:t>Click to edit Master subtitle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6" y="6248176"/>
            <a:ext cx="8153400" cy="365125"/>
          </a:xfrm>
        </p:spPr>
        <p:txBody>
          <a:bodyPr/>
          <a:lstStyle/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bg-BG" dirty="0" smtClean="0"/>
              <a:t>Click to edit Master text styles</a:t>
            </a:r>
          </a:p>
          <a:p>
            <a:pPr lvl="1" eaLnBrk="1" latinLnBrk="0" hangingPunct="1"/>
            <a:r>
              <a:rPr lang="bg-BG" dirty="0" smtClean="0"/>
              <a:t>Second level</a:t>
            </a:r>
          </a:p>
          <a:p>
            <a:pPr lvl="2" eaLnBrk="1" latinLnBrk="0" hangingPunct="1"/>
            <a:r>
              <a:rPr lang="bg-BG" dirty="0" smtClean="0"/>
              <a:t>Third level</a:t>
            </a:r>
          </a:p>
          <a:p>
            <a:pPr lvl="3" eaLnBrk="1" latinLnBrk="0" hangingPunct="1"/>
            <a:r>
              <a:rPr lang="bg-BG" dirty="0" smtClean="0"/>
              <a:t>Fourth level</a:t>
            </a:r>
          </a:p>
          <a:p>
            <a:pPr lvl="4" eaLnBrk="1" latinLnBrk="0" hangingPunct="1"/>
            <a:r>
              <a:rPr lang="bg-BG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bg-BG" smtClean="0"/>
              <a:t>Drag picture to placeholder or click icon to add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19/03/22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CRE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512762" y="1107070"/>
            <a:ext cx="8631237" cy="5080497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5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bg-BG" smtClean="0"/>
              <a:t>Click to edit Master text styles</a:t>
            </a:r>
          </a:p>
          <a:p>
            <a:pPr lvl="1" eaLnBrk="1" latinLnBrk="0" hangingPunct="1"/>
            <a:r>
              <a:rPr kumimoji="0" lang="bg-BG" smtClean="0"/>
              <a:t>Second level</a:t>
            </a:r>
          </a:p>
          <a:p>
            <a:pPr lvl="2" eaLnBrk="1" latinLnBrk="0" hangingPunct="1"/>
            <a:r>
              <a:rPr kumimoji="0" lang="bg-BG" smtClean="0"/>
              <a:t>Third level</a:t>
            </a:r>
          </a:p>
          <a:p>
            <a:pPr lvl="3" eaLnBrk="1" latinLnBrk="0" hangingPunct="1"/>
            <a:r>
              <a:rPr kumimoji="0" lang="bg-BG" smtClean="0"/>
              <a:t>Fourth level</a:t>
            </a:r>
          </a:p>
          <a:p>
            <a:pPr lvl="4" eaLnBrk="1" latinLnBrk="0" hangingPunct="1"/>
            <a:r>
              <a:rPr kumimoji="0" lang="bg-BG" smtClean="0"/>
              <a:t>Fifth level</a:t>
            </a:r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3115" y="344959"/>
            <a:ext cx="6115538" cy="3863356"/>
          </a:xfrm>
        </p:spPr>
        <p:txBody>
          <a:bodyPr>
            <a:noAutofit/>
          </a:bodyPr>
          <a:lstStyle/>
          <a:p>
            <a:r>
              <a:rPr lang="bg-BG" sz="7200" dirty="0" smtClean="0"/>
              <a:t>PROCESSOS PRESCRITIVOS </a:t>
            </a:r>
            <a:r>
              <a:rPr lang="mr-IN" sz="7200" dirty="0" smtClean="0"/>
              <a:t>–</a:t>
            </a:r>
            <a:r>
              <a:rPr lang="bg-BG" sz="7200" dirty="0" smtClean="0"/>
              <a:t> UP E RUP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3115" y="4435234"/>
            <a:ext cx="6115538" cy="1348154"/>
          </a:xfrm>
        </p:spPr>
        <p:txBody>
          <a:bodyPr>
            <a:noAutofit/>
          </a:bodyPr>
          <a:lstStyle/>
          <a:p>
            <a:r>
              <a:rPr lang="bg-BG" sz="2800" dirty="0" smtClean="0"/>
              <a:t>Eveline Alonso Veloso*</a:t>
            </a:r>
          </a:p>
          <a:p>
            <a:r>
              <a:rPr lang="bg-BG" sz="2400" dirty="0" smtClean="0"/>
              <a:t>* Adaptado do material da Prof.</a:t>
            </a:r>
            <a:r>
              <a:rPr lang="bg-BG" sz="2400" baseline="30000" dirty="0" smtClean="0"/>
              <a:t>a</a:t>
            </a:r>
            <a:r>
              <a:rPr lang="bg-BG" sz="2400" dirty="0" smtClean="0"/>
              <a:t> Maria Augusta Vieira Nelson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6777" y="6126261"/>
            <a:ext cx="19892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 smtClean="0"/>
              <a:t>PUC Minas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403234" y="5961135"/>
            <a:ext cx="57234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4400" dirty="0" smtClean="0"/>
              <a:t>Engenharia de </a:t>
            </a:r>
            <a:r>
              <a:rPr lang="bg-BG" sz="4400" i="1" dirty="0" smtClean="0"/>
              <a:t>Software</a:t>
            </a:r>
            <a:endParaRPr 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305279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Processos Prescritivos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600" dirty="0" err="1" smtClean="0">
                <a:latin typeface="Tahoma"/>
                <a:ea typeface="+mn-lt"/>
                <a:cs typeface="Tahoma"/>
              </a:rPr>
              <a:t>Tamb</a:t>
            </a:r>
            <a:r>
              <a:rPr lang="en-US" sz="3600" dirty="0" err="1" smtClean="0">
                <a:latin typeface="Tahoma"/>
                <a:ea typeface="+mn-lt"/>
                <a:cs typeface="Tahoma"/>
              </a:rPr>
              <a:t>ém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dirty="0" err="1" smtClean="0">
                <a:latin typeface="Tahoma"/>
                <a:ea typeface="+mn-lt"/>
                <a:cs typeface="Tahoma"/>
              </a:rPr>
              <a:t>chamados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 de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Processos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Dirigidos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b="1" dirty="0">
                <a:latin typeface="Tahoma"/>
                <a:ea typeface="+mn-lt"/>
                <a:cs typeface="Tahoma"/>
              </a:rPr>
              <a:t>a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Planos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600" b="1" dirty="0" err="1">
                <a:latin typeface="Tahoma"/>
                <a:ea typeface="+mn-lt"/>
                <a:cs typeface="Tahoma"/>
              </a:rPr>
              <a:t>T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odas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dirty="0">
                <a:latin typeface="Tahoma"/>
                <a:ea typeface="+mn-lt"/>
                <a:cs typeface="Tahoma"/>
              </a:rPr>
              <a:t>as </a:t>
            </a:r>
            <a:r>
              <a:rPr lang="en-US" sz="3600" b="1" dirty="0" err="1">
                <a:latin typeface="Tahoma"/>
                <a:ea typeface="+mn-lt"/>
                <a:cs typeface="Tahoma"/>
              </a:rPr>
              <a:t>atividades</a:t>
            </a:r>
            <a:r>
              <a:rPr lang="en-US" sz="3600" dirty="0">
                <a:latin typeface="Tahoma"/>
                <a:ea typeface="+mn-lt"/>
                <a:cs typeface="Tahoma"/>
              </a:rPr>
              <a:t> do </a:t>
            </a:r>
            <a:r>
              <a:rPr lang="en-US" sz="3600" dirty="0" err="1">
                <a:latin typeface="Tahoma"/>
                <a:ea typeface="+mn-lt"/>
                <a:cs typeface="Tahoma"/>
              </a:rPr>
              <a:t>processo</a:t>
            </a:r>
            <a:r>
              <a:rPr lang="en-US" sz="3600" dirty="0">
                <a:latin typeface="Tahoma"/>
                <a:ea typeface="+mn-lt"/>
                <a:cs typeface="Tahoma"/>
              </a:rPr>
              <a:t> </a:t>
            </a:r>
            <a:r>
              <a:rPr lang="en-US" sz="3600" dirty="0" err="1">
                <a:latin typeface="Tahoma"/>
                <a:ea typeface="+mn-lt"/>
                <a:cs typeface="Tahoma"/>
              </a:rPr>
              <a:t>são</a:t>
            </a:r>
            <a:r>
              <a:rPr lang="en-US" sz="3600" dirty="0">
                <a:latin typeface="Tahoma"/>
                <a:ea typeface="+mn-lt"/>
                <a:cs typeface="Tahoma"/>
              </a:rPr>
              <a:t> </a:t>
            </a:r>
            <a:r>
              <a:rPr lang="en-US" sz="3600" b="1" dirty="0" err="1">
                <a:latin typeface="Tahoma"/>
                <a:ea typeface="+mn-lt"/>
                <a:cs typeface="Tahoma"/>
              </a:rPr>
              <a:t>planejadas</a:t>
            </a:r>
            <a:r>
              <a:rPr lang="en-US" sz="3600" b="1" dirty="0">
                <a:latin typeface="Tahoma"/>
                <a:ea typeface="+mn-lt"/>
                <a:cs typeface="Tahoma"/>
              </a:rPr>
              <a:t> com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antecedência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en-US" sz="3200" b="1" dirty="0" err="1" smtClean="0">
                <a:latin typeface="Tahoma"/>
                <a:ea typeface="+mn-lt"/>
                <a:cs typeface="Tahoma"/>
              </a:rPr>
              <a:t>progresso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 err="1">
                <a:latin typeface="Tahoma"/>
                <a:ea typeface="+mn-lt"/>
                <a:cs typeface="Tahoma"/>
              </a:rPr>
              <a:t>é</a:t>
            </a:r>
            <a:r>
              <a:rPr lang="en-US" sz="3200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medido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em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relação</a:t>
            </a:r>
            <a:r>
              <a:rPr lang="en-US" sz="3200" dirty="0">
                <a:latin typeface="Tahoma"/>
                <a:ea typeface="+mn-lt"/>
                <a:cs typeface="Tahoma"/>
              </a:rPr>
              <a:t> a </a:t>
            </a:r>
            <a:r>
              <a:rPr lang="en-US" sz="3200" dirty="0" err="1">
                <a:latin typeface="Tahoma"/>
                <a:ea typeface="+mn-lt"/>
                <a:cs typeface="Tahoma"/>
              </a:rPr>
              <a:t>esse</a:t>
            </a:r>
            <a:r>
              <a:rPr lang="en-US" sz="3200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plano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.</a:t>
            </a:r>
            <a:endParaRPr lang="en-US" sz="32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51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Processos Reais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dirty="0" err="1" smtClean="0">
                <a:latin typeface="Tahoma"/>
                <a:ea typeface="+mn-lt"/>
                <a:cs typeface="Tahoma"/>
              </a:rPr>
              <a:t>Em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 smtClean="0">
                <a:latin typeface="Tahoma"/>
                <a:ea typeface="+mn-lt"/>
                <a:cs typeface="Tahoma"/>
              </a:rPr>
              <a:t>empresas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de </a:t>
            </a:r>
            <a:r>
              <a:rPr lang="en-US" sz="2800" dirty="0" err="1" smtClean="0">
                <a:latin typeface="Tahoma"/>
                <a:ea typeface="+mn-lt"/>
                <a:cs typeface="Tahoma"/>
              </a:rPr>
              <a:t>desenvolvimento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de </a:t>
            </a:r>
            <a:r>
              <a:rPr lang="en-US" sz="2800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, </a:t>
            </a:r>
            <a:r>
              <a:rPr lang="en-US" sz="2800" dirty="0" err="1">
                <a:latin typeface="Tahoma"/>
                <a:ea typeface="+mn-lt"/>
                <a:cs typeface="Tahoma"/>
              </a:rPr>
              <a:t>os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processos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mais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práticos</a:t>
            </a:r>
            <a:r>
              <a:rPr lang="en-US" sz="2800" b="1" dirty="0">
                <a:latin typeface="Tahoma"/>
                <a:ea typeface="+mn-lt"/>
                <a:cs typeface="Tahoma"/>
              </a:rPr>
              <a:t> e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adequados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 smtClean="0">
                <a:latin typeface="Tahoma"/>
                <a:ea typeface="+mn-lt"/>
                <a:cs typeface="Tahoma"/>
              </a:rPr>
              <a:t>geralmente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 smtClean="0">
                <a:latin typeface="Tahoma"/>
                <a:ea typeface="+mn-lt"/>
                <a:cs typeface="Tahoma"/>
              </a:rPr>
              <a:t>incluem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b="1" dirty="0" err="1" smtClean="0">
                <a:latin typeface="Tahoma"/>
                <a:ea typeface="+mn-lt"/>
                <a:cs typeface="Tahoma"/>
              </a:rPr>
              <a:t>elementos</a:t>
            </a:r>
            <a:r>
              <a:rPr lang="en-US" dirty="0" smtClean="0">
                <a:latin typeface="Tahoma"/>
                <a:ea typeface="+mn-lt"/>
                <a:cs typeface="Tahoma"/>
              </a:rPr>
              <a:t> </a:t>
            </a:r>
            <a:r>
              <a:rPr lang="en-US" dirty="0">
                <a:latin typeface="Tahoma"/>
                <a:ea typeface="+mn-lt"/>
                <a:cs typeface="Tahoma"/>
              </a:rPr>
              <a:t>dos </a:t>
            </a:r>
            <a:r>
              <a:rPr lang="en-US" b="1" dirty="0" err="1">
                <a:latin typeface="Tahoma"/>
                <a:ea typeface="+mn-lt"/>
                <a:cs typeface="Tahoma"/>
              </a:rPr>
              <a:t>processos</a:t>
            </a:r>
            <a:r>
              <a:rPr lang="en-US" b="1" dirty="0">
                <a:latin typeface="Tahoma"/>
                <a:ea typeface="+mn-lt"/>
                <a:cs typeface="Tahoma"/>
              </a:rPr>
              <a:t> </a:t>
            </a:r>
            <a:r>
              <a:rPr lang="en-US" b="1" dirty="0" err="1">
                <a:latin typeface="Tahoma"/>
                <a:ea typeface="+mn-lt"/>
                <a:cs typeface="Tahoma"/>
              </a:rPr>
              <a:t>ágeis</a:t>
            </a:r>
            <a:r>
              <a:rPr lang="en-US" b="1" dirty="0">
                <a:latin typeface="Tahoma"/>
                <a:ea typeface="+mn-lt"/>
                <a:cs typeface="Tahoma"/>
              </a:rPr>
              <a:t> e </a:t>
            </a:r>
            <a:r>
              <a:rPr lang="en-US" b="1" dirty="0" err="1">
                <a:latin typeface="Tahoma"/>
                <a:ea typeface="+mn-lt"/>
                <a:cs typeface="Tahoma"/>
              </a:rPr>
              <a:t>prescritivos</a:t>
            </a:r>
            <a:r>
              <a:rPr lang="en-US" dirty="0" smtClean="0">
                <a:latin typeface="Tahoma"/>
                <a:ea typeface="+mn-lt"/>
                <a:cs typeface="Tahoma"/>
              </a:rPr>
              <a:t>.</a:t>
            </a:r>
            <a:endParaRPr lang="en-US" dirty="0">
              <a:latin typeface="Tahoma"/>
              <a:ea typeface="+mn-lt"/>
              <a:cs typeface="Tahoma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latin typeface="Tahoma"/>
                <a:ea typeface="+mn-lt"/>
                <a:cs typeface="Tahoma"/>
              </a:rPr>
              <a:t>A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prática</a:t>
            </a:r>
            <a:r>
              <a:rPr lang="en-US" sz="2800" dirty="0">
                <a:latin typeface="Tahoma"/>
                <a:ea typeface="+mn-lt"/>
                <a:cs typeface="Tahoma"/>
              </a:rPr>
              <a:t>, o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domínio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da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aplicação</a:t>
            </a:r>
            <a:r>
              <a:rPr lang="en-US" sz="2800" dirty="0">
                <a:latin typeface="Tahoma"/>
                <a:ea typeface="+mn-lt"/>
                <a:cs typeface="Tahoma"/>
              </a:rPr>
              <a:t>, a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experiência</a:t>
            </a:r>
            <a:r>
              <a:rPr lang="en-US" sz="2800" b="1" dirty="0">
                <a:latin typeface="Tahoma"/>
                <a:ea typeface="+mn-lt"/>
                <a:cs typeface="Tahoma"/>
              </a:rPr>
              <a:t> da </a:t>
            </a:r>
            <a:r>
              <a:rPr lang="en-US" sz="2800" b="1" dirty="0" err="1" smtClean="0">
                <a:latin typeface="Tahoma"/>
                <a:ea typeface="+mn-lt"/>
                <a:cs typeface="Tahoma"/>
              </a:rPr>
              <a:t>equipe</a:t>
            </a:r>
            <a:endParaRPr lang="en-US" sz="2800" b="1" dirty="0" smtClean="0">
              <a:latin typeface="Tahoma"/>
              <a:ea typeface="+mn-lt"/>
              <a:cs typeface="Tahoma"/>
            </a:endParaRPr>
          </a:p>
          <a:p>
            <a:pPr lvl="1">
              <a:lnSpc>
                <a:spcPct val="120000"/>
              </a:lnSpc>
            </a:pPr>
            <a:r>
              <a:rPr lang="en-US" b="1" dirty="0" err="1" smtClean="0">
                <a:latin typeface="Tahoma"/>
                <a:ea typeface="+mn-lt"/>
                <a:cs typeface="Tahoma"/>
              </a:rPr>
              <a:t>influenciam</a:t>
            </a:r>
            <a:r>
              <a:rPr lang="en-US" dirty="0" smtClean="0">
                <a:latin typeface="Tahoma"/>
                <a:ea typeface="+mn-lt"/>
                <a:cs typeface="Tahoma"/>
              </a:rPr>
              <a:t> </a:t>
            </a:r>
            <a:r>
              <a:rPr lang="en-US" dirty="0">
                <a:latin typeface="Tahoma"/>
                <a:ea typeface="+mn-lt"/>
                <a:cs typeface="Tahoma"/>
              </a:rPr>
              <a:t>no </a:t>
            </a:r>
            <a:r>
              <a:rPr lang="en-US" b="1" dirty="0" err="1">
                <a:latin typeface="Tahoma"/>
                <a:ea typeface="+mn-lt"/>
                <a:cs typeface="Tahoma"/>
              </a:rPr>
              <a:t>processo</a:t>
            </a:r>
            <a:r>
              <a:rPr lang="en-US" dirty="0">
                <a:latin typeface="Tahoma"/>
                <a:ea typeface="+mn-lt"/>
                <a:cs typeface="Tahoma"/>
              </a:rPr>
              <a:t> </a:t>
            </a:r>
            <a:r>
              <a:rPr lang="en-US" dirty="0" err="1" smtClean="0">
                <a:latin typeface="Tahoma"/>
                <a:ea typeface="+mn-lt"/>
                <a:cs typeface="Tahoma"/>
              </a:rPr>
              <a:t>empregado</a:t>
            </a:r>
            <a:r>
              <a:rPr lang="en-US" dirty="0" smtClean="0">
                <a:latin typeface="Tahoma"/>
                <a:ea typeface="+mn-lt"/>
                <a:cs typeface="Tahoma"/>
              </a:rPr>
              <a:t> e </a:t>
            </a:r>
            <a:r>
              <a:rPr lang="en-US" dirty="0" err="1" smtClean="0">
                <a:latin typeface="Tahoma"/>
                <a:ea typeface="+mn-lt"/>
                <a:cs typeface="Tahoma"/>
              </a:rPr>
              <a:t>em</a:t>
            </a:r>
            <a:r>
              <a:rPr lang="en-US" dirty="0" smtClean="0">
                <a:latin typeface="Tahoma"/>
                <a:ea typeface="+mn-lt"/>
                <a:cs typeface="Tahoma"/>
              </a:rPr>
              <a:t> </a:t>
            </a:r>
            <a:r>
              <a:rPr lang="en-US" b="1" dirty="0" err="1">
                <a:latin typeface="Tahoma"/>
                <a:ea typeface="+mn-lt"/>
                <a:cs typeface="Tahoma"/>
              </a:rPr>
              <a:t>seu</a:t>
            </a:r>
            <a:r>
              <a:rPr lang="en-US" b="1" dirty="0">
                <a:latin typeface="Tahoma"/>
                <a:ea typeface="+mn-lt"/>
                <a:cs typeface="Tahoma"/>
              </a:rPr>
              <a:t> </a:t>
            </a:r>
            <a:r>
              <a:rPr lang="en-US" b="1" dirty="0" err="1">
                <a:latin typeface="Tahoma"/>
                <a:ea typeface="+mn-lt"/>
                <a:cs typeface="Tahoma"/>
              </a:rPr>
              <a:t>aprimoramento</a:t>
            </a:r>
            <a:r>
              <a:rPr lang="en-US" dirty="0" smtClean="0">
                <a:latin typeface="Tahoma"/>
                <a:ea typeface="+mn-lt"/>
                <a:cs typeface="Tahoma"/>
              </a:rPr>
              <a:t>.</a:t>
            </a:r>
            <a:endParaRPr lang="en-US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80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9" y="180656"/>
            <a:ext cx="9122400" cy="60482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3" y="4902492"/>
            <a:ext cx="1035139" cy="15486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6076" y="5871640"/>
            <a:ext cx="2338581" cy="62364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b="1" dirty="0" smtClean="0">
                <a:solidFill>
                  <a:schemeClr val="tx1"/>
                </a:solidFill>
              </a:rPr>
              <a:t>Source</a:t>
            </a:r>
            <a:r>
              <a:rPr lang="en-US" sz="1200" dirty="0" smtClean="0">
                <a:solidFill>
                  <a:schemeClr val="tx1"/>
                </a:solidFill>
              </a:rPr>
              <a:t>: </a:t>
            </a:r>
            <a:r>
              <a:rPr lang="en-US" sz="1200" dirty="0" err="1" smtClean="0">
                <a:solidFill>
                  <a:schemeClr val="tx1"/>
                </a:solidFill>
              </a:rPr>
              <a:t>Kennaley</a:t>
            </a:r>
            <a:r>
              <a:rPr lang="en-US" sz="1200" dirty="0" smtClean="0">
                <a:solidFill>
                  <a:schemeClr val="tx1"/>
                </a:solidFill>
              </a:rPr>
              <a:t>, SDLC 3.0. </a:t>
            </a:r>
          </a:p>
          <a:p>
            <a:r>
              <a:rPr lang="en-US" sz="1200" dirty="0" smtClean="0">
                <a:solidFill>
                  <a:srgbClr val="A99364"/>
                </a:solidFill>
              </a:rPr>
              <a:t>Additions: </a:t>
            </a:r>
            <a:r>
              <a:rPr lang="en-US" sz="1200" dirty="0" err="1" smtClean="0">
                <a:solidFill>
                  <a:srgbClr val="A99364"/>
                </a:solidFill>
              </a:rPr>
              <a:t>SAFe</a:t>
            </a:r>
            <a:r>
              <a:rPr lang="en-US" sz="1200" dirty="0">
                <a:solidFill>
                  <a:srgbClr val="A99364"/>
                </a:solidFill>
              </a:rPr>
              <a:t> </a:t>
            </a:r>
            <a:r>
              <a:rPr lang="en-US" sz="1200" dirty="0" smtClean="0">
                <a:solidFill>
                  <a:srgbClr val="A99364"/>
                </a:solidFill>
              </a:rPr>
              <a:t>&amp; </a:t>
            </a:r>
            <a:r>
              <a:rPr lang="en-US" sz="1200" dirty="0" smtClean="0">
                <a:solidFill>
                  <a:srgbClr val="A99364"/>
                </a:solidFill>
              </a:rPr>
              <a:t>DAD &amp;</a:t>
            </a:r>
            <a:endParaRPr lang="en-US" sz="1200" dirty="0" smtClean="0">
              <a:solidFill>
                <a:srgbClr val="800000"/>
              </a:solidFill>
            </a:endParaRPr>
          </a:p>
        </p:txBody>
      </p:sp>
      <p:sp>
        <p:nvSpPr>
          <p:cNvPr id="20" name="5-Point Star 19"/>
          <p:cNvSpPr/>
          <p:nvPr/>
        </p:nvSpPr>
        <p:spPr>
          <a:xfrm>
            <a:off x="4659611" y="2773375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2" name="5-Point Star 21"/>
          <p:cNvSpPr/>
          <p:nvPr/>
        </p:nvSpPr>
        <p:spPr>
          <a:xfrm>
            <a:off x="5270110" y="2826534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00000"/>
              </a:solidFill>
            </a:endParaRPr>
          </a:p>
        </p:txBody>
      </p:sp>
      <p:sp>
        <p:nvSpPr>
          <p:cNvPr id="24" name="5-Point Star 23"/>
          <p:cNvSpPr/>
          <p:nvPr/>
        </p:nvSpPr>
        <p:spPr>
          <a:xfrm>
            <a:off x="6479515" y="1311983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00000"/>
              </a:solidFill>
            </a:endParaRPr>
          </a:p>
        </p:txBody>
      </p:sp>
      <p:sp>
        <p:nvSpPr>
          <p:cNvPr id="25" name="5-Point Star 24"/>
          <p:cNvSpPr/>
          <p:nvPr/>
        </p:nvSpPr>
        <p:spPr>
          <a:xfrm>
            <a:off x="5584756" y="2434596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0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469696" y="5956642"/>
            <a:ext cx="3140191" cy="329032"/>
            <a:chOff x="4416823" y="6441151"/>
            <a:chExt cx="3265262" cy="334620"/>
          </a:xfrm>
        </p:grpSpPr>
        <p:sp>
          <p:nvSpPr>
            <p:cNvPr id="26" name="5-Point Star 25"/>
            <p:cNvSpPr/>
            <p:nvPr/>
          </p:nvSpPr>
          <p:spPr>
            <a:xfrm>
              <a:off x="7466093" y="6499765"/>
              <a:ext cx="215992" cy="214560"/>
            </a:xfrm>
            <a:prstGeom prst="star5">
              <a:avLst/>
            </a:prstGeom>
            <a:solidFill>
              <a:srgbClr val="8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800000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416823" y="6441151"/>
              <a:ext cx="2558403" cy="33462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r>
                <a:rPr lang="en-US" sz="1200" b="1" dirty="0">
                  <a:solidFill>
                    <a:srgbClr val="800000"/>
                  </a:solidFill>
                </a:rPr>
                <a:t>Legend</a:t>
              </a:r>
              <a:r>
                <a:rPr lang="en-US" sz="1200" dirty="0">
                  <a:solidFill>
                    <a:srgbClr val="800000"/>
                  </a:solidFill>
                </a:rPr>
                <a:t>: </a:t>
              </a:r>
              <a:r>
                <a:rPr lang="en-US" sz="1200" dirty="0" smtClean="0">
                  <a:solidFill>
                    <a:srgbClr val="800000"/>
                  </a:solidFill>
                </a:rPr>
                <a:t>Method originated </a:t>
              </a:r>
              <a:r>
                <a:rPr lang="en-US" sz="1200" dirty="0">
                  <a:solidFill>
                    <a:srgbClr val="800000"/>
                  </a:solidFill>
                </a:rPr>
                <a:t>from Academia</a:t>
              </a:r>
              <a:r>
                <a:rPr lang="en-US" sz="1200" dirty="0" smtClean="0">
                  <a:solidFill>
                    <a:srgbClr val="800000"/>
                  </a:solidFill>
                </a:rPr>
                <a:t>:</a:t>
              </a:r>
              <a:endParaRPr lang="en-US" sz="1200" dirty="0">
                <a:solidFill>
                  <a:srgbClr val="800000"/>
                </a:solidFill>
              </a:endParaRPr>
            </a:p>
          </p:txBody>
        </p:sp>
      </p:grpSp>
      <p:sp>
        <p:nvSpPr>
          <p:cNvPr id="27" name="5-Point Star 26"/>
          <p:cNvSpPr/>
          <p:nvPr/>
        </p:nvSpPr>
        <p:spPr>
          <a:xfrm>
            <a:off x="2608635" y="3781256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8" name="5-Point Star 27"/>
          <p:cNvSpPr/>
          <p:nvPr/>
        </p:nvSpPr>
        <p:spPr>
          <a:xfrm>
            <a:off x="6130070" y="3866273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987316" y="215578"/>
            <a:ext cx="879375" cy="18275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en-US" sz="600" b="1" dirty="0" err="1" smtClean="0">
                <a:solidFill>
                  <a:srgbClr val="54C57B"/>
                </a:solidFill>
              </a:rPr>
              <a:t>SAFe</a:t>
            </a:r>
            <a:r>
              <a:rPr lang="en-US" sz="600" b="1" dirty="0" smtClean="0">
                <a:solidFill>
                  <a:srgbClr val="54C57B"/>
                </a:solidFill>
              </a:rPr>
              <a:t> - 2009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8007" y="215578"/>
            <a:ext cx="879375" cy="18275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en-US" sz="600" b="1" dirty="0" smtClean="0">
                <a:solidFill>
                  <a:srgbClr val="54C57B"/>
                </a:solidFill>
              </a:rPr>
              <a:t>DAD - 2011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2662" y="215578"/>
            <a:ext cx="879375" cy="18275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en-US" sz="600" b="1" dirty="0" smtClean="0">
                <a:solidFill>
                  <a:srgbClr val="54C57B"/>
                </a:solidFill>
              </a:rPr>
              <a:t>SDLC 3.0 - 2009</a:t>
            </a:r>
          </a:p>
        </p:txBody>
      </p:sp>
      <p:sp>
        <p:nvSpPr>
          <p:cNvPr id="33" name="5-Point Star 32"/>
          <p:cNvSpPr/>
          <p:nvPr/>
        </p:nvSpPr>
        <p:spPr>
          <a:xfrm>
            <a:off x="2752854" y="6180185"/>
            <a:ext cx="207719" cy="210977"/>
          </a:xfrm>
          <a:prstGeom prst="star5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34" name="Footer Placeholder 2"/>
          <p:cNvSpPr txBox="1">
            <a:spLocks/>
          </p:cNvSpPr>
          <p:nvPr/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defPPr>
              <a:defRPr lang="en-US"/>
            </a:defPPr>
            <a:lvl1pPr marL="0" algn="r" defTabSz="4572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mtClean="0"/>
              <a:t>Fundamentos de Engenharia de </a:t>
            </a:r>
            <a:r>
              <a:rPr lang="bg-BG" i="1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53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Processo Unificado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05000"/>
              </a:lnSpc>
            </a:pPr>
            <a:r>
              <a:rPr lang="pt-BR" sz="2800" b="1" dirty="0" smtClean="0">
                <a:latin typeface="Tahoma"/>
                <a:ea typeface="+mn-lt"/>
                <a:cs typeface="Tahoma"/>
              </a:rPr>
              <a:t>Proposto </a:t>
            </a:r>
            <a:r>
              <a:rPr lang="pt-BR" sz="2800" b="1" dirty="0">
                <a:latin typeface="Tahoma"/>
                <a:ea typeface="+mn-lt"/>
                <a:cs typeface="Tahoma"/>
              </a:rPr>
              <a:t>por </a:t>
            </a:r>
            <a:r>
              <a:rPr lang="pt-BR" sz="2800" b="1" dirty="0" err="1">
                <a:latin typeface="Tahoma"/>
                <a:ea typeface="+mn-lt"/>
                <a:cs typeface="Tahoma"/>
              </a:rPr>
              <a:t>Booch</a:t>
            </a:r>
            <a:r>
              <a:rPr lang="pt-BR" sz="2800" b="1" dirty="0">
                <a:latin typeface="Tahoma"/>
                <a:ea typeface="+mn-lt"/>
                <a:cs typeface="Tahoma"/>
              </a:rPr>
              <a:t>, Jacobson e </a:t>
            </a:r>
            <a:r>
              <a:rPr lang="pt-BR" sz="2800" b="1" dirty="0" err="1">
                <a:latin typeface="Tahoma"/>
                <a:ea typeface="+mn-lt"/>
                <a:cs typeface="Tahoma"/>
              </a:rPr>
              <a:t>Rumbaugh</a:t>
            </a:r>
            <a:r>
              <a:rPr lang="pt-BR" sz="28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05000"/>
              </a:lnSpc>
            </a:pPr>
            <a:r>
              <a:rPr lang="pt-BR" sz="2400" b="1" dirty="0">
                <a:latin typeface="Tahoma"/>
                <a:ea typeface="+mn-lt"/>
                <a:cs typeface="Tahoma"/>
              </a:rPr>
              <a:t>proponentes da </a:t>
            </a:r>
            <a:r>
              <a:rPr lang="pt-BR" sz="2400" b="1" dirty="0" smtClean="0">
                <a:latin typeface="Tahoma"/>
                <a:ea typeface="+mn-lt"/>
                <a:cs typeface="Tahoma"/>
              </a:rPr>
              <a:t>UML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05000"/>
              </a:lnSpc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notação </a:t>
            </a:r>
            <a:r>
              <a:rPr lang="pt-BR" sz="2200" dirty="0">
                <a:latin typeface="Tahoma"/>
                <a:ea typeface="+mn-lt"/>
                <a:cs typeface="Tahoma"/>
              </a:rPr>
              <a:t>de modelagem orientada a objetos.</a:t>
            </a:r>
          </a:p>
          <a:p>
            <a:pPr>
              <a:lnSpc>
                <a:spcPct val="105000"/>
              </a:lnSpc>
            </a:pPr>
            <a:r>
              <a:rPr lang="pt-BR" sz="2800" b="1" dirty="0">
                <a:latin typeface="Tahoma"/>
                <a:ea typeface="+mn-lt"/>
                <a:cs typeface="Tahoma"/>
              </a:rPr>
              <a:t>Descende de métodos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anteriores</a:t>
            </a:r>
            <a:r>
              <a:rPr lang="pt-BR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05000"/>
              </a:lnSpc>
            </a:pPr>
            <a:r>
              <a:rPr lang="pt-BR" sz="2400" dirty="0" smtClean="0">
                <a:latin typeface="Tahoma"/>
                <a:ea typeface="+mn-lt"/>
                <a:cs typeface="Tahoma"/>
              </a:rPr>
              <a:t>propostos </a:t>
            </a:r>
            <a:r>
              <a:rPr lang="pt-BR" sz="2400" dirty="0">
                <a:latin typeface="Tahoma"/>
                <a:ea typeface="+mn-lt"/>
                <a:cs typeface="Tahoma"/>
              </a:rPr>
              <a:t>pelos mesmos autores.</a:t>
            </a:r>
          </a:p>
          <a:p>
            <a:pPr>
              <a:lnSpc>
                <a:spcPct val="105000"/>
              </a:lnSpc>
            </a:pPr>
            <a:r>
              <a:rPr lang="pt-BR" sz="2800" b="1" dirty="0">
                <a:latin typeface="Tahoma"/>
                <a:ea typeface="+mn-lt"/>
                <a:cs typeface="Tahoma"/>
              </a:rPr>
              <a:t>Utiliza</a:t>
            </a:r>
            <a:r>
              <a:rPr lang="pt-BR" sz="2800" dirty="0">
                <a:latin typeface="Tahoma"/>
                <a:ea typeface="+mn-lt"/>
                <a:cs typeface="Tahoma"/>
              </a:rPr>
              <a:t> a </a:t>
            </a:r>
            <a:r>
              <a:rPr lang="pt-BR" sz="2800" b="1" dirty="0">
                <a:latin typeface="Tahoma"/>
                <a:ea typeface="+mn-lt"/>
                <a:cs typeface="Tahoma"/>
              </a:rPr>
              <a:t>UML</a:t>
            </a:r>
            <a:r>
              <a:rPr lang="pt-BR" sz="2800" dirty="0">
                <a:latin typeface="Tahoma"/>
                <a:ea typeface="+mn-lt"/>
                <a:cs typeface="Tahoma"/>
              </a:rPr>
              <a:t> como </a:t>
            </a:r>
            <a:r>
              <a:rPr lang="pt-BR" sz="2800" b="1" dirty="0">
                <a:latin typeface="Tahoma"/>
                <a:ea typeface="+mn-lt"/>
                <a:cs typeface="Tahoma"/>
              </a:rPr>
              <a:t>notação </a:t>
            </a:r>
            <a:r>
              <a:rPr lang="pt-BR" sz="2800" dirty="0">
                <a:latin typeface="Tahoma"/>
                <a:ea typeface="+mn-lt"/>
                <a:cs typeface="Tahoma"/>
              </a:rPr>
              <a:t>de uma série</a:t>
            </a:r>
            <a:r>
              <a:rPr lang="pt-BR" sz="2800" b="1" dirty="0">
                <a:latin typeface="Tahoma"/>
                <a:ea typeface="+mn-lt"/>
                <a:cs typeface="Tahoma"/>
              </a:rPr>
              <a:t> de modelos</a:t>
            </a:r>
            <a:r>
              <a:rPr lang="pt-BR" sz="28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05000"/>
              </a:lnSpc>
            </a:pPr>
            <a:r>
              <a:rPr lang="pt-BR" sz="2400" dirty="0">
                <a:latin typeface="Tahoma"/>
                <a:ea typeface="+mn-lt"/>
                <a:cs typeface="Tahoma"/>
              </a:rPr>
              <a:t>que compõem os principais </a:t>
            </a:r>
            <a:r>
              <a:rPr lang="pt-BR" sz="2400" b="1" dirty="0">
                <a:latin typeface="Tahoma"/>
                <a:ea typeface="+mn-lt"/>
                <a:cs typeface="Tahoma"/>
              </a:rPr>
              <a:t>resultados</a:t>
            </a:r>
            <a:r>
              <a:rPr lang="pt-BR" sz="2400" dirty="0">
                <a:latin typeface="Tahoma"/>
                <a:ea typeface="+mn-lt"/>
                <a:cs typeface="Tahoma"/>
              </a:rPr>
              <a:t> </a:t>
            </a:r>
            <a:r>
              <a:rPr lang="pt-BR" sz="2400" b="1" dirty="0">
                <a:latin typeface="Tahoma"/>
                <a:ea typeface="+mn-lt"/>
                <a:cs typeface="Tahoma"/>
              </a:rPr>
              <a:t>das</a:t>
            </a:r>
            <a:r>
              <a:rPr lang="pt-BR" sz="2400" dirty="0">
                <a:latin typeface="Tahoma"/>
                <a:ea typeface="+mn-lt"/>
                <a:cs typeface="Tahoma"/>
              </a:rPr>
              <a:t> </a:t>
            </a:r>
            <a:r>
              <a:rPr lang="pt-BR" sz="2400" b="1" dirty="0">
                <a:latin typeface="Tahoma"/>
                <a:ea typeface="+mn-lt"/>
                <a:cs typeface="Tahoma"/>
              </a:rPr>
              <a:t>atividades</a:t>
            </a:r>
            <a:r>
              <a:rPr lang="pt-BR" sz="2400" dirty="0">
                <a:latin typeface="Tahoma"/>
                <a:ea typeface="+mn-lt"/>
                <a:cs typeface="Tahoma"/>
              </a:rPr>
              <a:t> do processo. 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19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Caracter</a:t>
            </a:r>
            <a:r>
              <a:rPr lang="bg-BG" sz="4800" dirty="0" smtClean="0">
                <a:latin typeface="Tahoma"/>
                <a:cs typeface="Tahoma"/>
              </a:rPr>
              <a:t>ísticas do </a:t>
            </a:r>
            <a:r>
              <a:rPr lang="bg-BG" sz="4800" dirty="0" smtClean="0">
                <a:latin typeface="Tahoma"/>
                <a:cs typeface="Tahoma"/>
              </a:rPr>
              <a:t>Processo Unificado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r>
              <a:rPr lang="pt-BR" sz="2400" b="1" dirty="0" smtClean="0">
                <a:latin typeface="Tahoma" charset="0"/>
              </a:rPr>
              <a:t>Dirigido </a:t>
            </a:r>
            <a:r>
              <a:rPr lang="pt-BR" sz="2400" b="1" dirty="0">
                <a:latin typeface="Tahoma" charset="0"/>
              </a:rPr>
              <a:t>por casos de uso</a:t>
            </a:r>
            <a:r>
              <a:rPr lang="pt-BR" sz="2400" dirty="0">
                <a:latin typeface="Tahoma" charset="0"/>
              </a:rPr>
              <a:t>:</a:t>
            </a:r>
          </a:p>
          <a:p>
            <a:pPr lvl="1"/>
            <a:r>
              <a:rPr lang="pt-BR" sz="2000" b="1" dirty="0" smtClean="0">
                <a:latin typeface="Tahoma" charset="0"/>
                <a:cs typeface="Times New Roman" charset="0"/>
              </a:rPr>
              <a:t>caso </a:t>
            </a:r>
            <a:r>
              <a:rPr lang="pt-BR" sz="2000" b="1" dirty="0">
                <a:latin typeface="Tahoma" charset="0"/>
                <a:cs typeface="Times New Roman" charset="0"/>
              </a:rPr>
              <a:t>de uso</a:t>
            </a:r>
            <a:r>
              <a:rPr lang="pt-BR" sz="2000" dirty="0">
                <a:latin typeface="Tahoma" charset="0"/>
                <a:cs typeface="Times New Roman" charset="0"/>
              </a:rPr>
              <a:t>:</a:t>
            </a:r>
          </a:p>
          <a:p>
            <a:pPr lvl="2"/>
            <a:r>
              <a:rPr lang="pt-BR" sz="1800" dirty="0">
                <a:latin typeface="Tahoma" charset="0"/>
                <a:cs typeface="Times New Roman" charset="0"/>
              </a:rPr>
              <a:t>um pedaço de </a:t>
            </a:r>
            <a:r>
              <a:rPr lang="pt-BR" sz="1800" b="1" dirty="0">
                <a:latin typeface="Tahoma" charset="0"/>
                <a:cs typeface="Times New Roman" charset="0"/>
              </a:rPr>
              <a:t>funcionalidade</a:t>
            </a:r>
            <a:r>
              <a:rPr lang="pt-BR" sz="1800" dirty="0">
                <a:latin typeface="Tahoma" charset="0"/>
                <a:cs typeface="Times New Roman" charset="0"/>
              </a:rPr>
              <a:t> que fornece a um usuário um resultado de valor.</a:t>
            </a:r>
            <a:endParaRPr lang="en-US" sz="1800" dirty="0">
              <a:latin typeface="Tahoma" charset="0"/>
              <a:cs typeface="Times New Roman" charset="0"/>
            </a:endParaRPr>
          </a:p>
          <a:p>
            <a:pPr lvl="1"/>
            <a:r>
              <a:rPr lang="pt-BR" sz="2000" dirty="0">
                <a:latin typeface="Tahoma"/>
                <a:cs typeface="Tahoma"/>
              </a:rPr>
              <a:t>Todos os casos de uso juntos respondem à pergunta:</a:t>
            </a:r>
          </a:p>
          <a:p>
            <a:pPr lvl="2"/>
            <a:r>
              <a:rPr lang="ja-JP" altLang="pt-BR" sz="1800" dirty="0">
                <a:latin typeface="Tahoma"/>
                <a:cs typeface="Tahoma"/>
              </a:rPr>
              <a:t>“</a:t>
            </a:r>
            <a:r>
              <a:rPr lang="pt-BR" sz="1800" dirty="0">
                <a:latin typeface="Tahoma"/>
                <a:cs typeface="Tahoma"/>
              </a:rPr>
              <a:t>o que é suposto que o sistema faça?</a:t>
            </a:r>
            <a:r>
              <a:rPr lang="ja-JP" altLang="pt-BR" sz="1800" dirty="0">
                <a:latin typeface="Tahoma"/>
                <a:cs typeface="Tahoma"/>
              </a:rPr>
              <a:t>”</a:t>
            </a:r>
            <a:r>
              <a:rPr lang="pt-BR" sz="1800" dirty="0">
                <a:latin typeface="Tahoma"/>
                <a:cs typeface="Tahoma"/>
              </a:rPr>
              <a:t>;</a:t>
            </a:r>
          </a:p>
          <a:p>
            <a:pPr lvl="3"/>
            <a:r>
              <a:rPr lang="ja-JP" altLang="pt-BR" sz="1600" dirty="0">
                <a:latin typeface="Tahoma"/>
                <a:cs typeface="Tahoma"/>
              </a:rPr>
              <a:t>“</a:t>
            </a:r>
            <a:r>
              <a:rPr lang="pt-BR" sz="1600" dirty="0">
                <a:latin typeface="Tahoma"/>
                <a:cs typeface="Tahoma"/>
              </a:rPr>
              <a:t>para cada usuário?</a:t>
            </a:r>
            <a:r>
              <a:rPr lang="ja-JP" altLang="pt-BR" sz="1600" dirty="0">
                <a:latin typeface="Tahoma"/>
                <a:cs typeface="Tahoma"/>
              </a:rPr>
              <a:t>”</a:t>
            </a:r>
            <a:endParaRPr lang="en-US" sz="1600" dirty="0">
              <a:latin typeface="Tahoma"/>
              <a:cs typeface="Tahoma"/>
            </a:endParaRPr>
          </a:p>
          <a:p>
            <a:pPr lvl="1"/>
            <a:r>
              <a:rPr lang="pt-BR" sz="2000" dirty="0">
                <a:latin typeface="Tahoma" charset="0"/>
                <a:cs typeface="Times New Roman" charset="0"/>
              </a:rPr>
              <a:t>Casos de uso não são somente uma ferramenta para especificar as funcionalidades do sistema:</a:t>
            </a:r>
          </a:p>
          <a:p>
            <a:pPr lvl="2"/>
            <a:r>
              <a:rPr lang="pt-BR" sz="1800" dirty="0">
                <a:latin typeface="Tahoma" charset="0"/>
                <a:cs typeface="Times New Roman" charset="0"/>
              </a:rPr>
              <a:t>o </a:t>
            </a:r>
            <a:r>
              <a:rPr lang="pt-BR" sz="1800" b="1" dirty="0">
                <a:latin typeface="Tahoma" charset="0"/>
                <a:cs typeface="Times New Roman" charset="0"/>
              </a:rPr>
              <a:t>desenho </a:t>
            </a:r>
            <a:r>
              <a:rPr lang="pt-BR" sz="1800" b="1" dirty="0" smtClean="0">
                <a:latin typeface="Tahoma" charset="0"/>
                <a:cs typeface="Times New Roman" charset="0"/>
              </a:rPr>
              <a:t>ou projeto do </a:t>
            </a:r>
            <a:r>
              <a:rPr lang="pt-BR" sz="1800" b="1" dirty="0">
                <a:latin typeface="Tahoma" charset="0"/>
                <a:cs typeface="Times New Roman" charset="0"/>
              </a:rPr>
              <a:t>sistema </a:t>
            </a:r>
            <a:r>
              <a:rPr lang="pt-BR" sz="1800" dirty="0">
                <a:latin typeface="Tahoma" charset="0"/>
                <a:cs typeface="Times New Roman" charset="0"/>
              </a:rPr>
              <a:t>é </a:t>
            </a:r>
            <a:r>
              <a:rPr lang="pt-BR" sz="1800" b="1" dirty="0">
                <a:latin typeface="Tahoma" charset="0"/>
                <a:cs typeface="Times New Roman" charset="0"/>
              </a:rPr>
              <a:t>dirigido por eles</a:t>
            </a:r>
            <a:r>
              <a:rPr lang="pt-BR" sz="1800" dirty="0">
                <a:latin typeface="Tahoma" charset="0"/>
                <a:cs typeface="Times New Roman" charset="0"/>
              </a:rPr>
              <a:t>:</a:t>
            </a:r>
          </a:p>
          <a:p>
            <a:pPr lvl="3"/>
            <a:r>
              <a:rPr lang="pt-BR" sz="1600" b="1" dirty="0">
                <a:latin typeface="Tahoma" charset="0"/>
                <a:cs typeface="Times New Roman" charset="0"/>
              </a:rPr>
              <a:t>baseados</a:t>
            </a:r>
            <a:r>
              <a:rPr lang="pt-BR" sz="1600" dirty="0">
                <a:latin typeface="Tahoma" charset="0"/>
                <a:cs typeface="Times New Roman" charset="0"/>
              </a:rPr>
              <a:t> no modelo de </a:t>
            </a:r>
            <a:r>
              <a:rPr lang="pt-BR" sz="1600" b="1" dirty="0">
                <a:latin typeface="Tahoma" charset="0"/>
                <a:cs typeface="Times New Roman" charset="0"/>
              </a:rPr>
              <a:t>casos de uso</a:t>
            </a:r>
            <a:r>
              <a:rPr lang="pt-BR" sz="1600" dirty="0">
                <a:latin typeface="Tahoma" charset="0"/>
                <a:cs typeface="Times New Roman" charset="0"/>
              </a:rPr>
              <a:t>, os engenheiros de </a:t>
            </a:r>
            <a:r>
              <a:rPr lang="pt-BR" sz="1600" i="1" dirty="0">
                <a:latin typeface="Tahoma" charset="0"/>
                <a:cs typeface="Times New Roman" charset="0"/>
              </a:rPr>
              <a:t>software</a:t>
            </a:r>
            <a:r>
              <a:rPr lang="pt-BR" sz="1600" dirty="0">
                <a:latin typeface="Tahoma" charset="0"/>
                <a:cs typeface="Times New Roman" charset="0"/>
              </a:rPr>
              <a:t> criam uma </a:t>
            </a:r>
            <a:r>
              <a:rPr lang="pt-BR" sz="1600" b="1" dirty="0">
                <a:latin typeface="Tahoma" charset="0"/>
                <a:cs typeface="Times New Roman" charset="0"/>
              </a:rPr>
              <a:t>série de refinamentos derivados dele</a:t>
            </a:r>
            <a:r>
              <a:rPr lang="pt-BR" sz="1600" dirty="0">
                <a:latin typeface="Tahoma" charset="0"/>
                <a:cs typeface="Times New Roman" charset="0"/>
              </a:rPr>
              <a:t>. </a:t>
            </a:r>
            <a:endParaRPr lang="en-US" sz="1600" dirty="0">
              <a:latin typeface="Tahoma" charset="0"/>
              <a:cs typeface="Times New Roman" charset="0"/>
            </a:endParaRPr>
          </a:p>
          <a:p>
            <a:pPr lvl="1"/>
            <a:r>
              <a:rPr lang="pt-BR" sz="2000" dirty="0">
                <a:latin typeface="Tahoma" charset="0"/>
                <a:cs typeface="Times New Roman" charset="0"/>
              </a:rPr>
              <a:t>Dirigido por casos de uso significa que o </a:t>
            </a:r>
            <a:r>
              <a:rPr lang="pt-BR" sz="2000" b="1" dirty="0">
                <a:latin typeface="Tahoma" charset="0"/>
                <a:cs typeface="Times New Roman" charset="0"/>
              </a:rPr>
              <a:t>desenvolvimento do </a:t>
            </a:r>
            <a:r>
              <a:rPr lang="pt-BR" sz="2000" b="1" i="1" dirty="0" smtClean="0">
                <a:latin typeface="Tahoma" charset="0"/>
                <a:cs typeface="Times New Roman" charset="0"/>
              </a:rPr>
              <a:t>software</a:t>
            </a:r>
            <a:r>
              <a:rPr lang="pt-BR" sz="2000" b="1" dirty="0" smtClean="0">
                <a:latin typeface="Tahoma" charset="0"/>
                <a:cs typeface="Times New Roman" charset="0"/>
              </a:rPr>
              <a:t> </a:t>
            </a:r>
            <a:r>
              <a:rPr lang="pt-BR" sz="2000" b="1" dirty="0">
                <a:latin typeface="Tahoma" charset="0"/>
                <a:cs typeface="Times New Roman" charset="0"/>
              </a:rPr>
              <a:t>segue</a:t>
            </a:r>
            <a:r>
              <a:rPr lang="pt-BR" sz="2000" dirty="0">
                <a:latin typeface="Tahoma" charset="0"/>
                <a:cs typeface="Times New Roman" charset="0"/>
              </a:rPr>
              <a:t> um </a:t>
            </a:r>
            <a:r>
              <a:rPr lang="pt-BR" sz="2000" b="1" dirty="0">
                <a:latin typeface="Tahoma" charset="0"/>
                <a:cs typeface="Times New Roman" charset="0"/>
              </a:rPr>
              <a:t>fluxo</a:t>
            </a:r>
            <a:r>
              <a:rPr lang="pt-BR" sz="2000" dirty="0">
                <a:latin typeface="Tahoma" charset="0"/>
                <a:cs typeface="Times New Roman" charset="0"/>
              </a:rPr>
              <a:t> que </a:t>
            </a:r>
            <a:r>
              <a:rPr lang="pt-BR" sz="2000" b="1" dirty="0">
                <a:latin typeface="Tahoma" charset="0"/>
                <a:cs typeface="Times New Roman" charset="0"/>
              </a:rPr>
              <a:t>deriva dos casos de uso</a:t>
            </a:r>
            <a:r>
              <a:rPr lang="pt-BR" sz="2000" dirty="0">
                <a:latin typeface="Tahoma" charset="0"/>
                <a:cs typeface="Times New Roman" charset="0"/>
              </a:rPr>
              <a:t>.</a:t>
            </a:r>
            <a:endParaRPr lang="pt-BR" sz="20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41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Caracter</a:t>
            </a:r>
            <a:r>
              <a:rPr lang="bg-BG" sz="4800" dirty="0" smtClean="0">
                <a:latin typeface="Tahoma"/>
                <a:cs typeface="Tahoma"/>
              </a:rPr>
              <a:t>ísticas do </a:t>
            </a:r>
            <a:r>
              <a:rPr lang="bg-BG" sz="4800" dirty="0" smtClean="0">
                <a:latin typeface="Tahoma"/>
                <a:cs typeface="Tahoma"/>
              </a:rPr>
              <a:t>Processo Unificado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pt-BR" sz="2800" b="1" dirty="0">
                <a:latin typeface="Tahoma" charset="0"/>
              </a:rPr>
              <a:t>Centrado na arquitetura</a:t>
            </a:r>
            <a:r>
              <a:rPr lang="pt-BR" sz="2800" dirty="0">
                <a:latin typeface="Tahoma" charset="0"/>
              </a:rPr>
              <a:t>:</a:t>
            </a:r>
            <a:endParaRPr lang="en-US" sz="2800" dirty="0">
              <a:latin typeface="Tahoma" charset="0"/>
            </a:endParaRPr>
          </a:p>
          <a:p>
            <a:pPr lvl="1">
              <a:lnSpc>
                <a:spcPct val="114000"/>
              </a:lnSpc>
            </a:pPr>
            <a:r>
              <a:rPr lang="pt-BR" sz="2400" b="1" dirty="0">
                <a:latin typeface="Tahoma" charset="0"/>
                <a:cs typeface="Times New Roman" charset="0"/>
              </a:rPr>
              <a:t>arquitetura do sistema</a:t>
            </a:r>
            <a:r>
              <a:rPr lang="pt-BR" sz="2400" dirty="0">
                <a:latin typeface="Tahoma" charset="0"/>
                <a:cs typeface="Times New Roman" charset="0"/>
              </a:rPr>
              <a:t>:</a:t>
            </a:r>
          </a:p>
          <a:p>
            <a:pPr lvl="2">
              <a:lnSpc>
                <a:spcPct val="114000"/>
              </a:lnSpc>
            </a:pPr>
            <a:r>
              <a:rPr lang="pt-BR" sz="2000" dirty="0">
                <a:latin typeface="Tahoma" charset="0"/>
                <a:cs typeface="Times New Roman" charset="0"/>
              </a:rPr>
              <a:t>visão com as </a:t>
            </a:r>
            <a:r>
              <a:rPr lang="pt-BR" sz="2000" b="1" dirty="0">
                <a:latin typeface="Tahoma" charset="0"/>
                <a:cs typeface="Times New Roman" charset="0"/>
              </a:rPr>
              <a:t>características mais importantes</a:t>
            </a:r>
            <a:r>
              <a:rPr lang="pt-BR" sz="2000" dirty="0">
                <a:latin typeface="Tahoma" charset="0"/>
                <a:cs typeface="Times New Roman" charset="0"/>
              </a:rPr>
              <a:t> colocadas </a:t>
            </a:r>
            <a:r>
              <a:rPr lang="pt-BR" sz="2000" b="1" dirty="0">
                <a:latin typeface="Tahoma" charset="0"/>
                <a:cs typeface="Times New Roman" charset="0"/>
              </a:rPr>
              <a:t>em evidência</a:t>
            </a:r>
            <a:r>
              <a:rPr lang="pt-BR" sz="2000" dirty="0">
                <a:latin typeface="Tahoma" charset="0"/>
                <a:cs typeface="Times New Roman" charset="0"/>
              </a:rPr>
              <a:t>;</a:t>
            </a:r>
          </a:p>
          <a:p>
            <a:pPr lvl="3">
              <a:lnSpc>
                <a:spcPct val="114000"/>
              </a:lnSpc>
            </a:pPr>
            <a:r>
              <a:rPr lang="pt-BR" sz="1800" dirty="0">
                <a:latin typeface="Tahoma" charset="0"/>
                <a:cs typeface="Times New Roman" charset="0"/>
              </a:rPr>
              <a:t>e com os </a:t>
            </a:r>
            <a:r>
              <a:rPr lang="pt-BR" sz="1800" b="1" dirty="0">
                <a:latin typeface="Tahoma" charset="0"/>
                <a:cs typeface="Times New Roman" charset="0"/>
              </a:rPr>
              <a:t>detalhes deixados de lado</a:t>
            </a:r>
            <a:r>
              <a:rPr lang="pt-BR" sz="1800" dirty="0" smtClean="0">
                <a:latin typeface="Tahoma" charset="0"/>
                <a:cs typeface="Times New Roman" charset="0"/>
              </a:rPr>
              <a:t>.</a:t>
            </a:r>
          </a:p>
          <a:p>
            <a:pPr lvl="2">
              <a:lnSpc>
                <a:spcPct val="114000"/>
              </a:lnSpc>
            </a:pPr>
            <a:r>
              <a:rPr lang="en-US" sz="2000" dirty="0" err="1">
                <a:latin typeface="Tahoma" charset="0"/>
                <a:cs typeface="Times New Roman" charset="0"/>
              </a:rPr>
              <a:t>descrição</a:t>
            </a:r>
            <a:r>
              <a:rPr lang="en-US" sz="2000" dirty="0">
                <a:latin typeface="Tahoma" charset="0"/>
                <a:cs typeface="Times New Roman" charset="0"/>
              </a:rPr>
              <a:t> </a:t>
            </a:r>
            <a:r>
              <a:rPr lang="en-US" sz="2000" dirty="0">
                <a:latin typeface="Tahoma" charset="0"/>
                <a:cs typeface="Times New Roman" charset="0"/>
              </a:rPr>
              <a:t>dos </a:t>
            </a:r>
            <a:r>
              <a:rPr lang="en-US" sz="2000" b="1" dirty="0" err="1">
                <a:latin typeface="Tahoma" charset="0"/>
                <a:cs typeface="Times New Roman" charset="0"/>
              </a:rPr>
              <a:t>componentes</a:t>
            </a:r>
            <a:r>
              <a:rPr lang="en-US" sz="2000" b="1" dirty="0">
                <a:latin typeface="Tahoma" charset="0"/>
                <a:cs typeface="Times New Roman" charset="0"/>
              </a:rPr>
              <a:t> </a:t>
            </a:r>
            <a:r>
              <a:rPr lang="en-US" sz="2000" b="1" dirty="0" err="1">
                <a:latin typeface="Tahoma" charset="0"/>
                <a:cs typeface="Times New Roman" charset="0"/>
              </a:rPr>
              <a:t>principais</a:t>
            </a:r>
            <a:r>
              <a:rPr lang="en-US" sz="2000" dirty="0">
                <a:latin typeface="Tahoma" charset="0"/>
                <a:cs typeface="Times New Roman" charset="0"/>
              </a:rPr>
              <a:t> do </a:t>
            </a:r>
            <a:r>
              <a:rPr lang="en-US" sz="2000" dirty="0" err="1">
                <a:latin typeface="Tahoma" charset="0"/>
                <a:cs typeface="Times New Roman" charset="0"/>
              </a:rPr>
              <a:t>sistema</a:t>
            </a:r>
            <a:r>
              <a:rPr lang="en-US" sz="2000" dirty="0">
                <a:latin typeface="Tahoma" charset="0"/>
                <a:cs typeface="Times New Roman" charset="0"/>
              </a:rPr>
              <a:t> </a:t>
            </a:r>
            <a:r>
              <a:rPr lang="en-US" sz="2000" b="1" dirty="0">
                <a:latin typeface="Tahoma" charset="0"/>
                <a:cs typeface="Times New Roman" charset="0"/>
              </a:rPr>
              <a:t>e</a:t>
            </a:r>
            <a:r>
              <a:rPr lang="en-US" sz="2000" dirty="0">
                <a:latin typeface="Tahoma" charset="0"/>
                <a:cs typeface="Times New Roman" charset="0"/>
              </a:rPr>
              <a:t> de </a:t>
            </a:r>
            <a:r>
              <a:rPr lang="en-US" sz="2000" b="1" dirty="0" err="1">
                <a:latin typeface="Tahoma" charset="0"/>
                <a:cs typeface="Times New Roman" charset="0"/>
              </a:rPr>
              <a:t>suas</a:t>
            </a:r>
            <a:r>
              <a:rPr lang="en-US" sz="2000" b="1" dirty="0">
                <a:latin typeface="Tahoma" charset="0"/>
                <a:cs typeface="Times New Roman" charset="0"/>
              </a:rPr>
              <a:t> </a:t>
            </a:r>
            <a:r>
              <a:rPr lang="en-US" sz="2000" b="1" dirty="0" smtClean="0">
                <a:latin typeface="Tahoma" charset="0"/>
                <a:cs typeface="Times New Roman" charset="0"/>
              </a:rPr>
              <a:t>interfaces</a:t>
            </a:r>
            <a:r>
              <a:rPr lang="en-US" sz="2000" dirty="0" smtClean="0">
                <a:latin typeface="Tahoma" charset="0"/>
                <a:cs typeface="Times New Roman" charset="0"/>
              </a:rPr>
              <a:t>.</a:t>
            </a:r>
            <a:endParaRPr lang="en-US" sz="1800" dirty="0">
              <a:latin typeface="Tahoma" charset="0"/>
              <a:cs typeface="Times New Roman" charset="0"/>
            </a:endParaRPr>
          </a:p>
          <a:p>
            <a:pPr lvl="1">
              <a:lnSpc>
                <a:spcPct val="114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Todo produto tem função e forma:</a:t>
            </a:r>
          </a:p>
          <a:p>
            <a:pPr lvl="2">
              <a:lnSpc>
                <a:spcPct val="114000"/>
              </a:lnSpc>
            </a:pPr>
            <a:r>
              <a:rPr lang="pt-BR" sz="2000" dirty="0">
                <a:latin typeface="Tahoma" charset="0"/>
                <a:cs typeface="Times New Roman" charset="0"/>
              </a:rPr>
              <a:t>a </a:t>
            </a:r>
            <a:r>
              <a:rPr lang="pt-BR" sz="2000" b="1" dirty="0">
                <a:latin typeface="Tahoma" charset="0"/>
                <a:cs typeface="Times New Roman" charset="0"/>
              </a:rPr>
              <a:t>arquitetura</a:t>
            </a:r>
            <a:r>
              <a:rPr lang="pt-BR" sz="2000" dirty="0">
                <a:latin typeface="Tahoma" charset="0"/>
                <a:cs typeface="Times New Roman" charset="0"/>
              </a:rPr>
              <a:t> representa a </a:t>
            </a:r>
            <a:r>
              <a:rPr lang="pt-BR" sz="2000" b="1" dirty="0">
                <a:latin typeface="Tahoma" charset="0"/>
                <a:cs typeface="Times New Roman" charset="0"/>
              </a:rPr>
              <a:t>forma</a:t>
            </a:r>
            <a:r>
              <a:rPr lang="pt-BR" sz="2000" dirty="0">
                <a:latin typeface="Tahoma" charset="0"/>
                <a:cs typeface="Times New Roman" charset="0"/>
              </a:rPr>
              <a:t>;</a:t>
            </a:r>
          </a:p>
          <a:p>
            <a:pPr lvl="2">
              <a:lnSpc>
                <a:spcPct val="114000"/>
              </a:lnSpc>
            </a:pPr>
            <a:r>
              <a:rPr lang="pt-BR" sz="2000" dirty="0">
                <a:latin typeface="Tahoma" charset="0"/>
                <a:cs typeface="Times New Roman" charset="0"/>
              </a:rPr>
              <a:t>enquanto os </a:t>
            </a:r>
            <a:r>
              <a:rPr lang="pt-BR" sz="2000" b="1" dirty="0">
                <a:latin typeface="Tahoma" charset="0"/>
                <a:cs typeface="Times New Roman" charset="0"/>
              </a:rPr>
              <a:t>casos de uso</a:t>
            </a:r>
            <a:r>
              <a:rPr lang="pt-BR" sz="2000" dirty="0">
                <a:latin typeface="Tahoma" charset="0"/>
                <a:cs typeface="Times New Roman" charset="0"/>
              </a:rPr>
              <a:t> </a:t>
            </a:r>
            <a:r>
              <a:rPr lang="pt-BR" sz="2000" dirty="0" smtClean="0">
                <a:latin typeface="Tahoma" charset="0"/>
                <a:cs typeface="Times New Roman" charset="0"/>
              </a:rPr>
              <a:t>representam</a:t>
            </a:r>
          </a:p>
          <a:p>
            <a:pPr marL="685800" lvl="2" indent="0">
              <a:lnSpc>
                <a:spcPct val="114000"/>
              </a:lnSpc>
              <a:buNone/>
            </a:pPr>
            <a:r>
              <a:rPr lang="pt-BR" sz="2000" dirty="0">
                <a:latin typeface="Tahoma" charset="0"/>
                <a:cs typeface="Times New Roman" charset="0"/>
              </a:rPr>
              <a:t> </a:t>
            </a:r>
            <a:r>
              <a:rPr lang="pt-BR" sz="2000" dirty="0" smtClean="0">
                <a:latin typeface="Tahoma" charset="0"/>
                <a:cs typeface="Times New Roman" charset="0"/>
              </a:rPr>
              <a:t>  </a:t>
            </a:r>
            <a:r>
              <a:rPr lang="pt-BR" sz="2000" dirty="0">
                <a:latin typeface="Tahoma" charset="0"/>
                <a:cs typeface="Times New Roman" charset="0"/>
              </a:rPr>
              <a:t>as </a:t>
            </a:r>
            <a:r>
              <a:rPr lang="pt-BR" sz="2000" b="1" dirty="0" smtClean="0">
                <a:latin typeface="Tahoma" charset="0"/>
                <a:cs typeface="Times New Roman" charset="0"/>
              </a:rPr>
              <a:t>funções</a:t>
            </a:r>
            <a:r>
              <a:rPr lang="pt-BR" sz="2000" dirty="0" smtClean="0">
                <a:latin typeface="Tahoma" charset="0"/>
                <a:cs typeface="Times New Roman" charset="0"/>
              </a:rPr>
              <a:t>.</a:t>
            </a:r>
            <a:endParaRPr lang="en-US" sz="2000" dirty="0">
              <a:latin typeface="Tahoma" charset="0"/>
              <a:cs typeface="Times New Roman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50" y="4296822"/>
            <a:ext cx="2346936" cy="14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67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Caracter</a:t>
            </a:r>
            <a:r>
              <a:rPr lang="bg-BG" sz="4800" dirty="0" smtClean="0">
                <a:latin typeface="Tahoma"/>
                <a:cs typeface="Tahoma"/>
              </a:rPr>
              <a:t>ísticas do </a:t>
            </a:r>
            <a:r>
              <a:rPr lang="bg-BG" sz="4800" dirty="0" smtClean="0">
                <a:latin typeface="Tahoma"/>
                <a:cs typeface="Tahoma"/>
              </a:rPr>
              <a:t>Processo Unificado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ahoma" charset="0"/>
              </a:rPr>
              <a:t>Centrado na arquitetura</a:t>
            </a:r>
            <a:r>
              <a:rPr lang="pt-BR" sz="2400" dirty="0">
                <a:latin typeface="Tahoma" charset="0"/>
              </a:rPr>
              <a:t>:</a:t>
            </a:r>
            <a:endParaRPr lang="pt-BR" sz="2400" dirty="0" smtClean="0">
              <a:latin typeface="Tahoma" charset="0"/>
              <a:cs typeface="Times New Roman" charset="0"/>
            </a:endParaRPr>
          </a:p>
          <a:p>
            <a:pPr lvl="1"/>
            <a:r>
              <a:rPr lang="pt-BR" sz="2000" dirty="0" smtClean="0">
                <a:latin typeface="Tahoma" charset="0"/>
                <a:cs typeface="Times New Roman" charset="0"/>
              </a:rPr>
              <a:t>Deve</a:t>
            </a:r>
            <a:r>
              <a:rPr lang="pt-BR" sz="2000" dirty="0">
                <a:latin typeface="Tahoma" charset="0"/>
                <a:cs typeface="Times New Roman" charset="0"/>
              </a:rPr>
              <a:t>-se trabalhar com uma </a:t>
            </a:r>
            <a:r>
              <a:rPr lang="pt-BR" sz="2000" b="1" dirty="0">
                <a:latin typeface="Tahoma" charset="0"/>
                <a:cs typeface="Times New Roman" charset="0"/>
              </a:rPr>
              <a:t>arquitetura inicial</a:t>
            </a:r>
            <a:r>
              <a:rPr lang="pt-BR" sz="2000" dirty="0">
                <a:latin typeface="Tahoma" charset="0"/>
                <a:cs typeface="Times New Roman" charset="0"/>
              </a:rPr>
              <a:t>;</a:t>
            </a:r>
          </a:p>
          <a:p>
            <a:pPr lvl="2"/>
            <a:r>
              <a:rPr lang="pt-BR" sz="1800" dirty="0">
                <a:latin typeface="Tahoma" charset="0"/>
                <a:cs typeface="Times New Roman" charset="0"/>
              </a:rPr>
              <a:t>e </a:t>
            </a:r>
            <a:r>
              <a:rPr lang="pt-BR" sz="1800" b="1" dirty="0">
                <a:latin typeface="Tahoma" charset="0"/>
                <a:cs typeface="Times New Roman" charset="0"/>
              </a:rPr>
              <a:t>evidenciar</a:t>
            </a:r>
            <a:r>
              <a:rPr lang="pt-BR" sz="1800" dirty="0">
                <a:latin typeface="Tahoma" charset="0"/>
                <a:cs typeface="Times New Roman" charset="0"/>
              </a:rPr>
              <a:t> essa arquitetura em </a:t>
            </a:r>
            <a:r>
              <a:rPr lang="pt-BR" sz="1800" b="1" dirty="0">
                <a:latin typeface="Tahoma" charset="0"/>
                <a:cs typeface="Times New Roman" charset="0"/>
              </a:rPr>
              <a:t>casos de uso </a:t>
            </a:r>
            <a:r>
              <a:rPr lang="pt-BR" sz="1800" b="1" dirty="0" err="1">
                <a:latin typeface="Tahoma" charset="0"/>
                <a:cs typeface="Times New Roman" charset="0"/>
              </a:rPr>
              <a:t>arquiteturalmente</a:t>
            </a:r>
            <a:r>
              <a:rPr lang="pt-BR" sz="1800" b="1" dirty="0">
                <a:latin typeface="Tahoma" charset="0"/>
                <a:cs typeface="Times New Roman" charset="0"/>
              </a:rPr>
              <a:t> </a:t>
            </a:r>
            <a:r>
              <a:rPr lang="pt-BR" sz="1800" b="1" dirty="0" smtClean="0">
                <a:latin typeface="Tahoma" charset="0"/>
                <a:cs typeface="Times New Roman" charset="0"/>
              </a:rPr>
              <a:t>relevantes</a:t>
            </a:r>
            <a:r>
              <a:rPr lang="pt-BR" sz="1800" dirty="0" smtClean="0">
                <a:latin typeface="Tahoma" charset="0"/>
                <a:cs typeface="Times New Roman" charset="0"/>
              </a:rPr>
              <a:t>:</a:t>
            </a:r>
          </a:p>
          <a:p>
            <a:pPr lvl="3"/>
            <a:r>
              <a:rPr lang="pt-BR" sz="1600" dirty="0" smtClean="0">
                <a:latin typeface="Tahoma" charset="0"/>
                <a:cs typeface="Times New Roman" charset="0"/>
              </a:rPr>
              <a:t>5 a 10</a:t>
            </a:r>
            <a:r>
              <a:rPr lang="pt-BR" sz="1600" dirty="0">
                <a:latin typeface="Tahoma" charset="0"/>
                <a:cs typeface="Times New Roman" charset="0"/>
              </a:rPr>
              <a:t>% do </a:t>
            </a:r>
            <a:r>
              <a:rPr lang="pt-BR" sz="1600" dirty="0" smtClean="0">
                <a:latin typeface="Tahoma" charset="0"/>
                <a:cs typeface="Times New Roman" charset="0"/>
              </a:rPr>
              <a:t>total</a:t>
            </a:r>
            <a:r>
              <a:rPr lang="en-US" sz="1600" dirty="0" smtClean="0">
                <a:latin typeface="Tahoma" charset="0"/>
                <a:cs typeface="Times New Roman" charset="0"/>
              </a:rPr>
              <a:t>;</a:t>
            </a:r>
          </a:p>
          <a:p>
            <a:pPr lvl="2"/>
            <a:r>
              <a:rPr lang="en-US" sz="1800" b="1" dirty="0" err="1">
                <a:latin typeface="Tahoma" charset="0"/>
                <a:cs typeface="Times New Roman" charset="0"/>
              </a:rPr>
              <a:t>projetar</a:t>
            </a:r>
            <a:r>
              <a:rPr lang="en-US" sz="1800" b="1" dirty="0">
                <a:latin typeface="Tahoma" charset="0"/>
                <a:cs typeface="Times New Roman" charset="0"/>
              </a:rPr>
              <a:t>, </a:t>
            </a:r>
            <a:r>
              <a:rPr lang="en-US" sz="1800" b="1" dirty="0" err="1">
                <a:latin typeface="Tahoma" charset="0"/>
                <a:cs typeface="Times New Roman" charset="0"/>
              </a:rPr>
              <a:t>implementar</a:t>
            </a:r>
            <a:r>
              <a:rPr lang="en-US" sz="1800" b="1" dirty="0">
                <a:latin typeface="Tahoma" charset="0"/>
                <a:cs typeface="Times New Roman" charset="0"/>
              </a:rPr>
              <a:t> e </a:t>
            </a:r>
            <a:r>
              <a:rPr lang="en-US" sz="1800" b="1" dirty="0" err="1">
                <a:latin typeface="Tahoma" charset="0"/>
                <a:cs typeface="Times New Roman" charset="0"/>
              </a:rPr>
              <a:t>testar</a:t>
            </a:r>
            <a:r>
              <a:rPr lang="en-US" sz="1800" b="1" dirty="0">
                <a:latin typeface="Tahoma" charset="0"/>
                <a:cs typeface="Times New Roman" charset="0"/>
              </a:rPr>
              <a:t> </a:t>
            </a:r>
            <a:r>
              <a:rPr lang="en-US" sz="1800" dirty="0">
                <a:latin typeface="Tahoma" charset="0"/>
                <a:cs typeface="Times New Roman" charset="0"/>
              </a:rPr>
              <a:t>a </a:t>
            </a:r>
            <a:r>
              <a:rPr lang="en-US" sz="1800" b="1" dirty="0" err="1" smtClean="0">
                <a:latin typeface="Tahoma" charset="0"/>
                <a:cs typeface="Times New Roman" charset="0"/>
              </a:rPr>
              <a:t>arquitetura</a:t>
            </a:r>
            <a:r>
              <a:rPr lang="en-US" sz="1800" dirty="0" smtClean="0">
                <a:latin typeface="Tahoma" charset="0"/>
                <a:cs typeface="Times New Roman" charset="0"/>
              </a:rPr>
              <a:t>:</a:t>
            </a:r>
            <a:endParaRPr lang="en-US" sz="1800" dirty="0">
              <a:latin typeface="Tahoma" charset="0"/>
              <a:cs typeface="Times New Roman" charset="0"/>
            </a:endParaRPr>
          </a:p>
          <a:p>
            <a:pPr lvl="3"/>
            <a:r>
              <a:rPr lang="en-US" sz="1600" b="1" dirty="0" err="1">
                <a:latin typeface="Tahoma" charset="0"/>
                <a:cs typeface="Times New Roman" charset="0"/>
              </a:rPr>
              <a:t>protótipos</a:t>
            </a:r>
            <a:r>
              <a:rPr lang="en-US" sz="1600" b="1" dirty="0">
                <a:latin typeface="Tahoma" charset="0"/>
                <a:cs typeface="Times New Roman" charset="0"/>
              </a:rPr>
              <a:t> </a:t>
            </a:r>
            <a:r>
              <a:rPr lang="en-US" sz="1600" b="1" dirty="0" err="1" smtClean="0">
                <a:latin typeface="Tahoma" charset="0"/>
                <a:cs typeface="Times New Roman" charset="0"/>
              </a:rPr>
              <a:t>arquiteturais</a:t>
            </a:r>
            <a:r>
              <a:rPr lang="en-US" sz="1600" dirty="0" smtClean="0">
                <a:latin typeface="Tahoma" charset="0"/>
                <a:cs typeface="Times New Roman" charset="0"/>
              </a:rPr>
              <a:t>.</a:t>
            </a:r>
            <a:endParaRPr lang="en-US" dirty="0">
              <a:latin typeface="Tahoma" charset="0"/>
              <a:cs typeface="Times New Roman" charset="0"/>
            </a:endParaRPr>
          </a:p>
          <a:p>
            <a:pPr lvl="1"/>
            <a:r>
              <a:rPr lang="pt-BR" sz="2000" dirty="0">
                <a:latin typeface="Tahoma" charset="0"/>
                <a:cs typeface="Times New Roman" charset="0"/>
              </a:rPr>
              <a:t>À medida que </a:t>
            </a:r>
            <a:r>
              <a:rPr lang="pt-BR" sz="2000" dirty="0" smtClean="0">
                <a:latin typeface="Tahoma" charset="0"/>
                <a:cs typeface="Times New Roman" charset="0"/>
              </a:rPr>
              <a:t>os </a:t>
            </a:r>
            <a:r>
              <a:rPr lang="pt-BR" sz="2000" b="1" dirty="0">
                <a:latin typeface="Tahoma" charset="0"/>
                <a:cs typeface="Times New Roman" charset="0"/>
              </a:rPr>
              <a:t>casos de uso vão sendo implementados</a:t>
            </a:r>
            <a:r>
              <a:rPr lang="pt-BR" sz="2000" dirty="0">
                <a:latin typeface="Tahoma" charset="0"/>
                <a:cs typeface="Times New Roman" charset="0"/>
              </a:rPr>
              <a:t>;</a:t>
            </a:r>
          </a:p>
          <a:p>
            <a:pPr lvl="2"/>
            <a:r>
              <a:rPr lang="pt-BR" sz="1800" dirty="0">
                <a:latin typeface="Tahoma" charset="0"/>
                <a:cs typeface="Times New Roman" charset="0"/>
              </a:rPr>
              <a:t>a </a:t>
            </a:r>
            <a:r>
              <a:rPr lang="pt-BR" sz="1800" b="1" dirty="0">
                <a:latin typeface="Tahoma" charset="0"/>
                <a:cs typeface="Times New Roman" charset="0"/>
              </a:rPr>
              <a:t>arquitetura</a:t>
            </a:r>
            <a:r>
              <a:rPr lang="pt-BR" sz="1800" dirty="0">
                <a:latin typeface="Tahoma" charset="0"/>
                <a:cs typeface="Times New Roman" charset="0"/>
              </a:rPr>
              <a:t> pode ser </a:t>
            </a:r>
            <a:r>
              <a:rPr lang="pt-BR" sz="1800" b="1" dirty="0">
                <a:latin typeface="Tahoma" charset="0"/>
                <a:cs typeface="Times New Roman" charset="0"/>
              </a:rPr>
              <a:t>maturada</a:t>
            </a:r>
            <a:r>
              <a:rPr lang="pt-BR" sz="1800" dirty="0" smtClean="0">
                <a:latin typeface="Tahoma" charset="0"/>
                <a:cs typeface="Times New Roman" charset="0"/>
              </a:rPr>
              <a:t>.</a:t>
            </a:r>
          </a:p>
          <a:p>
            <a:pPr lvl="1"/>
            <a:r>
              <a:rPr lang="en-US" sz="2000" b="1" dirty="0" err="1" smtClean="0">
                <a:latin typeface="Tahoma" charset="0"/>
                <a:cs typeface="Times New Roman" charset="0"/>
              </a:rPr>
              <a:t>Vantagens</a:t>
            </a:r>
            <a:r>
              <a:rPr lang="en-US" sz="2000" dirty="0" smtClean="0">
                <a:latin typeface="Tahoma" charset="0"/>
                <a:cs typeface="Times New Roman" charset="0"/>
              </a:rPr>
              <a:t>:</a:t>
            </a:r>
            <a:endParaRPr lang="en-US" sz="2000" dirty="0">
              <a:latin typeface="Tahoma" charset="0"/>
              <a:cs typeface="Times New Roman" charset="0"/>
            </a:endParaRPr>
          </a:p>
          <a:p>
            <a:pPr lvl="2"/>
            <a:r>
              <a:rPr lang="en-US" sz="1800" dirty="0" err="1">
                <a:latin typeface="Tahoma" charset="0"/>
                <a:cs typeface="Times New Roman" charset="0"/>
              </a:rPr>
              <a:t>permite</a:t>
            </a:r>
            <a:r>
              <a:rPr lang="en-US" sz="1800" dirty="0">
                <a:latin typeface="Tahoma" charset="0"/>
                <a:cs typeface="Times New Roman" charset="0"/>
              </a:rPr>
              <a:t> </a:t>
            </a:r>
            <a:r>
              <a:rPr lang="en-US" sz="1800" b="1" dirty="0" err="1">
                <a:latin typeface="Tahoma" charset="0"/>
                <a:cs typeface="Times New Roman" charset="0"/>
              </a:rPr>
              <a:t>refinar</a:t>
            </a:r>
            <a:r>
              <a:rPr lang="en-US" sz="1800" dirty="0">
                <a:latin typeface="Tahoma" charset="0"/>
                <a:cs typeface="Times New Roman" charset="0"/>
              </a:rPr>
              <a:t> as </a:t>
            </a:r>
            <a:r>
              <a:rPr lang="en-US" sz="1800" b="1" dirty="0" err="1">
                <a:latin typeface="Tahoma" charset="0"/>
                <a:cs typeface="Times New Roman" charset="0"/>
              </a:rPr>
              <a:t>estimativas</a:t>
            </a:r>
            <a:r>
              <a:rPr lang="en-US" sz="1800" b="1" dirty="0">
                <a:latin typeface="Tahoma" charset="0"/>
                <a:cs typeface="Times New Roman" charset="0"/>
              </a:rPr>
              <a:t> de </a:t>
            </a:r>
            <a:r>
              <a:rPr lang="en-US" sz="1800" b="1" dirty="0" err="1" smtClean="0">
                <a:latin typeface="Tahoma" charset="0"/>
                <a:cs typeface="Times New Roman" charset="0"/>
              </a:rPr>
              <a:t>esforço</a:t>
            </a:r>
            <a:r>
              <a:rPr lang="en-US" sz="1800" dirty="0" smtClean="0">
                <a:latin typeface="Tahoma" charset="0"/>
                <a:cs typeface="Times New Roman" charset="0"/>
              </a:rPr>
              <a:t>;</a:t>
            </a:r>
            <a:endParaRPr lang="en-US" sz="1800" dirty="0">
              <a:latin typeface="Tahoma" charset="0"/>
              <a:cs typeface="Times New Roman" charset="0"/>
            </a:endParaRPr>
          </a:p>
          <a:p>
            <a:pPr lvl="2"/>
            <a:r>
              <a:rPr lang="en-US" sz="1800" dirty="0" err="1">
                <a:latin typeface="Tahoma" charset="0"/>
                <a:cs typeface="Times New Roman" charset="0"/>
              </a:rPr>
              <a:t>permite</a:t>
            </a:r>
            <a:r>
              <a:rPr lang="en-US" sz="1800" dirty="0">
                <a:latin typeface="Tahoma" charset="0"/>
                <a:cs typeface="Times New Roman" charset="0"/>
              </a:rPr>
              <a:t> </a:t>
            </a:r>
            <a:r>
              <a:rPr lang="en-US" sz="1800" dirty="0" err="1">
                <a:latin typeface="Tahoma" charset="0"/>
                <a:cs typeface="Times New Roman" charset="0"/>
              </a:rPr>
              <a:t>que</a:t>
            </a:r>
            <a:r>
              <a:rPr lang="en-US" sz="1800" dirty="0">
                <a:latin typeface="Tahoma" charset="0"/>
                <a:cs typeface="Times New Roman" charset="0"/>
              </a:rPr>
              <a:t> </a:t>
            </a:r>
            <a:r>
              <a:rPr lang="en-US" sz="1800" dirty="0" err="1">
                <a:latin typeface="Tahoma" charset="0"/>
                <a:cs typeface="Times New Roman" charset="0"/>
              </a:rPr>
              <a:t>os</a:t>
            </a:r>
            <a:r>
              <a:rPr lang="en-US" sz="1800" dirty="0">
                <a:latin typeface="Tahoma" charset="0"/>
                <a:cs typeface="Times New Roman" charset="0"/>
              </a:rPr>
              <a:t> </a:t>
            </a:r>
            <a:r>
              <a:rPr lang="en-US" sz="1800" b="1" dirty="0" err="1">
                <a:latin typeface="Tahoma" charset="0"/>
                <a:cs typeface="Times New Roman" charset="0"/>
              </a:rPr>
              <a:t>membros</a:t>
            </a:r>
            <a:r>
              <a:rPr lang="en-US" sz="1800" dirty="0">
                <a:latin typeface="Tahoma" charset="0"/>
                <a:cs typeface="Times New Roman" charset="0"/>
              </a:rPr>
              <a:t> da </a:t>
            </a:r>
            <a:r>
              <a:rPr lang="en-US" sz="1800" b="1" dirty="0" err="1">
                <a:latin typeface="Tahoma" charset="0"/>
                <a:cs typeface="Times New Roman" charset="0"/>
              </a:rPr>
              <a:t>equipe</a:t>
            </a:r>
            <a:r>
              <a:rPr lang="en-US" sz="1800" b="1" dirty="0">
                <a:latin typeface="Tahoma" charset="0"/>
                <a:cs typeface="Times New Roman" charset="0"/>
              </a:rPr>
              <a:t> se </a:t>
            </a:r>
            <a:r>
              <a:rPr lang="en-US" sz="1800" b="1" dirty="0" err="1">
                <a:latin typeface="Tahoma" charset="0"/>
                <a:cs typeface="Times New Roman" charset="0"/>
              </a:rPr>
              <a:t>familiarizem</a:t>
            </a:r>
            <a:r>
              <a:rPr lang="en-US" sz="1800" b="1" dirty="0">
                <a:latin typeface="Tahoma" charset="0"/>
                <a:cs typeface="Times New Roman" charset="0"/>
              </a:rPr>
              <a:t> com</a:t>
            </a:r>
            <a:r>
              <a:rPr lang="en-US" sz="1800" dirty="0">
                <a:latin typeface="Tahoma" charset="0"/>
                <a:cs typeface="Times New Roman" charset="0"/>
              </a:rPr>
              <a:t> as </a:t>
            </a:r>
            <a:r>
              <a:rPr lang="en-US" sz="1800" b="1" dirty="0" err="1">
                <a:latin typeface="Tahoma" charset="0"/>
                <a:cs typeface="Times New Roman" charset="0"/>
              </a:rPr>
              <a:t>tecnologias</a:t>
            </a:r>
            <a:r>
              <a:rPr lang="en-US" sz="1800" b="1" dirty="0">
                <a:latin typeface="Tahoma" charset="0"/>
                <a:cs typeface="Times New Roman" charset="0"/>
              </a:rPr>
              <a:t> </a:t>
            </a:r>
            <a:r>
              <a:rPr lang="en-US" sz="1800" b="1" dirty="0" err="1" smtClean="0">
                <a:latin typeface="Tahoma" charset="0"/>
                <a:cs typeface="Times New Roman" charset="0"/>
              </a:rPr>
              <a:t>utilizadas</a:t>
            </a:r>
            <a:r>
              <a:rPr lang="en-US" sz="1800" dirty="0" smtClean="0">
                <a:latin typeface="Tahoma" charset="0"/>
                <a:cs typeface="Times New Roman" charset="0"/>
              </a:rPr>
              <a:t>;</a:t>
            </a:r>
            <a:endParaRPr lang="en-US" sz="1800" dirty="0">
              <a:latin typeface="Tahoma" charset="0"/>
              <a:cs typeface="Times New Roman" charset="0"/>
            </a:endParaRPr>
          </a:p>
          <a:p>
            <a:pPr lvl="2"/>
            <a:r>
              <a:rPr lang="en-US" sz="1800" b="1" dirty="0" err="1">
                <a:latin typeface="Tahoma" charset="0"/>
                <a:cs typeface="Times New Roman" charset="0"/>
              </a:rPr>
              <a:t>ataca</a:t>
            </a:r>
            <a:r>
              <a:rPr lang="en-US" sz="1800" dirty="0">
                <a:latin typeface="Tahoma" charset="0"/>
                <a:cs typeface="Times New Roman" charset="0"/>
              </a:rPr>
              <a:t> </a:t>
            </a:r>
            <a:r>
              <a:rPr lang="en-US" sz="1800" dirty="0" err="1">
                <a:latin typeface="Tahoma" charset="0"/>
                <a:cs typeface="Times New Roman" charset="0"/>
              </a:rPr>
              <a:t>alguns</a:t>
            </a:r>
            <a:r>
              <a:rPr lang="en-US" sz="1800" dirty="0">
                <a:latin typeface="Tahoma" charset="0"/>
                <a:cs typeface="Times New Roman" charset="0"/>
              </a:rPr>
              <a:t> dos </a:t>
            </a:r>
            <a:r>
              <a:rPr lang="en-US" sz="1800" b="1" dirty="0" err="1">
                <a:latin typeface="Tahoma" charset="0"/>
                <a:cs typeface="Times New Roman" charset="0"/>
              </a:rPr>
              <a:t>principais</a:t>
            </a:r>
            <a:r>
              <a:rPr lang="en-US" sz="1800" b="1" dirty="0">
                <a:latin typeface="Tahoma" charset="0"/>
                <a:cs typeface="Times New Roman" charset="0"/>
              </a:rPr>
              <a:t> </a:t>
            </a:r>
            <a:r>
              <a:rPr lang="en-US" sz="1800" b="1" dirty="0" err="1" smtClean="0">
                <a:latin typeface="Tahoma" charset="0"/>
                <a:cs typeface="Times New Roman" charset="0"/>
              </a:rPr>
              <a:t>riscos</a:t>
            </a:r>
            <a:r>
              <a:rPr lang="en-US" sz="1800" dirty="0" smtClean="0">
                <a:latin typeface="Tahoma" charset="0"/>
                <a:cs typeface="Times New Roman" charset="0"/>
              </a:rPr>
              <a:t>.</a:t>
            </a:r>
            <a:endParaRPr lang="en-US" sz="1800" dirty="0">
              <a:latin typeface="Tahoma" charset="0"/>
              <a:cs typeface="Times New Roman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93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Caracter</a:t>
            </a:r>
            <a:r>
              <a:rPr lang="bg-BG" sz="4800" dirty="0" smtClean="0">
                <a:latin typeface="Tahoma"/>
                <a:cs typeface="Tahoma"/>
              </a:rPr>
              <a:t>ísticas do </a:t>
            </a:r>
            <a:r>
              <a:rPr lang="bg-BG" sz="4800" dirty="0" smtClean="0">
                <a:latin typeface="Tahoma"/>
                <a:cs typeface="Tahoma"/>
              </a:rPr>
              <a:t>Processo Unificado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200" b="1" dirty="0">
                <a:latin typeface="Tahoma" charset="0"/>
              </a:rPr>
              <a:t>Iterativo e incremental</a:t>
            </a:r>
            <a:r>
              <a:rPr lang="pt-BR" sz="3200" dirty="0">
                <a:latin typeface="Tahoma" charset="0"/>
              </a:rPr>
              <a:t>:</a:t>
            </a:r>
          </a:p>
          <a:p>
            <a:pPr lvl="1">
              <a:lnSpc>
                <a:spcPct val="130000"/>
              </a:lnSpc>
            </a:pPr>
            <a:r>
              <a:rPr lang="pt-BR" sz="2800" dirty="0" smtClean="0">
                <a:latin typeface="Tahoma" charset="0"/>
                <a:cs typeface="Times New Roman" charset="0"/>
              </a:rPr>
              <a:t>em </a:t>
            </a:r>
            <a:r>
              <a:rPr lang="pt-BR" sz="2800" b="1" dirty="0">
                <a:latin typeface="Tahoma" charset="0"/>
                <a:cs typeface="Times New Roman" charset="0"/>
              </a:rPr>
              <a:t>cada iteração</a:t>
            </a:r>
            <a:r>
              <a:rPr lang="pt-BR" sz="2800" dirty="0">
                <a:latin typeface="Tahoma" charset="0"/>
                <a:cs typeface="Times New Roman" charset="0"/>
              </a:rPr>
              <a:t>, os engenheiros de </a:t>
            </a:r>
            <a:r>
              <a:rPr lang="pt-BR" sz="2800" i="1" dirty="0">
                <a:latin typeface="Tahoma" charset="0"/>
                <a:cs typeface="Times New Roman" charset="0"/>
              </a:rPr>
              <a:t>software</a:t>
            </a:r>
            <a:r>
              <a:rPr lang="pt-BR" sz="2800" dirty="0">
                <a:latin typeface="Tahoma" charset="0"/>
                <a:cs typeface="Times New Roman" charset="0"/>
              </a:rPr>
              <a:t> apresentam os </a:t>
            </a:r>
            <a:r>
              <a:rPr lang="pt-BR" sz="2800" b="1" dirty="0">
                <a:latin typeface="Tahoma" charset="0"/>
                <a:cs typeface="Times New Roman" charset="0"/>
              </a:rPr>
              <a:t>casos de uso mais relevantes</a:t>
            </a:r>
            <a:r>
              <a:rPr lang="pt-BR" sz="2800" dirty="0">
                <a:latin typeface="Tahoma" charset="0"/>
                <a:cs typeface="Times New Roman" charset="0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pt-BR" sz="2600" b="1" dirty="0">
                <a:latin typeface="Tahoma" charset="0"/>
                <a:cs typeface="Times New Roman" charset="0"/>
              </a:rPr>
              <a:t>guiados pela arquitetura</a:t>
            </a:r>
            <a:r>
              <a:rPr lang="pt-BR" sz="2600" dirty="0">
                <a:latin typeface="Tahoma" charset="0"/>
                <a:cs typeface="Times New Roman" charset="0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pt-BR" sz="2600" dirty="0">
                <a:latin typeface="Tahoma" charset="0"/>
                <a:cs typeface="Times New Roman" charset="0"/>
              </a:rPr>
              <a:t>de forma a </a:t>
            </a:r>
            <a:r>
              <a:rPr lang="pt-BR" sz="2600" b="1" dirty="0">
                <a:latin typeface="Tahoma" charset="0"/>
                <a:cs typeface="Times New Roman" charset="0"/>
              </a:rPr>
              <a:t>cada vez </a:t>
            </a:r>
            <a:r>
              <a:rPr lang="pt-BR" sz="2600" dirty="0" smtClean="0">
                <a:latin typeface="Tahoma" charset="0"/>
                <a:cs typeface="Times New Roman" charset="0"/>
              </a:rPr>
              <a:t>estarem </a:t>
            </a:r>
            <a:r>
              <a:rPr lang="pt-BR" sz="2600" b="1" dirty="0">
                <a:latin typeface="Tahoma" charset="0"/>
                <a:cs typeface="Times New Roman" charset="0"/>
              </a:rPr>
              <a:t>mais 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próximos </a:t>
            </a:r>
            <a:r>
              <a:rPr lang="pt-BR" sz="2600" dirty="0">
                <a:latin typeface="Tahoma" charset="0"/>
                <a:cs typeface="Times New Roman" charset="0"/>
              </a:rPr>
              <a:t>do </a:t>
            </a:r>
            <a:r>
              <a:rPr lang="pt-BR" sz="2600" b="1" dirty="0">
                <a:latin typeface="Tahoma" charset="0"/>
                <a:cs typeface="Times New Roman" charset="0"/>
              </a:rPr>
              <a:t>sistema final</a:t>
            </a:r>
            <a:r>
              <a:rPr lang="pt-BR" sz="2600" dirty="0">
                <a:latin typeface="Tahoma" charset="0"/>
                <a:cs typeface="Times New Roman" charset="0"/>
              </a:rPr>
              <a:t>.</a:t>
            </a:r>
            <a:endParaRPr lang="pt-BR" sz="26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56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>
                <a:latin typeface="Tahoma"/>
                <a:cs typeface="Tahoma"/>
              </a:rPr>
              <a:t>Características do Processo Unificado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200" dirty="0" smtClean="0">
                <a:latin typeface="Tahoma" charset="0"/>
              </a:rPr>
              <a:t>Modelo de </a:t>
            </a:r>
            <a:r>
              <a:rPr lang="pt-BR" sz="3200" b="1" dirty="0" smtClean="0">
                <a:latin typeface="Tahoma" charset="0"/>
              </a:rPr>
              <a:t>ciclo de vida</a:t>
            </a:r>
            <a:r>
              <a:rPr lang="pt-BR" sz="3200" dirty="0" smtClean="0">
                <a:latin typeface="Tahoma" charset="0"/>
              </a:rPr>
              <a:t>:</a:t>
            </a:r>
          </a:p>
          <a:p>
            <a:pPr lvl="1">
              <a:lnSpc>
                <a:spcPct val="130000"/>
              </a:lnSpc>
            </a:pPr>
            <a:r>
              <a:rPr lang="pt-BR" sz="2800" b="1" dirty="0" smtClean="0">
                <a:latin typeface="Tahoma" charset="0"/>
              </a:rPr>
              <a:t>em </a:t>
            </a:r>
            <a:r>
              <a:rPr lang="pt-BR" sz="2800" b="1" dirty="0">
                <a:latin typeface="Tahoma" charset="0"/>
              </a:rPr>
              <a:t>espiral</a:t>
            </a:r>
            <a:r>
              <a:rPr lang="pt-BR" sz="2800" dirty="0">
                <a:latin typeface="Tahoma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pt-BR" sz="3200" b="1" dirty="0">
                <a:latin typeface="Tahoma" charset="0"/>
              </a:rPr>
              <a:t>Cada ciclo</a:t>
            </a:r>
            <a:r>
              <a:rPr lang="pt-BR" sz="3200" dirty="0">
                <a:latin typeface="Tahoma" charset="0"/>
              </a:rPr>
              <a:t>:</a:t>
            </a:r>
          </a:p>
          <a:p>
            <a:pPr lvl="1">
              <a:lnSpc>
                <a:spcPct val="130000"/>
              </a:lnSpc>
            </a:pPr>
            <a:r>
              <a:rPr lang="pt-BR" sz="2800" dirty="0">
                <a:latin typeface="Tahoma" charset="0"/>
              </a:rPr>
              <a:t>entrega uma </a:t>
            </a:r>
            <a:r>
              <a:rPr lang="pt-BR" sz="2800" b="1" dirty="0">
                <a:latin typeface="Tahoma" charset="0"/>
              </a:rPr>
              <a:t>liberação do </a:t>
            </a:r>
            <a:r>
              <a:rPr lang="pt-BR" sz="2800" b="1" dirty="0" smtClean="0">
                <a:latin typeface="Tahoma" charset="0"/>
              </a:rPr>
              <a:t>produto</a:t>
            </a:r>
            <a:r>
              <a:rPr lang="pt-BR" sz="2800" dirty="0" smtClean="0">
                <a:latin typeface="Tahoma" charset="0"/>
              </a:rPr>
              <a:t>.</a:t>
            </a:r>
            <a:endParaRPr lang="pt-BR" sz="2800" dirty="0">
              <a:latin typeface="Tahoma" charset="0"/>
            </a:endParaRPr>
          </a:p>
          <a:p>
            <a:pPr>
              <a:lnSpc>
                <a:spcPct val="130000"/>
              </a:lnSpc>
            </a:pPr>
            <a:r>
              <a:rPr lang="pt-BR" sz="3200" dirty="0" smtClean="0">
                <a:latin typeface="Tahoma" charset="0"/>
              </a:rPr>
              <a:t>É</a:t>
            </a:r>
            <a:r>
              <a:rPr lang="pt-BR" sz="3200" dirty="0" smtClean="0">
                <a:latin typeface="Tahoma" charset="0"/>
              </a:rPr>
              <a:t> </a:t>
            </a:r>
            <a:r>
              <a:rPr lang="pt-BR" sz="3200" b="1" dirty="0">
                <a:latin typeface="Tahoma" charset="0"/>
              </a:rPr>
              <a:t>dividido em fases</a:t>
            </a:r>
            <a:r>
              <a:rPr lang="pt-BR" sz="3200" dirty="0">
                <a:latin typeface="Tahoma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pt-BR" sz="3200" b="1" dirty="0">
                <a:latin typeface="Tahoma" charset="0"/>
              </a:rPr>
              <a:t>Atividades </a:t>
            </a:r>
            <a:r>
              <a:rPr lang="pt-BR" sz="3200" b="1" dirty="0" smtClean="0">
                <a:latin typeface="Tahoma" charset="0"/>
              </a:rPr>
              <a:t>técnicas</a:t>
            </a:r>
            <a:r>
              <a:rPr lang="pt-BR" sz="3200" dirty="0" smtClean="0">
                <a:latin typeface="Tahoma" charset="0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dirty="0" smtClean="0">
                <a:latin typeface="Tahoma" charset="0"/>
              </a:rPr>
              <a:t>são </a:t>
            </a:r>
            <a:r>
              <a:rPr lang="pt-BR" sz="2800" b="1" dirty="0">
                <a:latin typeface="Tahoma" charset="0"/>
              </a:rPr>
              <a:t>organizadas em fluxos</a:t>
            </a:r>
            <a:r>
              <a:rPr lang="pt-BR" sz="2800" dirty="0">
                <a:latin typeface="Tahoma" charset="0"/>
              </a:rPr>
              <a:t>.</a:t>
            </a:r>
            <a:endParaRPr lang="pt-BR" sz="28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88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solidFill>
                  <a:schemeClr val="accent1"/>
                </a:solidFill>
                <a:latin typeface="Tahoma"/>
                <a:cs typeface="Tahoma"/>
              </a:rPr>
              <a:t>Fases</a:t>
            </a:r>
            <a:r>
              <a:rPr lang="bg-BG" sz="5400" dirty="0" smtClean="0">
                <a:latin typeface="Tahoma"/>
                <a:cs typeface="Tahoma"/>
              </a:rPr>
              <a:t> x </a:t>
            </a:r>
            <a:r>
              <a:rPr lang="bg-BG" sz="5400" dirty="0" smtClean="0">
                <a:solidFill>
                  <a:schemeClr val="accent2"/>
                </a:solidFill>
                <a:latin typeface="Tahoma"/>
                <a:cs typeface="Tahoma"/>
              </a:rPr>
              <a:t>Fluxos</a:t>
            </a:r>
            <a:endParaRPr lang="en-US" sz="5400" dirty="0">
              <a:solidFill>
                <a:schemeClr val="accent2"/>
              </a:solidFill>
              <a:latin typeface="Tahoma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4074"/>
              </p:ext>
            </p:extLst>
          </p:nvPr>
        </p:nvGraphicFramePr>
        <p:xfrm>
          <a:off x="493776" y="2213991"/>
          <a:ext cx="815644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983"/>
                <a:gridCol w="1513417"/>
                <a:gridCol w="1439469"/>
                <a:gridCol w="1631290"/>
                <a:gridCol w="1631290"/>
              </a:tblGrid>
              <a:tr h="2519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Concep</a:t>
                      </a:r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ção</a:t>
                      </a:r>
                      <a:endParaRPr lang="en-US" sz="2000" b="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Elabora</a:t>
                      </a:r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ção</a:t>
                      </a:r>
                      <a:endParaRPr lang="en-US" sz="2000" b="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Constru</a:t>
                      </a:r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ção</a:t>
                      </a:r>
                      <a:endParaRPr lang="en-US" sz="2000" b="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Transi</a:t>
                      </a:r>
                      <a:r>
                        <a:rPr lang="en-US" sz="2000" b="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ção</a:t>
                      </a:r>
                      <a:endParaRPr lang="en-US" sz="2000" b="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/>
                </a:tc>
              </a:tr>
              <a:tr h="352731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Requisitos</a:t>
                      </a:r>
                      <a:endParaRPr lang="en-US" sz="200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3604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álise</a:t>
                      </a:r>
                      <a:endParaRPr lang="en-US" sz="200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3604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Projeto</a:t>
                      </a:r>
                      <a:endParaRPr lang="en-US" sz="200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52731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Implementa</a:t>
                      </a:r>
                      <a:r>
                        <a:rPr lang="en-US" sz="2000" dirty="0" err="1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ção</a:t>
                      </a:r>
                      <a:endParaRPr lang="en-US" sz="200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360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Tahoma"/>
                          <a:cs typeface="Tahoma"/>
                        </a:rPr>
                        <a:t>Testes</a:t>
                      </a:r>
                      <a:endParaRPr lang="en-US" sz="2000" dirty="0">
                        <a:solidFill>
                          <a:schemeClr val="tx2"/>
                        </a:solidFill>
                        <a:latin typeface="Tahoma"/>
                        <a:cs typeface="Tahoma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180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RUP </a:t>
            </a:r>
            <a:r>
              <a:rPr lang="mr-IN" sz="4800" dirty="0" smtClean="0">
                <a:latin typeface="Tahoma"/>
                <a:cs typeface="Tahoma"/>
              </a:rPr>
              <a:t>–</a:t>
            </a:r>
            <a:r>
              <a:rPr lang="bg-BG" sz="4800" dirty="0" smtClean="0">
                <a:latin typeface="Tahoma"/>
                <a:cs typeface="Tahoma"/>
              </a:rPr>
              <a:t> </a:t>
            </a:r>
            <a:r>
              <a:rPr lang="bg-BG" sz="4800" i="1" dirty="0" smtClean="0">
                <a:latin typeface="Tahoma"/>
                <a:cs typeface="Tahoma"/>
              </a:rPr>
              <a:t>Rational Unified Process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pt-BR" sz="3200" b="1" dirty="0">
                <a:latin typeface="Tahoma" charset="0"/>
              </a:rPr>
              <a:t>Produto comercial</a:t>
            </a:r>
          </a:p>
          <a:p>
            <a:pPr lvl="1">
              <a:lnSpc>
                <a:spcPct val="114000"/>
              </a:lnSpc>
            </a:pPr>
            <a:r>
              <a:rPr lang="pt-BR" sz="2800" b="1" dirty="0">
                <a:latin typeface="Tahoma" charset="0"/>
              </a:rPr>
              <a:t>baseado</a:t>
            </a:r>
            <a:r>
              <a:rPr lang="pt-BR" sz="2800" dirty="0">
                <a:latin typeface="Tahoma" charset="0"/>
              </a:rPr>
              <a:t> no </a:t>
            </a:r>
            <a:r>
              <a:rPr lang="pt-BR" sz="2800" b="1" dirty="0">
                <a:latin typeface="Tahoma" charset="0"/>
              </a:rPr>
              <a:t>Processo Unificado</a:t>
            </a:r>
            <a:r>
              <a:rPr lang="pt-BR" sz="2800" dirty="0" smtClean="0">
                <a:latin typeface="Tahoma" charset="0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pt-BR" sz="3200" b="1" dirty="0">
                <a:latin typeface="Tahoma" charset="0"/>
              </a:rPr>
              <a:t>Utiliza</a:t>
            </a:r>
            <a:r>
              <a:rPr lang="pt-BR" sz="3200" dirty="0">
                <a:latin typeface="Tahoma" charset="0"/>
              </a:rPr>
              <a:t> a </a:t>
            </a:r>
            <a:r>
              <a:rPr lang="pt-BR" sz="3200" b="1" dirty="0">
                <a:latin typeface="Tahoma" charset="0"/>
              </a:rPr>
              <a:t>UML</a:t>
            </a:r>
            <a:r>
              <a:rPr lang="pt-BR" sz="3200" dirty="0">
                <a:latin typeface="Tahoma" charset="0"/>
              </a:rPr>
              <a:t>;</a:t>
            </a:r>
          </a:p>
          <a:p>
            <a:pPr lvl="1">
              <a:lnSpc>
                <a:spcPct val="114000"/>
              </a:lnSpc>
            </a:pPr>
            <a:r>
              <a:rPr lang="pt-BR" sz="2800" i="1" dirty="0" err="1">
                <a:latin typeface="Tahoma" charset="0"/>
              </a:rPr>
              <a:t>Unified</a:t>
            </a:r>
            <a:r>
              <a:rPr lang="pt-BR" sz="2800" i="1" dirty="0">
                <a:latin typeface="Tahoma" charset="0"/>
              </a:rPr>
              <a:t> </a:t>
            </a:r>
            <a:r>
              <a:rPr lang="pt-BR" sz="2800" i="1" dirty="0" err="1">
                <a:latin typeface="Tahoma" charset="0"/>
              </a:rPr>
              <a:t>Modeling</a:t>
            </a:r>
            <a:r>
              <a:rPr lang="pt-BR" sz="2800" i="1" dirty="0">
                <a:latin typeface="Tahoma" charset="0"/>
              </a:rPr>
              <a:t> </a:t>
            </a:r>
            <a:r>
              <a:rPr lang="pt-BR" sz="2800" i="1" dirty="0" err="1">
                <a:latin typeface="Tahoma" charset="0"/>
              </a:rPr>
              <a:t>Language</a:t>
            </a:r>
            <a:r>
              <a:rPr lang="pt-BR" sz="2800" dirty="0">
                <a:latin typeface="Tahoma" charset="0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pt-BR" sz="3200" b="1" dirty="0">
                <a:latin typeface="Tahoma" charset="0"/>
              </a:rPr>
              <a:t>Características-chave</a:t>
            </a:r>
            <a:r>
              <a:rPr lang="pt-BR" sz="3200" dirty="0">
                <a:latin typeface="Tahoma" charset="0"/>
              </a:rPr>
              <a:t>:</a:t>
            </a:r>
          </a:p>
          <a:p>
            <a:pPr lvl="1">
              <a:lnSpc>
                <a:spcPct val="114000"/>
              </a:lnSpc>
            </a:pPr>
            <a:r>
              <a:rPr lang="pt-BR" sz="2800" b="1" dirty="0">
                <a:latin typeface="Tahoma" charset="0"/>
              </a:rPr>
              <a:t>dirigido por casos de uso</a:t>
            </a:r>
            <a:r>
              <a:rPr lang="pt-BR" sz="2800" dirty="0">
                <a:latin typeface="Tahoma" charset="0"/>
              </a:rPr>
              <a:t>;</a:t>
            </a:r>
          </a:p>
          <a:p>
            <a:pPr lvl="1">
              <a:lnSpc>
                <a:spcPct val="114000"/>
              </a:lnSpc>
            </a:pPr>
            <a:r>
              <a:rPr lang="pt-BR" sz="2800" b="1" dirty="0">
                <a:latin typeface="Tahoma" charset="0"/>
              </a:rPr>
              <a:t>centrado na arquitetura</a:t>
            </a:r>
            <a:r>
              <a:rPr lang="pt-BR" sz="2800" dirty="0">
                <a:latin typeface="Tahoma" charset="0"/>
              </a:rPr>
              <a:t>;</a:t>
            </a:r>
          </a:p>
          <a:p>
            <a:pPr lvl="1">
              <a:lnSpc>
                <a:spcPct val="114000"/>
              </a:lnSpc>
            </a:pPr>
            <a:r>
              <a:rPr lang="pt-BR" sz="2800" b="1" dirty="0">
                <a:latin typeface="Tahoma" charset="0"/>
              </a:rPr>
              <a:t>iterativo e incremental</a:t>
            </a:r>
            <a:r>
              <a:rPr lang="pt-BR" sz="2800" dirty="0" smtClean="0">
                <a:latin typeface="Tahoma" charset="0"/>
              </a:rPr>
              <a:t>.</a:t>
            </a:r>
            <a:endParaRPr lang="pt-BR" sz="28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947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RUP </a:t>
            </a:r>
            <a:r>
              <a:rPr lang="mr-IN" sz="4800" dirty="0" smtClean="0">
                <a:latin typeface="Tahoma"/>
                <a:cs typeface="Tahoma"/>
              </a:rPr>
              <a:t>–</a:t>
            </a:r>
            <a:r>
              <a:rPr lang="bg-BG" sz="4800" dirty="0" smtClean="0">
                <a:latin typeface="Tahoma"/>
                <a:cs typeface="Tahoma"/>
              </a:rPr>
              <a:t> </a:t>
            </a:r>
            <a:r>
              <a:rPr lang="bg-BG" sz="4800" i="1" dirty="0" smtClean="0">
                <a:latin typeface="Tahoma"/>
                <a:cs typeface="Tahoma"/>
              </a:rPr>
              <a:t>Rational Unified Process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3000" b="1" dirty="0">
                <a:latin typeface="Tahoma" charset="0"/>
              </a:rPr>
              <a:t>Detalha</a:t>
            </a:r>
            <a:r>
              <a:rPr lang="pt-BR" sz="3000" dirty="0">
                <a:latin typeface="Tahoma" charset="0"/>
              </a:rPr>
              <a:t> </a:t>
            </a:r>
            <a:r>
              <a:rPr lang="pt-BR" sz="3000" b="1" dirty="0">
                <a:latin typeface="Tahoma" charset="0"/>
              </a:rPr>
              <a:t>e amplia </a:t>
            </a:r>
            <a:r>
              <a:rPr lang="pt-BR" sz="3000" dirty="0">
                <a:latin typeface="Tahoma" charset="0"/>
              </a:rPr>
              <a:t>o </a:t>
            </a:r>
            <a:r>
              <a:rPr lang="pt-BR" sz="3000" b="1" dirty="0">
                <a:latin typeface="Tahoma" charset="0"/>
              </a:rPr>
              <a:t>Processo Unificado</a:t>
            </a:r>
            <a:r>
              <a:rPr lang="pt-BR" sz="3000" dirty="0">
                <a:latin typeface="Tahoma" charset="0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pt-BR" sz="2800" b="1" dirty="0">
                <a:latin typeface="Tahoma" charset="0"/>
              </a:rPr>
              <a:t>complementando-o</a:t>
            </a:r>
            <a:r>
              <a:rPr lang="pt-BR" sz="2800" dirty="0">
                <a:latin typeface="Tahoma" charset="0"/>
              </a:rPr>
              <a:t> com </a:t>
            </a:r>
            <a:r>
              <a:rPr lang="pt-BR" sz="2800" dirty="0" smtClean="0">
                <a:latin typeface="Tahoma" charset="0"/>
              </a:rPr>
              <a:t>guias, atividades </a:t>
            </a:r>
            <a:r>
              <a:rPr lang="pt-BR" sz="2800" dirty="0">
                <a:latin typeface="Tahoma" charset="0"/>
              </a:rPr>
              <a:t>gerenciais, </a:t>
            </a:r>
            <a:r>
              <a:rPr lang="pt-BR" sz="2800" i="1" dirty="0" err="1" smtClean="0">
                <a:latin typeface="Tahoma" charset="0"/>
              </a:rPr>
              <a:t>templates</a:t>
            </a:r>
            <a:r>
              <a:rPr lang="pt-BR" sz="2800" dirty="0" smtClean="0">
                <a:latin typeface="Tahoma" charset="0"/>
              </a:rPr>
              <a:t>, ferramentas, etc.</a:t>
            </a:r>
            <a:endParaRPr lang="pt-BR" sz="2800" dirty="0">
              <a:latin typeface="Tahoma" charset="0"/>
            </a:endParaRPr>
          </a:p>
          <a:p>
            <a:pPr>
              <a:lnSpc>
                <a:spcPct val="120000"/>
              </a:lnSpc>
            </a:pPr>
            <a:r>
              <a:rPr lang="pt-BR" sz="3000" dirty="0">
                <a:latin typeface="Tahoma" charset="0"/>
              </a:rPr>
              <a:t>Não pode mais ser considerado um processo único;</a:t>
            </a:r>
          </a:p>
          <a:p>
            <a:pPr lvl="1">
              <a:lnSpc>
                <a:spcPct val="120000"/>
              </a:lnSpc>
            </a:pPr>
            <a:r>
              <a:rPr lang="pt-BR" sz="2800" dirty="0">
                <a:latin typeface="Tahoma" charset="0"/>
              </a:rPr>
              <a:t>mas uma </a:t>
            </a:r>
            <a:r>
              <a:rPr lang="pt-BR" sz="2800" b="1" dirty="0">
                <a:latin typeface="Tahoma" charset="0"/>
              </a:rPr>
              <a:t>plataforma</a:t>
            </a:r>
            <a:r>
              <a:rPr lang="pt-BR" sz="2800" dirty="0">
                <a:latin typeface="Tahoma" charset="0"/>
              </a:rPr>
              <a:t>;</a:t>
            </a:r>
          </a:p>
          <a:p>
            <a:pPr lvl="2">
              <a:lnSpc>
                <a:spcPct val="120000"/>
              </a:lnSpc>
            </a:pPr>
            <a:r>
              <a:rPr lang="pt-BR" sz="2600" dirty="0">
                <a:latin typeface="Tahoma" charset="0"/>
              </a:rPr>
              <a:t>que </a:t>
            </a:r>
            <a:r>
              <a:rPr lang="pt-BR" sz="2600" b="1" dirty="0">
                <a:latin typeface="Tahoma" charset="0"/>
              </a:rPr>
              <a:t>permite construir </a:t>
            </a:r>
            <a:r>
              <a:rPr lang="pt-BR" sz="2600" dirty="0">
                <a:latin typeface="Tahoma" charset="0"/>
              </a:rPr>
              <a:t>uma grande família de </a:t>
            </a:r>
            <a:r>
              <a:rPr lang="pt-BR" sz="2600" b="1" dirty="0">
                <a:latin typeface="Tahoma" charset="0"/>
              </a:rPr>
              <a:t>processos personalizados</a:t>
            </a:r>
            <a:r>
              <a:rPr lang="pt-BR" sz="2600" dirty="0" smtClean="0">
                <a:latin typeface="Tahoma" charset="0"/>
              </a:rPr>
              <a:t>.</a:t>
            </a:r>
            <a:endParaRPr lang="pt-BR" sz="26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84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Princ</a:t>
            </a:r>
            <a:r>
              <a:rPr lang="x-none" sz="5400" dirty="0" smtClean="0">
                <a:latin typeface="Tahoma"/>
                <a:cs typeface="Tahoma"/>
              </a:rPr>
              <a:t>ípios do RUP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 smtClean="0">
                <a:latin typeface="Tahoma" charset="0"/>
              </a:rPr>
              <a:t>Atacar</a:t>
            </a:r>
            <a:r>
              <a:rPr lang="en-US" sz="3600" dirty="0" smtClean="0">
                <a:latin typeface="Tahoma" charset="0"/>
              </a:rPr>
              <a:t> </a:t>
            </a:r>
            <a:r>
              <a:rPr lang="en-US" sz="3600" dirty="0" err="1">
                <a:latin typeface="Tahoma" charset="0"/>
              </a:rPr>
              <a:t>os</a:t>
            </a:r>
            <a:r>
              <a:rPr lang="en-US" sz="3600" dirty="0">
                <a:latin typeface="Tahoma" charset="0"/>
              </a:rPr>
              <a:t> </a:t>
            </a:r>
            <a:r>
              <a:rPr lang="en-US" sz="3600" b="1" dirty="0" err="1">
                <a:latin typeface="Tahoma" charset="0"/>
              </a:rPr>
              <a:t>riscos</a:t>
            </a:r>
            <a:r>
              <a:rPr lang="en-US" sz="3600" dirty="0">
                <a:latin typeface="Tahoma" charset="0"/>
              </a:rPr>
              <a:t> </a:t>
            </a:r>
            <a:r>
              <a:rPr lang="en-US" sz="3600" dirty="0" err="1" smtClean="0">
                <a:latin typeface="Tahoma" charset="0"/>
              </a:rPr>
              <a:t>principais</a:t>
            </a:r>
            <a:r>
              <a:rPr lang="en-US" sz="3600" dirty="0" smtClean="0">
                <a:latin typeface="Tahoma" charset="0"/>
              </a:rPr>
              <a:t>;</a:t>
            </a:r>
          </a:p>
          <a:p>
            <a:pPr lvl="1">
              <a:lnSpc>
                <a:spcPct val="114000"/>
              </a:lnSpc>
            </a:pPr>
            <a:r>
              <a:rPr lang="en-US" sz="3200" dirty="0" smtClean="0">
                <a:latin typeface="Tahoma" charset="0"/>
              </a:rPr>
              <a:t>de </a:t>
            </a:r>
            <a:r>
              <a:rPr lang="en-US" sz="3200" dirty="0">
                <a:latin typeface="Tahoma" charset="0"/>
              </a:rPr>
              <a:t>forma </a:t>
            </a:r>
            <a:r>
              <a:rPr lang="en-US" sz="3200" b="1" dirty="0" err="1">
                <a:latin typeface="Tahoma" charset="0"/>
              </a:rPr>
              <a:t>rápida</a:t>
            </a:r>
            <a:r>
              <a:rPr lang="en-US" sz="3200" b="1" dirty="0">
                <a:latin typeface="Tahoma" charset="0"/>
              </a:rPr>
              <a:t> e </a:t>
            </a:r>
            <a:r>
              <a:rPr lang="en-US" sz="3200" b="1" dirty="0" err="1" smtClean="0">
                <a:latin typeface="Tahoma" charset="0"/>
              </a:rPr>
              <a:t>contínua</a:t>
            </a:r>
            <a:r>
              <a:rPr lang="en-US" sz="3200" dirty="0" smtClean="0">
                <a:latin typeface="Tahoma" charset="0"/>
              </a:rPr>
              <a:t>.</a:t>
            </a:r>
            <a:endParaRPr lang="en-US" sz="3200" dirty="0">
              <a:latin typeface="Tahoma" charset="0"/>
            </a:endParaRPr>
          </a:p>
          <a:p>
            <a:pPr>
              <a:lnSpc>
                <a:spcPct val="114000"/>
              </a:lnSpc>
            </a:pPr>
            <a:r>
              <a:rPr lang="pt-BR" sz="3600" dirty="0">
                <a:latin typeface="Tahoma" charset="0"/>
              </a:rPr>
              <a:t>Certificar-se de que o </a:t>
            </a:r>
            <a:r>
              <a:rPr lang="pt-BR" sz="3600" b="1" dirty="0">
                <a:latin typeface="Tahoma" charset="0"/>
              </a:rPr>
              <a:t>produto</a:t>
            </a:r>
            <a:r>
              <a:rPr lang="pt-BR" sz="3600" dirty="0">
                <a:latin typeface="Tahoma" charset="0"/>
              </a:rPr>
              <a:t> ou </a:t>
            </a:r>
            <a:r>
              <a:rPr lang="pt-BR" sz="3600" dirty="0" smtClean="0">
                <a:latin typeface="Tahoma" charset="0"/>
              </a:rPr>
              <a:t>funcionalidade;</a:t>
            </a:r>
          </a:p>
          <a:p>
            <a:pPr lvl="1">
              <a:lnSpc>
                <a:spcPct val="114000"/>
              </a:lnSpc>
            </a:pPr>
            <a:r>
              <a:rPr lang="pt-BR" sz="3200" dirty="0" smtClean="0">
                <a:latin typeface="Tahoma" charset="0"/>
              </a:rPr>
              <a:t>irá </a:t>
            </a:r>
            <a:r>
              <a:rPr lang="pt-BR" sz="3200" b="1" dirty="0">
                <a:latin typeface="Tahoma" charset="0"/>
              </a:rPr>
              <a:t>agregar valor </a:t>
            </a:r>
            <a:r>
              <a:rPr lang="pt-BR" sz="3200" dirty="0">
                <a:latin typeface="Tahoma" charset="0"/>
              </a:rPr>
              <a:t>ao </a:t>
            </a:r>
            <a:r>
              <a:rPr lang="pt-BR" sz="3200" dirty="0" smtClean="0">
                <a:latin typeface="Tahoma" charset="0"/>
              </a:rPr>
              <a:t>neg</a:t>
            </a:r>
            <a:r>
              <a:rPr lang="pt-BR" sz="3200" dirty="0" smtClean="0">
                <a:latin typeface="Tahoma" charset="0"/>
              </a:rPr>
              <a:t>ócio do </a:t>
            </a:r>
            <a:r>
              <a:rPr lang="pt-BR" sz="3200" dirty="0" smtClean="0">
                <a:latin typeface="Tahoma" charset="0"/>
              </a:rPr>
              <a:t>cliente.</a:t>
            </a:r>
            <a:endParaRPr lang="pt-BR" sz="3200" dirty="0">
              <a:latin typeface="Tahoma" charset="0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 smtClean="0">
                <a:latin typeface="Tahoma" charset="0"/>
              </a:rPr>
              <a:t>Acomodar</a:t>
            </a:r>
            <a:r>
              <a:rPr lang="en-US" sz="3600" b="1" dirty="0" smtClean="0">
                <a:latin typeface="Tahoma" charset="0"/>
              </a:rPr>
              <a:t> </a:t>
            </a:r>
            <a:r>
              <a:rPr lang="en-US" sz="3600" b="1" dirty="0" err="1">
                <a:latin typeface="Tahoma" charset="0"/>
              </a:rPr>
              <a:t>mudanças</a:t>
            </a:r>
            <a:r>
              <a:rPr lang="en-US" sz="3600" b="1" dirty="0">
                <a:latin typeface="Tahoma" charset="0"/>
              </a:rPr>
              <a:t> </a:t>
            </a:r>
            <a:r>
              <a:rPr lang="en-US" sz="3600" dirty="0">
                <a:latin typeface="Tahoma" charset="0"/>
              </a:rPr>
              <a:t>no </a:t>
            </a:r>
            <a:r>
              <a:rPr lang="en-US" sz="3600" dirty="0" err="1" smtClean="0">
                <a:latin typeface="Tahoma" charset="0"/>
              </a:rPr>
              <a:t>projeto</a:t>
            </a:r>
            <a:r>
              <a:rPr lang="en-US" sz="3600" dirty="0" smtClean="0">
                <a:latin typeface="Tahoma" charset="0"/>
              </a:rPr>
              <a:t>.</a:t>
            </a:r>
            <a:endParaRPr lang="en-US" sz="36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29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Princ</a:t>
            </a:r>
            <a:r>
              <a:rPr lang="x-none" sz="5400" dirty="0" smtClean="0">
                <a:latin typeface="Tahoma"/>
                <a:cs typeface="Tahoma"/>
              </a:rPr>
              <a:t>ípios do RUP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pt-BR" sz="3200" dirty="0">
                <a:latin typeface="Tahoma" charset="0"/>
              </a:rPr>
              <a:t>Definir uma </a:t>
            </a:r>
            <a:r>
              <a:rPr lang="pt-BR" sz="3200" b="1" dirty="0">
                <a:latin typeface="Tahoma" charset="0"/>
              </a:rPr>
              <a:t>arquitetura executável</a:t>
            </a:r>
            <a:r>
              <a:rPr lang="pt-BR" sz="3200" dirty="0">
                <a:latin typeface="Tahoma" charset="0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pt-BR" sz="2800" dirty="0">
                <a:latin typeface="Tahoma" charset="0"/>
              </a:rPr>
              <a:t>o </a:t>
            </a:r>
            <a:r>
              <a:rPr lang="pt-BR" sz="2800" b="1" dirty="0">
                <a:latin typeface="Tahoma" charset="0"/>
              </a:rPr>
              <a:t>mais cedo possível</a:t>
            </a:r>
            <a:r>
              <a:rPr lang="pt-BR" sz="2800" dirty="0">
                <a:latin typeface="Tahoma" charset="0"/>
              </a:rPr>
              <a:t>.</a:t>
            </a:r>
            <a:endParaRPr lang="en-US" sz="2800" dirty="0">
              <a:latin typeface="Tahoma" charset="0"/>
            </a:endParaRPr>
          </a:p>
          <a:p>
            <a:pPr>
              <a:lnSpc>
                <a:spcPct val="110000"/>
              </a:lnSpc>
            </a:pPr>
            <a:r>
              <a:rPr lang="en-US" sz="3200" dirty="0" err="1" smtClean="0">
                <a:latin typeface="Tahoma" charset="0"/>
              </a:rPr>
              <a:t>Concentrar</a:t>
            </a:r>
            <a:r>
              <a:rPr lang="en-US" sz="3200" dirty="0">
                <a:latin typeface="Tahoma" charset="0"/>
              </a:rPr>
              <a:t>-se </a:t>
            </a:r>
            <a:r>
              <a:rPr lang="en-US" sz="3200" dirty="0" err="1">
                <a:latin typeface="Tahoma" charset="0"/>
              </a:rPr>
              <a:t>em</a:t>
            </a:r>
            <a:r>
              <a:rPr lang="en-US" sz="3200" dirty="0">
                <a:latin typeface="Tahoma" charset="0"/>
              </a:rPr>
              <a:t> </a:t>
            </a:r>
            <a:r>
              <a:rPr lang="en-US" sz="3200" b="1" dirty="0" err="1" smtClean="0">
                <a:latin typeface="Tahoma" charset="0"/>
              </a:rPr>
              <a:t>produzir</a:t>
            </a:r>
            <a:r>
              <a:rPr lang="en-US" sz="3200" dirty="0" smtClean="0">
                <a:latin typeface="Tahoma" charset="0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en-US" sz="2800" b="1" i="1" dirty="0" smtClean="0">
                <a:latin typeface="Tahoma" charset="0"/>
              </a:rPr>
              <a:t>software</a:t>
            </a:r>
            <a:r>
              <a:rPr lang="en-US" sz="2800" b="1" dirty="0" smtClean="0">
                <a:latin typeface="Tahoma" charset="0"/>
              </a:rPr>
              <a:t> </a:t>
            </a:r>
            <a:r>
              <a:rPr lang="en-US" sz="2800" b="1" dirty="0" err="1">
                <a:latin typeface="Tahoma" charset="0"/>
              </a:rPr>
              <a:t>executável</a:t>
            </a:r>
            <a:r>
              <a:rPr lang="en-US" sz="2800" dirty="0">
                <a:latin typeface="Tahoma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3200" b="1" dirty="0" err="1" smtClean="0">
                <a:latin typeface="Tahoma" charset="0"/>
              </a:rPr>
              <a:t>Construir</a:t>
            </a:r>
            <a:r>
              <a:rPr lang="en-US" sz="3200" dirty="0" smtClean="0">
                <a:latin typeface="Tahoma" charset="0"/>
              </a:rPr>
              <a:t> </a:t>
            </a:r>
            <a:r>
              <a:rPr lang="en-US" sz="3200" dirty="0">
                <a:latin typeface="Tahoma" charset="0"/>
              </a:rPr>
              <a:t>o </a:t>
            </a:r>
            <a:r>
              <a:rPr lang="en-US" sz="3200" b="1" dirty="0" err="1">
                <a:latin typeface="Tahoma" charset="0"/>
              </a:rPr>
              <a:t>sistema</a:t>
            </a:r>
            <a:r>
              <a:rPr lang="en-US" sz="3200" dirty="0">
                <a:latin typeface="Tahoma" charset="0"/>
              </a:rPr>
              <a:t> </a:t>
            </a:r>
            <a:r>
              <a:rPr lang="en-US" sz="3200" b="1" dirty="0">
                <a:latin typeface="Tahoma" charset="0"/>
              </a:rPr>
              <a:t>com </a:t>
            </a:r>
            <a:r>
              <a:rPr lang="en-US" sz="3200" b="1" dirty="0" err="1" smtClean="0">
                <a:latin typeface="Tahoma" charset="0"/>
              </a:rPr>
              <a:t>componentes</a:t>
            </a:r>
            <a:r>
              <a:rPr lang="en-US" sz="3200" dirty="0" smtClean="0">
                <a:latin typeface="Tahoma" charset="0"/>
              </a:rPr>
              <a:t>.</a:t>
            </a:r>
            <a:endParaRPr lang="en-US" sz="3200" dirty="0">
              <a:latin typeface="Tahoma" charset="0"/>
            </a:endParaRPr>
          </a:p>
          <a:p>
            <a:pPr>
              <a:lnSpc>
                <a:spcPct val="110000"/>
              </a:lnSpc>
            </a:pPr>
            <a:r>
              <a:rPr lang="en-US" sz="3200" dirty="0" err="1">
                <a:latin typeface="Tahoma" charset="0"/>
              </a:rPr>
              <a:t>Trabalhar</a:t>
            </a:r>
            <a:r>
              <a:rPr lang="en-US" sz="3200" dirty="0">
                <a:latin typeface="Tahoma" charset="0"/>
              </a:rPr>
              <a:t> </a:t>
            </a:r>
            <a:r>
              <a:rPr lang="en-US" sz="3200" dirty="0" err="1">
                <a:latin typeface="Tahoma" charset="0"/>
              </a:rPr>
              <a:t>em</a:t>
            </a:r>
            <a:r>
              <a:rPr lang="en-US" sz="3200" dirty="0">
                <a:latin typeface="Tahoma" charset="0"/>
              </a:rPr>
              <a:t> </a:t>
            </a:r>
            <a:r>
              <a:rPr lang="en-US" sz="3200" b="1" dirty="0" err="1" smtClean="0">
                <a:latin typeface="Tahoma" charset="0"/>
              </a:rPr>
              <a:t>equipe</a:t>
            </a:r>
            <a:r>
              <a:rPr lang="en-US" sz="3200" dirty="0" smtClean="0">
                <a:latin typeface="Tahoma" charset="0"/>
              </a:rPr>
              <a:t>.</a:t>
            </a:r>
            <a:endParaRPr lang="en-US" sz="3200" dirty="0">
              <a:latin typeface="Tahoma" charset="0"/>
            </a:endParaRPr>
          </a:p>
          <a:p>
            <a:pPr>
              <a:lnSpc>
                <a:spcPct val="110000"/>
              </a:lnSpc>
            </a:pPr>
            <a:r>
              <a:rPr lang="pt-BR" sz="3200" b="1" dirty="0">
                <a:latin typeface="Tahoma" charset="0"/>
              </a:rPr>
              <a:t>Verificação contínua</a:t>
            </a:r>
            <a:r>
              <a:rPr lang="pt-BR" sz="3200" dirty="0">
                <a:latin typeface="Tahoma" charset="0"/>
              </a:rPr>
              <a:t> da </a:t>
            </a:r>
            <a:r>
              <a:rPr lang="pt-BR" sz="3200" b="1" dirty="0" smtClean="0">
                <a:latin typeface="Tahoma" charset="0"/>
              </a:rPr>
              <a:t>qualidade</a:t>
            </a:r>
            <a:r>
              <a:rPr lang="pt-BR" sz="3200" dirty="0" smtClean="0">
                <a:latin typeface="Tahoma" charset="0"/>
              </a:rPr>
              <a:t>.</a:t>
            </a:r>
            <a:endParaRPr lang="pt-BR" sz="32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7850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Atacar os Riscos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defRPr sz="1800"/>
            </a:pPr>
            <a:r>
              <a:rPr lang="en-US" sz="2800" dirty="0" err="1" smtClean="0">
                <a:latin typeface="Tahoma" charset="0"/>
              </a:rPr>
              <a:t>Deve</a:t>
            </a:r>
            <a:r>
              <a:rPr lang="en-US" sz="2800" dirty="0" smtClean="0">
                <a:latin typeface="Tahoma" charset="0"/>
              </a:rPr>
              <a:t>-se </a:t>
            </a:r>
            <a:r>
              <a:rPr lang="en-US" sz="2800" b="1" dirty="0" err="1" smtClean="0">
                <a:latin typeface="Tahoma" charset="0"/>
              </a:rPr>
              <a:t>atacar</a:t>
            </a:r>
            <a:r>
              <a:rPr lang="en-US" sz="2800" b="1" dirty="0" smtClean="0">
                <a:latin typeface="Tahoma" charset="0"/>
              </a:rPr>
              <a:t> </a:t>
            </a:r>
            <a:r>
              <a:rPr lang="en-US" sz="2800" b="1" dirty="0" err="1" smtClean="0">
                <a:latin typeface="Tahoma" charset="0"/>
              </a:rPr>
              <a:t>primeiro</a:t>
            </a:r>
            <a:r>
              <a:rPr lang="en-US" sz="2800" dirty="0" smtClean="0">
                <a:latin typeface="Tahoma" charset="0"/>
              </a:rPr>
              <a:t>;</a:t>
            </a:r>
          </a:p>
          <a:p>
            <a:pPr lvl="1">
              <a:lnSpc>
                <a:spcPct val="120000"/>
              </a:lnSpc>
              <a:defRPr sz="1800"/>
            </a:pPr>
            <a:r>
              <a:rPr lang="en-US" sz="2400" dirty="0" err="1" smtClean="0">
                <a:latin typeface="Tahoma" charset="0"/>
              </a:rPr>
              <a:t>os</a:t>
            </a:r>
            <a:r>
              <a:rPr lang="en-US" sz="2400" dirty="0" smtClean="0">
                <a:latin typeface="Tahoma" charset="0"/>
              </a:rPr>
              <a:t> </a:t>
            </a:r>
            <a:r>
              <a:rPr lang="en-US" sz="2400" b="1" dirty="0" err="1">
                <a:latin typeface="Tahoma" charset="0"/>
              </a:rPr>
              <a:t>problemas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dirty="0" err="1">
                <a:latin typeface="Tahoma" charset="0"/>
              </a:rPr>
              <a:t>que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dirty="0" err="1" smtClean="0">
                <a:latin typeface="Tahoma" charset="0"/>
              </a:rPr>
              <a:t>apresentam</a:t>
            </a:r>
            <a:r>
              <a:rPr lang="en-US" sz="2400" dirty="0" smtClean="0">
                <a:latin typeface="Tahoma" charset="0"/>
              </a:rPr>
              <a:t> </a:t>
            </a:r>
            <a:r>
              <a:rPr lang="en-US" sz="2400" b="1" dirty="0" err="1">
                <a:latin typeface="Tahoma" charset="0"/>
              </a:rPr>
              <a:t>maior</a:t>
            </a:r>
            <a:r>
              <a:rPr lang="en-US" sz="2400" b="1" dirty="0">
                <a:latin typeface="Tahoma" charset="0"/>
              </a:rPr>
              <a:t> </a:t>
            </a:r>
            <a:r>
              <a:rPr lang="en-US" sz="2400" b="1" dirty="0" err="1">
                <a:latin typeface="Tahoma" charset="0"/>
              </a:rPr>
              <a:t>risco</a:t>
            </a:r>
            <a:r>
              <a:rPr lang="en-US" sz="2400" b="1" dirty="0">
                <a:latin typeface="Tahoma" charset="0"/>
              </a:rPr>
              <a:t> </a:t>
            </a:r>
            <a:r>
              <a:rPr lang="en-US" sz="2400" b="1" dirty="0" err="1">
                <a:latin typeface="Tahoma" charset="0"/>
              </a:rPr>
              <a:t>para</a:t>
            </a:r>
            <a:r>
              <a:rPr lang="en-US" sz="2400" dirty="0">
                <a:latin typeface="Tahoma" charset="0"/>
              </a:rPr>
              <a:t> o </a:t>
            </a:r>
            <a:r>
              <a:rPr lang="en-US" sz="2400" dirty="0" err="1">
                <a:latin typeface="Tahoma" charset="0"/>
              </a:rPr>
              <a:t>sucesso</a:t>
            </a:r>
            <a:r>
              <a:rPr lang="en-US" sz="2400" dirty="0">
                <a:latin typeface="Tahoma" charset="0"/>
              </a:rPr>
              <a:t> do </a:t>
            </a:r>
            <a:r>
              <a:rPr lang="en-US" sz="2400" b="1" dirty="0" err="1">
                <a:latin typeface="Tahoma" charset="0"/>
              </a:rPr>
              <a:t>projeto</a:t>
            </a:r>
            <a:r>
              <a:rPr lang="en-US" sz="2400" dirty="0">
                <a:latin typeface="Tahoma" charset="0"/>
              </a:rPr>
              <a:t>.</a:t>
            </a:r>
          </a:p>
          <a:p>
            <a:pPr lvl="0">
              <a:lnSpc>
                <a:spcPct val="120000"/>
              </a:lnSpc>
              <a:defRPr sz="1800"/>
            </a:pPr>
            <a:r>
              <a:rPr lang="en-US" sz="2800" dirty="0" err="1">
                <a:latin typeface="Tahoma" charset="0"/>
              </a:rPr>
              <a:t>Em</a:t>
            </a:r>
            <a:r>
              <a:rPr lang="en-US" sz="2800" dirty="0">
                <a:latin typeface="Tahoma" charset="0"/>
              </a:rPr>
              <a:t> </a:t>
            </a:r>
            <a:r>
              <a:rPr lang="en-US" sz="2800" b="1" dirty="0" err="1">
                <a:latin typeface="Tahoma" charset="0"/>
              </a:rPr>
              <a:t>cada</a:t>
            </a:r>
            <a:r>
              <a:rPr lang="en-US" sz="2800" b="1" dirty="0">
                <a:latin typeface="Tahoma" charset="0"/>
              </a:rPr>
              <a:t> </a:t>
            </a:r>
            <a:r>
              <a:rPr lang="en-US" sz="2800" b="1" dirty="0" err="1" smtClean="0">
                <a:latin typeface="Tahoma" charset="0"/>
              </a:rPr>
              <a:t>iteração</a:t>
            </a:r>
            <a:r>
              <a:rPr lang="en-US" sz="2800" dirty="0" smtClean="0">
                <a:latin typeface="Tahoma" charset="0"/>
              </a:rPr>
              <a:t>, </a:t>
            </a:r>
            <a:r>
              <a:rPr lang="en-US" sz="2800" dirty="0" err="1">
                <a:latin typeface="Tahoma" charset="0"/>
              </a:rPr>
              <a:t>deve</a:t>
            </a:r>
            <a:r>
              <a:rPr lang="en-US" sz="2800" dirty="0">
                <a:latin typeface="Tahoma" charset="0"/>
              </a:rPr>
              <a:t>-se </a:t>
            </a:r>
            <a:r>
              <a:rPr lang="en-US" sz="2800" dirty="0" err="1">
                <a:latin typeface="Tahoma" charset="0"/>
              </a:rPr>
              <a:t>listar</a:t>
            </a:r>
            <a:r>
              <a:rPr lang="en-US" sz="2800" dirty="0">
                <a:latin typeface="Tahoma" charset="0"/>
              </a:rPr>
              <a:t> </a:t>
            </a:r>
            <a:r>
              <a:rPr lang="en-US" sz="2800" dirty="0" err="1">
                <a:latin typeface="Tahoma" charset="0"/>
              </a:rPr>
              <a:t>os</a:t>
            </a:r>
            <a:r>
              <a:rPr lang="en-US" sz="2800" dirty="0">
                <a:latin typeface="Tahoma" charset="0"/>
              </a:rPr>
              <a:t> </a:t>
            </a:r>
            <a:r>
              <a:rPr lang="en-US" sz="2800" b="1" dirty="0" err="1">
                <a:latin typeface="Tahoma" charset="0"/>
              </a:rPr>
              <a:t>principais</a:t>
            </a:r>
            <a:r>
              <a:rPr lang="en-US" sz="2800" b="1" dirty="0">
                <a:latin typeface="Tahoma" charset="0"/>
              </a:rPr>
              <a:t> </a:t>
            </a:r>
            <a:r>
              <a:rPr lang="en-US" sz="2800" b="1" dirty="0" err="1" smtClean="0">
                <a:latin typeface="Tahoma" charset="0"/>
              </a:rPr>
              <a:t>riscos</a:t>
            </a:r>
            <a:r>
              <a:rPr lang="en-US" sz="2800" dirty="0" smtClean="0">
                <a:latin typeface="Tahoma" charset="0"/>
              </a:rPr>
              <a:t>;</a:t>
            </a:r>
          </a:p>
          <a:p>
            <a:pPr lvl="1">
              <a:lnSpc>
                <a:spcPct val="120000"/>
              </a:lnSpc>
              <a:defRPr sz="1800"/>
            </a:pPr>
            <a:r>
              <a:rPr lang="en-US" sz="2400" dirty="0" smtClean="0">
                <a:latin typeface="Tahoma" charset="0"/>
              </a:rPr>
              <a:t>e </a:t>
            </a:r>
            <a:r>
              <a:rPr lang="en-US" sz="2400" b="1" dirty="0" err="1">
                <a:latin typeface="Tahoma" charset="0"/>
              </a:rPr>
              <a:t>agir</a:t>
            </a:r>
            <a:r>
              <a:rPr lang="en-US" sz="2400" dirty="0">
                <a:latin typeface="Tahoma" charset="0"/>
              </a:rPr>
              <a:t> de </a:t>
            </a:r>
            <a:endParaRPr lang="en-US" sz="2400" dirty="0" smtClean="0">
              <a:latin typeface="Tahoma" charset="0"/>
            </a:endParaRPr>
          </a:p>
          <a:p>
            <a:pPr marL="365760" lvl="1" indent="0">
              <a:lnSpc>
                <a:spcPct val="120000"/>
              </a:lnSpc>
              <a:buNone/>
              <a:defRPr sz="1800"/>
            </a:pPr>
            <a:r>
              <a:rPr lang="en-US" sz="2400" dirty="0">
                <a:latin typeface="Tahoma" charset="0"/>
              </a:rPr>
              <a:t> </a:t>
            </a:r>
            <a:r>
              <a:rPr lang="en-US" sz="2400" dirty="0" smtClean="0">
                <a:latin typeface="Tahoma" charset="0"/>
              </a:rPr>
              <a:t>  forma </a:t>
            </a:r>
            <a:r>
              <a:rPr lang="en-US" sz="2400" dirty="0">
                <a:latin typeface="Tahoma" charset="0"/>
              </a:rPr>
              <a:t>a </a:t>
            </a:r>
            <a:endParaRPr lang="en-US" sz="2400" dirty="0" smtClean="0">
              <a:latin typeface="Tahoma" charset="0"/>
            </a:endParaRPr>
          </a:p>
          <a:p>
            <a:pPr marL="365760" lvl="1" indent="0">
              <a:lnSpc>
                <a:spcPct val="120000"/>
              </a:lnSpc>
              <a:buNone/>
              <a:defRPr sz="1800"/>
            </a:pPr>
            <a:r>
              <a:rPr lang="en-US" sz="2400" dirty="0">
                <a:latin typeface="Tahoma" charset="0"/>
              </a:rPr>
              <a:t> </a:t>
            </a:r>
            <a:r>
              <a:rPr lang="en-US" sz="2400" dirty="0" smtClean="0">
                <a:latin typeface="Tahoma" charset="0"/>
              </a:rPr>
              <a:t>  </a:t>
            </a:r>
            <a:r>
              <a:rPr lang="en-US" sz="2400" b="1" dirty="0" err="1" smtClean="0">
                <a:latin typeface="Tahoma" charset="0"/>
              </a:rPr>
              <a:t>mitigá</a:t>
            </a:r>
            <a:r>
              <a:rPr lang="en-US" sz="2400" b="1" dirty="0">
                <a:latin typeface="Tahoma" charset="0"/>
              </a:rPr>
              <a:t>-</a:t>
            </a:r>
            <a:r>
              <a:rPr lang="en-US" sz="2400" b="1" dirty="0" smtClean="0">
                <a:latin typeface="Tahoma" charset="0"/>
              </a:rPr>
              <a:t>los</a:t>
            </a:r>
            <a:r>
              <a:rPr lang="en-US" sz="2400" dirty="0" smtClean="0">
                <a:latin typeface="Tahoma" charset="0"/>
              </a:rPr>
              <a:t>.</a:t>
            </a:r>
            <a:endParaRPr lang="en-US" sz="24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114665" y="4064561"/>
            <a:ext cx="4394929" cy="2000408"/>
            <a:chOff x="794765" y="2521937"/>
            <a:chExt cx="8477875" cy="3858812"/>
          </a:xfrm>
        </p:grpSpPr>
        <p:sp>
          <p:nvSpPr>
            <p:cNvPr id="7" name="Shape 224"/>
            <p:cNvSpPr/>
            <p:nvPr/>
          </p:nvSpPr>
          <p:spPr>
            <a:xfrm flipV="1">
              <a:off x="2289386" y="2521937"/>
              <a:ext cx="2259" cy="3113477"/>
            </a:xfrm>
            <a:prstGeom prst="line">
              <a:avLst/>
            </a:prstGeom>
            <a:ln w="38100">
              <a:solidFill/>
              <a:round/>
              <a:tailEnd type="triangle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8" name="Shape 225"/>
            <p:cNvSpPr/>
            <p:nvPr/>
          </p:nvSpPr>
          <p:spPr>
            <a:xfrm>
              <a:off x="2289386" y="5638800"/>
              <a:ext cx="6978792" cy="2258"/>
            </a:xfrm>
            <a:prstGeom prst="line">
              <a:avLst/>
            </a:prstGeom>
            <a:ln w="38100">
              <a:solidFill/>
              <a:round/>
              <a:tailEnd type="triangle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9" name="Shape 226"/>
            <p:cNvSpPr/>
            <p:nvPr/>
          </p:nvSpPr>
          <p:spPr>
            <a:xfrm>
              <a:off x="2289386" y="2857498"/>
              <a:ext cx="4456855" cy="2777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2" extrusionOk="0">
                  <a:moveTo>
                    <a:pt x="0" y="17"/>
                  </a:moveTo>
                  <a:cubicBezTo>
                    <a:pt x="1103" y="-41"/>
                    <a:pt x="2213" y="-98"/>
                    <a:pt x="3792" y="2615"/>
                  </a:cubicBezTo>
                  <a:cubicBezTo>
                    <a:pt x="5371" y="5327"/>
                    <a:pt x="6507" y="13149"/>
                    <a:pt x="9472" y="16292"/>
                  </a:cubicBezTo>
                  <a:cubicBezTo>
                    <a:pt x="12437" y="19435"/>
                    <a:pt x="17014" y="20469"/>
                    <a:pt x="21600" y="21502"/>
                  </a:cubicBezTo>
                </a:path>
              </a:pathLst>
            </a:custGeom>
            <a:ln w="57150">
              <a:solidFill>
                <a:srgbClr val="FF2600"/>
              </a:solidFill>
              <a:round/>
            </a:ln>
          </p:spPr>
          <p:txBody>
            <a:bodyPr lIns="0" tIns="0" rIns="0" bIns="0" anchor="ctr"/>
            <a:lstStyle/>
            <a:p>
              <a:pPr lvl="0" algn="ctr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10" name="Shape 227"/>
            <p:cNvSpPr/>
            <p:nvPr/>
          </p:nvSpPr>
          <p:spPr>
            <a:xfrm>
              <a:off x="2289386" y="2839770"/>
              <a:ext cx="6222437" cy="2795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0" extrusionOk="0">
                  <a:moveTo>
                    <a:pt x="0" y="178"/>
                  </a:moveTo>
                  <a:cubicBezTo>
                    <a:pt x="2437" y="-106"/>
                    <a:pt x="4880" y="-390"/>
                    <a:pt x="7104" y="2213"/>
                  </a:cubicBezTo>
                  <a:cubicBezTo>
                    <a:pt x="9328" y="4816"/>
                    <a:pt x="10938" y="12609"/>
                    <a:pt x="13356" y="15780"/>
                  </a:cubicBezTo>
                  <a:cubicBezTo>
                    <a:pt x="15774" y="18951"/>
                    <a:pt x="18687" y="20073"/>
                    <a:pt x="21600" y="21210"/>
                  </a:cubicBezTo>
                </a:path>
              </a:pathLst>
            </a:custGeom>
            <a:ln w="57150">
              <a:solidFill>
                <a:srgbClr val="0080FF"/>
              </a:solidFill>
              <a:round/>
            </a:ln>
          </p:spPr>
          <p:txBody>
            <a:bodyPr lIns="0" tIns="0" rIns="0" bIns="0" anchor="ctr"/>
            <a:lstStyle/>
            <a:p>
              <a:pPr lvl="0" algn="ctr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j-lt"/>
                  <a:ea typeface="+mj-ea"/>
                  <a:cs typeface="+mj-cs"/>
                  <a:sym typeface="Gill Sans"/>
                </a:defRPr>
              </a:pPr>
              <a:endParaRPr/>
            </a:p>
          </p:txBody>
        </p:sp>
        <p:sp>
          <p:nvSpPr>
            <p:cNvPr id="11" name="Shape 228"/>
            <p:cNvSpPr/>
            <p:nvPr/>
          </p:nvSpPr>
          <p:spPr>
            <a:xfrm>
              <a:off x="2765258" y="4743590"/>
              <a:ext cx="1066144" cy="419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algn="ctr" defTabSz="584200">
                <a:buClr>
                  <a:srgbClr val="000000"/>
                </a:buClr>
                <a:buFont typeface="Arial"/>
                <a:defRPr sz="2200">
                  <a:latin typeface="+mj-lt"/>
                  <a:ea typeface="+mj-ea"/>
                  <a:cs typeface="+mj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2200" dirty="0"/>
                <a:t>Iterativo</a:t>
              </a:r>
            </a:p>
          </p:txBody>
        </p:sp>
        <p:sp>
          <p:nvSpPr>
            <p:cNvPr id="12" name="Shape 229"/>
            <p:cNvSpPr/>
            <p:nvPr/>
          </p:nvSpPr>
          <p:spPr>
            <a:xfrm>
              <a:off x="5539836" y="3481493"/>
              <a:ext cx="992745" cy="419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algn="ctr" defTabSz="584200">
                <a:buClr>
                  <a:srgbClr val="000000"/>
                </a:buClr>
                <a:buFont typeface="Arial"/>
                <a:defRPr sz="2200">
                  <a:latin typeface="+mj-lt"/>
                  <a:ea typeface="+mj-ea"/>
                  <a:cs typeface="+mj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2200" dirty="0"/>
                <a:t>Cascata</a:t>
              </a:r>
            </a:p>
          </p:txBody>
        </p:sp>
        <p:sp>
          <p:nvSpPr>
            <p:cNvPr id="13" name="Shape 230"/>
            <p:cNvSpPr/>
            <p:nvPr/>
          </p:nvSpPr>
          <p:spPr>
            <a:xfrm>
              <a:off x="794765" y="2538885"/>
              <a:ext cx="1555718" cy="79160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algn="ctr" defTabSz="584200">
                <a:buClr>
                  <a:srgbClr val="000000"/>
                </a:buClr>
                <a:buFont typeface="Arial"/>
                <a:defRPr sz="2200" i="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/>
              </a:pPr>
              <a:r>
                <a:rPr sz="2000" i="1" dirty="0"/>
                <a:t>Risco</a:t>
              </a:r>
            </a:p>
          </p:txBody>
        </p:sp>
        <p:sp>
          <p:nvSpPr>
            <p:cNvPr id="14" name="Shape 231"/>
            <p:cNvSpPr/>
            <p:nvPr/>
          </p:nvSpPr>
          <p:spPr>
            <a:xfrm>
              <a:off x="7459640" y="5589142"/>
              <a:ext cx="1813000" cy="79160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algn="ctr" defTabSz="584200">
                <a:buClr>
                  <a:srgbClr val="000000"/>
                </a:buClr>
                <a:buFont typeface="Arial"/>
                <a:defRPr sz="2200" i="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/>
              </a:pPr>
              <a:r>
                <a:rPr sz="2000" i="1" dirty="0"/>
                <a:t>Tempo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4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dirty="0" smtClean="0">
                <a:latin typeface="Tahoma"/>
                <a:cs typeface="Tahoma"/>
              </a:rPr>
              <a:t>Uso de Componentes Arquiteturais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r>
              <a:rPr lang="pt-BR" sz="2800" b="1" i="1" dirty="0" smtClean="0">
                <a:latin typeface="Tahoma" charset="0"/>
              </a:rPr>
              <a:t>Software</a:t>
            </a:r>
            <a:r>
              <a:rPr lang="pt-BR" sz="2800" dirty="0" smtClean="0">
                <a:latin typeface="Tahoma" charset="0"/>
              </a:rPr>
              <a:t> </a:t>
            </a:r>
            <a:r>
              <a:rPr lang="pt-BR" sz="2800" dirty="0">
                <a:latin typeface="Tahoma" charset="0"/>
              </a:rPr>
              <a:t>é </a:t>
            </a:r>
            <a:r>
              <a:rPr lang="pt-BR" sz="2800" b="1" dirty="0">
                <a:latin typeface="Tahoma" charset="0"/>
              </a:rPr>
              <a:t>construído</a:t>
            </a:r>
            <a:r>
              <a:rPr lang="pt-BR" sz="2800" dirty="0">
                <a:latin typeface="Tahoma" charset="0"/>
              </a:rPr>
              <a:t> a partir de </a:t>
            </a:r>
            <a:r>
              <a:rPr lang="pt-BR" sz="2800" b="1" dirty="0" smtClean="0">
                <a:latin typeface="Tahoma" charset="0"/>
              </a:rPr>
              <a:t>componentes</a:t>
            </a:r>
            <a:r>
              <a:rPr lang="pt-BR" sz="2800" dirty="0" smtClean="0">
                <a:latin typeface="Tahoma" charset="0"/>
              </a:rPr>
              <a:t>;</a:t>
            </a:r>
            <a:endParaRPr lang="pt-BR" sz="2800" dirty="0">
              <a:latin typeface="Tahoma" charset="0"/>
            </a:endParaRPr>
          </a:p>
          <a:p>
            <a:pPr lvl="1"/>
            <a:r>
              <a:rPr lang="pt-BR" sz="2400" b="1" dirty="0">
                <a:latin typeface="Tahoma" charset="0"/>
              </a:rPr>
              <a:t>interconectados</a:t>
            </a:r>
            <a:r>
              <a:rPr lang="pt-BR" sz="2400" dirty="0">
                <a:latin typeface="Tahoma" charset="0"/>
              </a:rPr>
              <a:t> por meio de </a:t>
            </a:r>
            <a:r>
              <a:rPr lang="pt-BR" sz="2400" b="1" dirty="0">
                <a:latin typeface="Tahoma" charset="0"/>
              </a:rPr>
              <a:t>interfaces bem definidas</a:t>
            </a:r>
            <a:r>
              <a:rPr lang="pt-BR" sz="2400" dirty="0">
                <a:latin typeface="Tahoma" charset="0"/>
              </a:rPr>
              <a:t>.</a:t>
            </a:r>
            <a:endParaRPr lang="pt-BR" sz="2800" dirty="0">
              <a:latin typeface="Tahoma" charset="0"/>
            </a:endParaRPr>
          </a:p>
          <a:p>
            <a:r>
              <a:rPr lang="en-US" sz="2800" b="1" dirty="0" err="1" smtClean="0">
                <a:latin typeface="Tahoma" charset="0"/>
              </a:rPr>
              <a:t>Componentes</a:t>
            </a:r>
            <a:r>
              <a:rPr lang="en-US" sz="2800" b="1" dirty="0" smtClean="0">
                <a:latin typeface="Tahoma" charset="0"/>
              </a:rPr>
              <a:t> </a:t>
            </a:r>
            <a:r>
              <a:rPr lang="en-US" sz="2800" b="1" dirty="0" err="1">
                <a:latin typeface="Tahoma" charset="0"/>
              </a:rPr>
              <a:t>separam</a:t>
            </a:r>
            <a:r>
              <a:rPr lang="en-US" sz="2800" b="1" dirty="0">
                <a:latin typeface="Tahoma" charset="0"/>
              </a:rPr>
              <a:t> </a:t>
            </a:r>
            <a:r>
              <a:rPr lang="en-US" sz="2800" dirty="0">
                <a:latin typeface="Tahoma" charset="0"/>
              </a:rPr>
              <a:t>a </a:t>
            </a:r>
            <a:r>
              <a:rPr lang="en-US" sz="2800" b="1" dirty="0">
                <a:latin typeface="Tahoma" charset="0"/>
              </a:rPr>
              <a:t>interface</a:t>
            </a:r>
            <a:r>
              <a:rPr lang="en-US" sz="2800" dirty="0">
                <a:latin typeface="Tahoma" charset="0"/>
              </a:rPr>
              <a:t> </a:t>
            </a:r>
            <a:r>
              <a:rPr lang="en-US" sz="2800" b="1" dirty="0">
                <a:latin typeface="Tahoma" charset="0"/>
              </a:rPr>
              <a:t>da</a:t>
            </a:r>
            <a:r>
              <a:rPr lang="en-US" sz="2800" dirty="0">
                <a:latin typeface="Tahoma" charset="0"/>
              </a:rPr>
              <a:t> </a:t>
            </a:r>
            <a:r>
              <a:rPr lang="en-US" sz="2800" b="1" dirty="0" err="1" smtClean="0">
                <a:latin typeface="Tahoma" charset="0"/>
              </a:rPr>
              <a:t>implementação</a:t>
            </a:r>
            <a:r>
              <a:rPr lang="en-US" sz="2800" dirty="0" smtClean="0">
                <a:latin typeface="Tahoma" charset="0"/>
              </a:rPr>
              <a:t>.</a:t>
            </a:r>
          </a:p>
          <a:p>
            <a:r>
              <a:rPr lang="en-US" sz="2800" b="1" dirty="0" err="1" smtClean="0">
                <a:latin typeface="Tahoma" charset="0"/>
              </a:rPr>
              <a:t>Vantagens</a:t>
            </a:r>
            <a:r>
              <a:rPr lang="en-US" sz="2800" dirty="0" smtClean="0">
                <a:latin typeface="Tahoma" charset="0"/>
              </a:rPr>
              <a:t>:</a:t>
            </a:r>
            <a:endParaRPr lang="en-US" sz="2800" dirty="0">
              <a:latin typeface="Tahoma" charset="0"/>
            </a:endParaRPr>
          </a:p>
          <a:p>
            <a:pPr lvl="1"/>
            <a:r>
              <a:rPr lang="en-US" sz="2400" b="1" dirty="0" err="1">
                <a:latin typeface="Tahoma" charset="0"/>
              </a:rPr>
              <a:t>encapsulamento</a:t>
            </a:r>
            <a:r>
              <a:rPr lang="en-US" sz="2400" dirty="0">
                <a:latin typeface="Tahoma" charset="0"/>
              </a:rPr>
              <a:t>, </a:t>
            </a:r>
            <a:r>
              <a:rPr lang="en-US" sz="2400" dirty="0" err="1">
                <a:latin typeface="Tahoma" charset="0"/>
              </a:rPr>
              <a:t>ocultação</a:t>
            </a:r>
            <a:r>
              <a:rPr lang="en-US" sz="2400" dirty="0">
                <a:latin typeface="Tahoma" charset="0"/>
              </a:rPr>
              <a:t> de </a:t>
            </a:r>
            <a:r>
              <a:rPr lang="en-US" sz="2400" dirty="0" err="1" smtClean="0">
                <a:latin typeface="Tahoma" charset="0"/>
              </a:rPr>
              <a:t>informações</a:t>
            </a:r>
            <a:r>
              <a:rPr lang="en-US" sz="2400" dirty="0" smtClean="0">
                <a:latin typeface="Tahoma" charset="0"/>
              </a:rPr>
              <a:t>;</a:t>
            </a:r>
            <a:endParaRPr lang="en-US" sz="2400" dirty="0">
              <a:latin typeface="Tahoma" charset="0"/>
            </a:endParaRPr>
          </a:p>
          <a:p>
            <a:pPr lvl="1"/>
            <a:r>
              <a:rPr lang="en-US" sz="2400" dirty="0" err="1" smtClean="0">
                <a:latin typeface="Tahoma" charset="0"/>
              </a:rPr>
              <a:t>possibilita</a:t>
            </a:r>
            <a:r>
              <a:rPr lang="en-US" sz="2400" dirty="0" smtClean="0">
                <a:latin typeface="Tahoma" charset="0"/>
              </a:rPr>
              <a:t> </a:t>
            </a:r>
            <a:r>
              <a:rPr lang="en-US" sz="2400" dirty="0">
                <a:latin typeface="Tahoma" charset="0"/>
              </a:rPr>
              <a:t>a </a:t>
            </a:r>
            <a:r>
              <a:rPr lang="en-US" sz="2400" b="1" dirty="0" err="1">
                <a:latin typeface="Tahoma" charset="0"/>
              </a:rPr>
              <a:t>reutilização</a:t>
            </a:r>
            <a:r>
              <a:rPr lang="en-US" sz="2400" dirty="0">
                <a:latin typeface="Tahoma" charset="0"/>
              </a:rPr>
              <a:t> de </a:t>
            </a:r>
            <a:r>
              <a:rPr lang="en-US" sz="2400" dirty="0" err="1" smtClean="0">
                <a:latin typeface="Tahoma" charset="0"/>
              </a:rPr>
              <a:t>partes</a:t>
            </a:r>
            <a:r>
              <a:rPr lang="en-US" sz="2400" dirty="0" smtClean="0">
                <a:latin typeface="Tahoma" charset="0"/>
              </a:rPr>
              <a:t>;</a:t>
            </a:r>
            <a:endParaRPr lang="en-US" sz="2400" dirty="0">
              <a:latin typeface="Tahoma" charset="0"/>
            </a:endParaRPr>
          </a:p>
          <a:p>
            <a:pPr lvl="1"/>
            <a:r>
              <a:rPr lang="en-US" sz="2400" b="1" dirty="0" err="1" smtClean="0">
                <a:latin typeface="Tahoma" charset="0"/>
              </a:rPr>
              <a:t>reduz</a:t>
            </a:r>
            <a:r>
              <a:rPr lang="en-US" sz="2400" dirty="0" smtClean="0">
                <a:latin typeface="Tahoma" charset="0"/>
              </a:rPr>
              <a:t> </a:t>
            </a:r>
            <a:r>
              <a:rPr lang="en-US" sz="2400" dirty="0">
                <a:latin typeface="Tahoma" charset="0"/>
              </a:rPr>
              <a:t>o </a:t>
            </a:r>
            <a:r>
              <a:rPr lang="en-US" sz="2400" b="1" dirty="0" err="1">
                <a:latin typeface="Tahoma" charset="0"/>
              </a:rPr>
              <a:t>impacto</a:t>
            </a:r>
            <a:r>
              <a:rPr lang="en-US" sz="2400" dirty="0">
                <a:latin typeface="Tahoma" charset="0"/>
              </a:rPr>
              <a:t> de </a:t>
            </a:r>
            <a:r>
              <a:rPr lang="en-US" sz="2400" b="1" dirty="0" err="1" smtClean="0">
                <a:latin typeface="Tahoma" charset="0"/>
              </a:rPr>
              <a:t>mudanças</a:t>
            </a:r>
            <a:r>
              <a:rPr lang="en-US" sz="2400" dirty="0" smtClean="0">
                <a:latin typeface="Tahoma" charset="0"/>
              </a:rPr>
              <a:t>.</a:t>
            </a:r>
            <a:endParaRPr lang="en-US" sz="24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833" y="3779577"/>
            <a:ext cx="1564508" cy="99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33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Dimens</a:t>
            </a:r>
            <a:r>
              <a:rPr lang="x-none" sz="5400" dirty="0" smtClean="0">
                <a:latin typeface="Tahoma"/>
                <a:cs typeface="Tahoma"/>
              </a:rPr>
              <a:t>ões do RUP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3000" dirty="0" smtClean="0">
                <a:latin typeface="Tahoma" charset="0"/>
              </a:rPr>
              <a:t>RUP </a:t>
            </a:r>
            <a:r>
              <a:rPr lang="pt-BR" sz="3000" dirty="0" smtClean="0">
                <a:latin typeface="Tahoma" charset="0"/>
              </a:rPr>
              <a:t>é </a:t>
            </a:r>
            <a:r>
              <a:rPr lang="pt-BR" sz="3000" dirty="0" smtClean="0">
                <a:latin typeface="Tahoma" charset="0"/>
              </a:rPr>
              <a:t>organizado </a:t>
            </a:r>
            <a:r>
              <a:rPr lang="pt-BR" sz="3000" dirty="0">
                <a:latin typeface="Tahoma" charset="0"/>
              </a:rPr>
              <a:t>em </a:t>
            </a:r>
            <a:r>
              <a:rPr lang="pt-BR" sz="3000" b="1" dirty="0">
                <a:latin typeface="Tahoma" charset="0"/>
              </a:rPr>
              <a:t>fases e disciplinas</a:t>
            </a:r>
            <a:r>
              <a:rPr lang="pt-BR" sz="3000" dirty="0" smtClean="0">
                <a:latin typeface="Tahoma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000" b="1" dirty="0" err="1" smtClean="0">
                <a:latin typeface="Tahoma" charset="0"/>
              </a:rPr>
              <a:t>Fases</a:t>
            </a:r>
            <a:r>
              <a:rPr lang="en-US" sz="3000" dirty="0" smtClean="0">
                <a:latin typeface="Tahoma" charset="0"/>
              </a:rPr>
              <a:t>:</a:t>
            </a:r>
            <a:endParaRPr lang="en-US" sz="3000" dirty="0">
              <a:latin typeface="Tahoma" charset="0"/>
            </a:endParaRP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Tahoma" charset="0"/>
              </a:rPr>
              <a:t>distribuição</a:t>
            </a:r>
            <a:r>
              <a:rPr lang="en-US" dirty="0">
                <a:latin typeface="Tahoma" charset="0"/>
              </a:rPr>
              <a:t> das </a:t>
            </a:r>
            <a:r>
              <a:rPr lang="en-US" b="1" dirty="0" err="1">
                <a:latin typeface="Tahoma" charset="0"/>
              </a:rPr>
              <a:t>atividades</a:t>
            </a:r>
            <a:r>
              <a:rPr lang="en-US" b="1" dirty="0">
                <a:latin typeface="Tahoma" charset="0"/>
              </a:rPr>
              <a:t> no </a:t>
            </a:r>
            <a:r>
              <a:rPr lang="en-US" b="1" dirty="0" smtClean="0">
                <a:latin typeface="Tahoma" charset="0"/>
              </a:rPr>
              <a:t>tempo</a:t>
            </a:r>
            <a:r>
              <a:rPr lang="en-US" dirty="0">
                <a:latin typeface="Tahoma" charset="0"/>
              </a:rPr>
              <a:t>.</a:t>
            </a:r>
            <a:endParaRPr lang="en-US" dirty="0">
              <a:latin typeface="Tahoma" charset="0"/>
            </a:endParaRPr>
          </a:p>
          <a:p>
            <a:pPr lvl="1">
              <a:lnSpc>
                <a:spcPct val="120000"/>
              </a:lnSpc>
            </a:pPr>
            <a:r>
              <a:rPr lang="en-US" b="1" dirty="0" err="1" smtClean="0">
                <a:latin typeface="Tahoma" charset="0"/>
              </a:rPr>
              <a:t>Cada</a:t>
            </a:r>
            <a:r>
              <a:rPr lang="en-US" b="1" dirty="0" smtClean="0">
                <a:latin typeface="Tahoma" charset="0"/>
              </a:rPr>
              <a:t> </a:t>
            </a:r>
            <a:r>
              <a:rPr lang="en-US" b="1" dirty="0" err="1">
                <a:latin typeface="Tahoma" charset="0"/>
              </a:rPr>
              <a:t>fase</a:t>
            </a:r>
            <a:r>
              <a:rPr lang="en-US" dirty="0">
                <a:latin typeface="Tahoma" charset="0"/>
              </a:rPr>
              <a:t> tem </a:t>
            </a:r>
            <a:r>
              <a:rPr lang="en-US" b="1" dirty="0" err="1">
                <a:latin typeface="Tahoma" charset="0"/>
              </a:rPr>
              <a:t>uma</a:t>
            </a:r>
            <a:r>
              <a:rPr lang="en-US" b="1" dirty="0">
                <a:latin typeface="Tahoma" charset="0"/>
              </a:rPr>
              <a:t> </a:t>
            </a:r>
            <a:r>
              <a:rPr lang="en-US" b="1" dirty="0" err="1">
                <a:latin typeface="Tahoma" charset="0"/>
              </a:rPr>
              <a:t>ou</a:t>
            </a:r>
            <a:r>
              <a:rPr lang="en-US" b="1" dirty="0">
                <a:latin typeface="Tahoma" charset="0"/>
              </a:rPr>
              <a:t> </a:t>
            </a:r>
            <a:r>
              <a:rPr lang="en-US" b="1" dirty="0" err="1">
                <a:latin typeface="Tahoma" charset="0"/>
              </a:rPr>
              <a:t>mais</a:t>
            </a:r>
            <a:r>
              <a:rPr lang="en-US" b="1" dirty="0">
                <a:latin typeface="Tahoma" charset="0"/>
              </a:rPr>
              <a:t> </a:t>
            </a:r>
            <a:r>
              <a:rPr lang="en-US" b="1" dirty="0" err="1" smtClean="0">
                <a:latin typeface="Tahoma" charset="0"/>
              </a:rPr>
              <a:t>iterações</a:t>
            </a:r>
            <a:r>
              <a:rPr lang="en-US" dirty="0" smtClean="0">
                <a:latin typeface="Tahoma" charset="0"/>
              </a:rPr>
              <a:t>.</a:t>
            </a:r>
            <a:endParaRPr lang="en-US" dirty="0">
              <a:latin typeface="Tahoma" charset="0"/>
            </a:endParaRPr>
          </a:p>
          <a:p>
            <a:pPr>
              <a:lnSpc>
                <a:spcPct val="120000"/>
              </a:lnSpc>
            </a:pPr>
            <a:r>
              <a:rPr lang="en-US" sz="3000" b="1" dirty="0" err="1" smtClean="0">
                <a:latin typeface="Tahoma" charset="0"/>
              </a:rPr>
              <a:t>Disciplinas</a:t>
            </a:r>
            <a:r>
              <a:rPr lang="en-US" sz="3000" dirty="0" smtClean="0">
                <a:latin typeface="Tahoma" charset="0"/>
              </a:rPr>
              <a:t>:</a:t>
            </a:r>
            <a:endParaRPr lang="en-US" sz="3000" dirty="0">
              <a:latin typeface="Tahoma" charset="0"/>
            </a:endParaRP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Tahoma" charset="0"/>
              </a:rPr>
              <a:t>distribuição</a:t>
            </a:r>
            <a:r>
              <a:rPr lang="en-US" dirty="0">
                <a:latin typeface="Tahoma" charset="0"/>
              </a:rPr>
              <a:t> das </a:t>
            </a:r>
            <a:r>
              <a:rPr lang="en-US" b="1" dirty="0" err="1">
                <a:latin typeface="Tahoma" charset="0"/>
              </a:rPr>
              <a:t>atividades</a:t>
            </a:r>
            <a:r>
              <a:rPr lang="en-US" b="1" dirty="0">
                <a:latin typeface="Tahoma" charset="0"/>
              </a:rPr>
              <a:t> </a:t>
            </a:r>
            <a:r>
              <a:rPr lang="en-US" b="1" dirty="0" err="1">
                <a:latin typeface="Tahoma" charset="0"/>
              </a:rPr>
              <a:t>por</a:t>
            </a:r>
            <a:r>
              <a:rPr lang="en-US" b="1" dirty="0">
                <a:latin typeface="Tahoma" charset="0"/>
              </a:rPr>
              <a:t> </a:t>
            </a:r>
            <a:r>
              <a:rPr lang="en-US" b="1" dirty="0" err="1" smtClean="0">
                <a:latin typeface="Tahoma" charset="0"/>
              </a:rPr>
              <a:t>categoria</a:t>
            </a:r>
            <a:r>
              <a:rPr lang="en-US" dirty="0" smtClean="0">
                <a:latin typeface="Tahoma" charset="0"/>
              </a:rPr>
              <a:t>.</a:t>
            </a:r>
            <a:endParaRPr lang="en-US" dirty="0">
              <a:latin typeface="Tahoma" charset="0"/>
            </a:endParaRPr>
          </a:p>
          <a:p>
            <a:pPr lvl="1">
              <a:lnSpc>
                <a:spcPct val="120000"/>
              </a:lnSpc>
            </a:pPr>
            <a:r>
              <a:rPr lang="en-US" b="1" dirty="0" err="1" smtClean="0">
                <a:latin typeface="Tahoma" charset="0"/>
              </a:rPr>
              <a:t>Apresentam</a:t>
            </a:r>
            <a:r>
              <a:rPr lang="en-US" b="1" dirty="0" smtClean="0">
                <a:latin typeface="Tahoma" charset="0"/>
              </a:rPr>
              <a:t> </a:t>
            </a:r>
            <a:r>
              <a:rPr lang="en-US" b="1" dirty="0" err="1">
                <a:latin typeface="Tahoma" charset="0"/>
              </a:rPr>
              <a:t>fluxos</a:t>
            </a:r>
            <a:r>
              <a:rPr lang="en-US" b="1" dirty="0">
                <a:latin typeface="Tahoma" charset="0"/>
              </a:rPr>
              <a:t> de </a:t>
            </a:r>
            <a:r>
              <a:rPr lang="en-US" b="1" dirty="0" err="1" smtClean="0">
                <a:latin typeface="Tahoma" charset="0"/>
              </a:rPr>
              <a:t>trabalho</a:t>
            </a:r>
            <a:r>
              <a:rPr lang="en-US" dirty="0" smtClean="0">
                <a:latin typeface="Tahoma" charset="0"/>
              </a:rPr>
              <a:t>.</a:t>
            </a:r>
            <a:endParaRPr lang="en-US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33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Iterativo e Incremental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" y="1837111"/>
            <a:ext cx="7094220" cy="424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68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Gr</a:t>
            </a:r>
            <a:r>
              <a:rPr lang="x-none" sz="5400" dirty="0" smtClean="0">
                <a:latin typeface="Tahoma"/>
                <a:cs typeface="Tahoma"/>
              </a:rPr>
              <a:t>áfico das “Baleias”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pic>
        <p:nvPicPr>
          <p:cNvPr id="3" name="Picture 2" descr="gráfico das balei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0" y="1775868"/>
            <a:ext cx="67437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857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Marcos Principais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26145" y="2032308"/>
            <a:ext cx="8091710" cy="3461665"/>
            <a:chOff x="666044" y="2828995"/>
            <a:chExt cx="11343286" cy="5719727"/>
          </a:xfrm>
        </p:grpSpPr>
        <p:sp>
          <p:nvSpPr>
            <p:cNvPr id="7" name="Shape 322"/>
            <p:cNvSpPr/>
            <p:nvPr/>
          </p:nvSpPr>
          <p:spPr>
            <a:xfrm>
              <a:off x="666044" y="4236607"/>
              <a:ext cx="4051301" cy="15425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lvl="0" algn="ctr" defTabSz="584200">
                <a:buClr>
                  <a:srgbClr val="000000"/>
                </a:buClr>
                <a:buFont typeface="Arial"/>
                <a:defRPr sz="1800"/>
              </a:pPr>
              <a:r>
                <a:rPr dirty="0">
                  <a:latin typeface="+mj-lt"/>
                  <a:ea typeface="+mj-ea"/>
                  <a:cs typeface="+mj-cs"/>
                  <a:sym typeface="Gill Sans"/>
                </a:rPr>
                <a:t>Os riscos de </a:t>
              </a:r>
              <a:r>
                <a:rPr dirty="0" smtClean="0">
                  <a:latin typeface="+mj-lt"/>
                  <a:ea typeface="+mj-ea"/>
                  <a:cs typeface="+mj-cs"/>
                  <a:sym typeface="Gill Sans"/>
                </a:rPr>
                <a:t>negócio </a:t>
              </a:r>
              <a:r>
                <a:rPr dirty="0">
                  <a:latin typeface="+mj-lt"/>
                  <a:ea typeface="+mj-ea"/>
                  <a:cs typeface="+mj-cs"/>
                  <a:sym typeface="Gill Sans"/>
                </a:rPr>
                <a:t>estão mitigados?</a:t>
              </a:r>
            </a:p>
            <a:p>
              <a:pPr lvl="0" algn="ctr" defTabSz="584200">
                <a:buClr>
                  <a:srgbClr val="000000"/>
                </a:buClr>
                <a:buFont typeface="Arial"/>
                <a:defRPr sz="1800"/>
              </a:pPr>
              <a:r>
                <a:rPr dirty="0">
                  <a:latin typeface="+mj-lt"/>
                  <a:ea typeface="+mj-ea"/>
                  <a:cs typeface="+mj-cs"/>
                  <a:sym typeface="Gill Sans"/>
                </a:rPr>
                <a:t>O projeto é viável?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381760" y="2828995"/>
              <a:ext cx="10627570" cy="5719727"/>
              <a:chOff x="1381760" y="2828995"/>
              <a:chExt cx="10627570" cy="5719727"/>
            </a:xfrm>
          </p:grpSpPr>
          <p:grpSp>
            <p:nvGrpSpPr>
              <p:cNvPr id="9" name="Group 309"/>
              <p:cNvGrpSpPr/>
              <p:nvPr/>
            </p:nvGrpSpPr>
            <p:grpSpPr>
              <a:xfrm>
                <a:off x="1381760" y="2828995"/>
                <a:ext cx="1943948" cy="609601"/>
                <a:chOff x="0" y="0"/>
                <a:chExt cx="1943947" cy="609600"/>
              </a:xfrm>
            </p:grpSpPr>
            <p:sp>
              <p:nvSpPr>
                <p:cNvPr id="29" name="Shape 307"/>
                <p:cNvSpPr/>
                <p:nvPr/>
              </p:nvSpPr>
              <p:spPr>
                <a:xfrm>
                  <a:off x="0" y="0"/>
                  <a:ext cx="1943947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30" name="Shape 308"/>
                <p:cNvSpPr/>
                <p:nvPr/>
              </p:nvSpPr>
              <p:spPr>
                <a:xfrm>
                  <a:off x="236214" y="129240"/>
                  <a:ext cx="1471518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3855" marR="73855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 dirty="0"/>
                    <a:t>Concepção</a:t>
                  </a:r>
                </a:p>
              </p:txBody>
            </p:sp>
          </p:grpSp>
          <p:grpSp>
            <p:nvGrpSpPr>
              <p:cNvPr id="10" name="Group 312"/>
              <p:cNvGrpSpPr/>
              <p:nvPr/>
            </p:nvGrpSpPr>
            <p:grpSpPr>
              <a:xfrm>
                <a:off x="3736622" y="2828995"/>
                <a:ext cx="2251006" cy="609601"/>
                <a:chOff x="0" y="0"/>
                <a:chExt cx="2251005" cy="609600"/>
              </a:xfrm>
            </p:grpSpPr>
            <p:sp>
              <p:nvSpPr>
                <p:cNvPr id="27" name="Shape 310"/>
                <p:cNvSpPr/>
                <p:nvPr/>
              </p:nvSpPr>
              <p:spPr>
                <a:xfrm>
                  <a:off x="0" y="0"/>
                  <a:ext cx="2251005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28" name="Shape 311"/>
                <p:cNvSpPr/>
                <p:nvPr/>
              </p:nvSpPr>
              <p:spPr>
                <a:xfrm>
                  <a:off x="426261" y="129240"/>
                  <a:ext cx="1398481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4129" marR="74129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 dirty="0"/>
                    <a:t>Elaboração</a:t>
                  </a:r>
                </a:p>
              </p:txBody>
            </p:sp>
          </p:grpSp>
          <p:grpSp>
            <p:nvGrpSpPr>
              <p:cNvPr id="11" name="Group 315"/>
              <p:cNvGrpSpPr/>
              <p:nvPr/>
            </p:nvGrpSpPr>
            <p:grpSpPr>
              <a:xfrm>
                <a:off x="6398542" y="2828995"/>
                <a:ext cx="2867380" cy="609601"/>
                <a:chOff x="0" y="0"/>
                <a:chExt cx="2867378" cy="609600"/>
              </a:xfrm>
            </p:grpSpPr>
            <p:sp>
              <p:nvSpPr>
                <p:cNvPr id="25" name="Shape 313"/>
                <p:cNvSpPr/>
                <p:nvPr/>
              </p:nvSpPr>
              <p:spPr>
                <a:xfrm>
                  <a:off x="0" y="0"/>
                  <a:ext cx="2867378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26" name="Shape 314"/>
                <p:cNvSpPr/>
                <p:nvPr/>
              </p:nvSpPr>
              <p:spPr>
                <a:xfrm>
                  <a:off x="737546" y="129240"/>
                  <a:ext cx="1392282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4501" marR="74501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Construção</a:t>
                  </a:r>
                </a:p>
              </p:txBody>
            </p:sp>
          </p:grpSp>
          <p:grpSp>
            <p:nvGrpSpPr>
              <p:cNvPr id="12" name="Group 318"/>
              <p:cNvGrpSpPr/>
              <p:nvPr/>
            </p:nvGrpSpPr>
            <p:grpSpPr>
              <a:xfrm>
                <a:off x="9676835" y="2828995"/>
                <a:ext cx="1946207" cy="609601"/>
                <a:chOff x="0" y="0"/>
                <a:chExt cx="1946205" cy="609600"/>
              </a:xfrm>
            </p:grpSpPr>
            <p:sp>
              <p:nvSpPr>
                <p:cNvPr id="23" name="Shape 316"/>
                <p:cNvSpPr/>
                <p:nvPr/>
              </p:nvSpPr>
              <p:spPr>
                <a:xfrm>
                  <a:off x="0" y="0"/>
                  <a:ext cx="1946205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24" name="Shape 317"/>
                <p:cNvSpPr/>
                <p:nvPr/>
              </p:nvSpPr>
              <p:spPr>
                <a:xfrm>
                  <a:off x="407987" y="129240"/>
                  <a:ext cx="1130229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3858" marR="73858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Transição</a:t>
                  </a:r>
                </a:p>
              </p:txBody>
            </p:sp>
          </p:grpSp>
          <p:sp>
            <p:nvSpPr>
              <p:cNvPr id="13" name="Shape 319"/>
              <p:cNvSpPr/>
              <p:nvPr/>
            </p:nvSpPr>
            <p:spPr>
              <a:xfrm>
                <a:off x="3325706" y="2930595"/>
                <a:ext cx="410917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14" name="Shape 320"/>
              <p:cNvSpPr/>
              <p:nvPr/>
            </p:nvSpPr>
            <p:spPr>
              <a:xfrm>
                <a:off x="5989884" y="2930595"/>
                <a:ext cx="410917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15" name="Shape 321"/>
              <p:cNvSpPr/>
              <p:nvPr/>
            </p:nvSpPr>
            <p:spPr>
              <a:xfrm>
                <a:off x="9271000" y="2930595"/>
                <a:ext cx="410916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16" name="Shape 323"/>
              <p:cNvSpPr/>
              <p:nvPr/>
            </p:nvSpPr>
            <p:spPr>
              <a:xfrm>
                <a:off x="3020906" y="6791255"/>
                <a:ext cx="5740401" cy="9335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Os riscos técnicos estão mitigados?</a:t>
                </a: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Existe um plano de como </a:t>
                </a: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conduzir o projeto?</a:t>
                </a:r>
              </a:p>
            </p:txBody>
          </p:sp>
          <p:sp>
            <p:nvSpPr>
              <p:cNvPr id="17" name="Shape 324"/>
              <p:cNvSpPr/>
              <p:nvPr/>
            </p:nvSpPr>
            <p:spPr>
              <a:xfrm>
                <a:off x="7112000" y="4490441"/>
                <a:ext cx="4114800" cy="148758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Os riscos de logística estão mitigados?</a:t>
                </a: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O sistema está utilizável?</a:t>
                </a: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É possível entregar uma versão beta?</a:t>
                </a:r>
              </a:p>
            </p:txBody>
          </p:sp>
          <p:sp>
            <p:nvSpPr>
              <p:cNvPr id="18" name="Shape 325"/>
              <p:cNvSpPr/>
              <p:nvPr/>
            </p:nvSpPr>
            <p:spPr>
              <a:xfrm>
                <a:off x="7768661" y="7892132"/>
                <a:ext cx="4240669" cy="6565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O sistema está completo</a:t>
                </a: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>
                    <a:latin typeface="+mj-lt"/>
                    <a:ea typeface="+mj-ea"/>
                    <a:cs typeface="+mj-cs"/>
                    <a:sym typeface="Gill Sans"/>
                  </a:rPr>
                  <a:t>e robusto, pronto para ser entregue?</a:t>
                </a:r>
              </a:p>
            </p:txBody>
          </p:sp>
          <p:sp>
            <p:nvSpPr>
              <p:cNvPr id="19" name="Shape 326"/>
              <p:cNvSpPr/>
              <p:nvPr/>
            </p:nvSpPr>
            <p:spPr>
              <a:xfrm flipV="1">
                <a:off x="6326614" y="3443111"/>
                <a:ext cx="2258" cy="3072837"/>
              </a:xfrm>
              <a:prstGeom prst="line">
                <a:avLst/>
              </a:prstGeom>
              <a:ln w="57150">
                <a:solidFill>
                  <a:srgbClr val="3DA779"/>
                </a:solidFill>
                <a:round/>
                <a:tailEnd type="triangle"/>
              </a:ln>
            </p:spPr>
            <p:txBody>
              <a:bodyPr lIns="0" tIns="0" rIns="0" bIns="0" anchor="ctr"/>
              <a:lstStyle/>
              <a:p>
                <a:pPr lvl="0"/>
                <a:endParaRPr/>
              </a:p>
            </p:txBody>
          </p:sp>
          <p:sp>
            <p:nvSpPr>
              <p:cNvPr id="20" name="Shape 327"/>
              <p:cNvSpPr/>
              <p:nvPr/>
            </p:nvSpPr>
            <p:spPr>
              <a:xfrm flipV="1">
                <a:off x="3666944" y="3443111"/>
                <a:ext cx="2258" cy="1025032"/>
              </a:xfrm>
              <a:prstGeom prst="line">
                <a:avLst/>
              </a:prstGeom>
              <a:ln w="57150">
                <a:solidFill>
                  <a:srgbClr val="3DA779"/>
                </a:solidFill>
                <a:round/>
                <a:tailEnd type="triangle"/>
              </a:ln>
            </p:spPr>
            <p:txBody>
              <a:bodyPr lIns="0" tIns="0" rIns="0" bIns="0" anchor="ctr"/>
              <a:lstStyle/>
              <a:p>
                <a:pPr lvl="0"/>
                <a:endParaRPr/>
              </a:p>
            </p:txBody>
          </p:sp>
          <p:sp>
            <p:nvSpPr>
              <p:cNvPr id="21" name="Shape 328"/>
              <p:cNvSpPr/>
              <p:nvPr/>
            </p:nvSpPr>
            <p:spPr>
              <a:xfrm flipV="1">
                <a:off x="9604906" y="3443111"/>
                <a:ext cx="2258" cy="715716"/>
              </a:xfrm>
              <a:prstGeom prst="line">
                <a:avLst/>
              </a:prstGeom>
              <a:ln w="57150">
                <a:solidFill>
                  <a:srgbClr val="3DA779"/>
                </a:solidFill>
                <a:round/>
                <a:tailEnd type="triangle"/>
              </a:ln>
            </p:spPr>
            <p:txBody>
              <a:bodyPr lIns="0" tIns="0" rIns="0" bIns="0" anchor="ctr"/>
              <a:lstStyle/>
              <a:p>
                <a:pPr lvl="0"/>
                <a:endParaRPr/>
              </a:p>
            </p:txBody>
          </p:sp>
          <p:sp>
            <p:nvSpPr>
              <p:cNvPr id="22" name="Shape 329"/>
              <p:cNvSpPr/>
              <p:nvPr/>
            </p:nvSpPr>
            <p:spPr>
              <a:xfrm flipV="1">
                <a:off x="11623040" y="3544711"/>
                <a:ext cx="2258" cy="4610383"/>
              </a:xfrm>
              <a:prstGeom prst="line">
                <a:avLst/>
              </a:prstGeom>
              <a:ln w="57150">
                <a:solidFill>
                  <a:srgbClr val="3DA779"/>
                </a:solidFill>
                <a:round/>
                <a:tailEnd type="triangle"/>
              </a:ln>
            </p:spPr>
            <p:txBody>
              <a:bodyPr lIns="0" tIns="0" rIns="0" bIns="0" anchor="ctr"/>
              <a:lstStyle/>
              <a:p>
                <a:pPr lvl="0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5054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sz="5400" dirty="0" smtClean="0">
                <a:latin typeface="Tahoma"/>
                <a:cs typeface="Tahoma"/>
              </a:rPr>
              <a:t>Marcos Principais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520156" y="2032308"/>
            <a:ext cx="7870863" cy="3662360"/>
            <a:chOff x="666044" y="2828995"/>
            <a:chExt cx="11033693" cy="6051336"/>
          </a:xfrm>
        </p:grpSpPr>
        <p:sp>
          <p:nvSpPr>
            <p:cNvPr id="32" name="Shape 322"/>
            <p:cNvSpPr/>
            <p:nvPr/>
          </p:nvSpPr>
          <p:spPr>
            <a:xfrm>
              <a:off x="666044" y="4465448"/>
              <a:ext cx="4051301" cy="1084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lvl="0" algn="ctr" defTabSz="584200">
                <a:buClr>
                  <a:srgbClr val="000000"/>
                </a:buClr>
                <a:buFont typeface="Arial"/>
                <a:defRPr sz="1800"/>
              </a:pPr>
              <a:r>
                <a:rPr lang="en-US">
                  <a:sym typeface="Gill Sans"/>
                </a:rPr>
                <a:t>Marco de objetivo de</a:t>
              </a:r>
            </a:p>
            <a:p>
              <a:pPr lvl="0" algn="ctr" defTabSz="584200">
                <a:buClr>
                  <a:srgbClr val="000000"/>
                </a:buClr>
                <a:buFont typeface="Arial"/>
                <a:defRPr sz="1800"/>
              </a:pPr>
              <a:r>
                <a:rPr lang="en-US">
                  <a:sym typeface="Gill Sans"/>
                </a:rPr>
                <a:t>ciclo de vida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1381760" y="2828995"/>
              <a:ext cx="10317977" cy="6051336"/>
              <a:chOff x="1381760" y="2828995"/>
              <a:chExt cx="10317977" cy="6051336"/>
            </a:xfrm>
          </p:grpSpPr>
          <p:grpSp>
            <p:nvGrpSpPr>
              <p:cNvPr id="34" name="Group 309"/>
              <p:cNvGrpSpPr/>
              <p:nvPr/>
            </p:nvGrpSpPr>
            <p:grpSpPr>
              <a:xfrm>
                <a:off x="1381760" y="2828995"/>
                <a:ext cx="1943948" cy="609601"/>
                <a:chOff x="0" y="0"/>
                <a:chExt cx="1943947" cy="609600"/>
              </a:xfrm>
            </p:grpSpPr>
            <p:sp>
              <p:nvSpPr>
                <p:cNvPr id="54" name="Shape 307"/>
                <p:cNvSpPr/>
                <p:nvPr/>
              </p:nvSpPr>
              <p:spPr>
                <a:xfrm>
                  <a:off x="0" y="0"/>
                  <a:ext cx="1943947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55" name="Shape 308"/>
                <p:cNvSpPr/>
                <p:nvPr/>
              </p:nvSpPr>
              <p:spPr>
                <a:xfrm>
                  <a:off x="236214" y="129240"/>
                  <a:ext cx="1471518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3855" marR="73855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Concepção</a:t>
                  </a:r>
                </a:p>
              </p:txBody>
            </p:sp>
          </p:grpSp>
          <p:grpSp>
            <p:nvGrpSpPr>
              <p:cNvPr id="35" name="Group 312"/>
              <p:cNvGrpSpPr/>
              <p:nvPr/>
            </p:nvGrpSpPr>
            <p:grpSpPr>
              <a:xfrm>
                <a:off x="3736622" y="2828995"/>
                <a:ext cx="2251006" cy="609601"/>
                <a:chOff x="0" y="0"/>
                <a:chExt cx="2251005" cy="609600"/>
              </a:xfrm>
            </p:grpSpPr>
            <p:sp>
              <p:nvSpPr>
                <p:cNvPr id="52" name="Shape 310"/>
                <p:cNvSpPr/>
                <p:nvPr/>
              </p:nvSpPr>
              <p:spPr>
                <a:xfrm>
                  <a:off x="0" y="0"/>
                  <a:ext cx="2251005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53" name="Shape 311"/>
                <p:cNvSpPr/>
                <p:nvPr/>
              </p:nvSpPr>
              <p:spPr>
                <a:xfrm>
                  <a:off x="426261" y="129240"/>
                  <a:ext cx="1398481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4129" marR="74129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Elaboração</a:t>
                  </a:r>
                </a:p>
              </p:txBody>
            </p:sp>
          </p:grpSp>
          <p:grpSp>
            <p:nvGrpSpPr>
              <p:cNvPr id="36" name="Group 315"/>
              <p:cNvGrpSpPr/>
              <p:nvPr/>
            </p:nvGrpSpPr>
            <p:grpSpPr>
              <a:xfrm>
                <a:off x="6398542" y="2828995"/>
                <a:ext cx="2867380" cy="609601"/>
                <a:chOff x="0" y="0"/>
                <a:chExt cx="2867378" cy="609600"/>
              </a:xfrm>
            </p:grpSpPr>
            <p:sp>
              <p:nvSpPr>
                <p:cNvPr id="50" name="Shape 313"/>
                <p:cNvSpPr/>
                <p:nvPr/>
              </p:nvSpPr>
              <p:spPr>
                <a:xfrm>
                  <a:off x="0" y="0"/>
                  <a:ext cx="2867378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51" name="Shape 314"/>
                <p:cNvSpPr/>
                <p:nvPr/>
              </p:nvSpPr>
              <p:spPr>
                <a:xfrm>
                  <a:off x="737546" y="129240"/>
                  <a:ext cx="1392282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4501" marR="74501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Construção</a:t>
                  </a:r>
                </a:p>
              </p:txBody>
            </p:sp>
          </p:grpSp>
          <p:grpSp>
            <p:nvGrpSpPr>
              <p:cNvPr id="37" name="Group 318"/>
              <p:cNvGrpSpPr/>
              <p:nvPr/>
            </p:nvGrpSpPr>
            <p:grpSpPr>
              <a:xfrm>
                <a:off x="9676835" y="2828995"/>
                <a:ext cx="1946207" cy="609601"/>
                <a:chOff x="0" y="0"/>
                <a:chExt cx="1946205" cy="609600"/>
              </a:xfrm>
            </p:grpSpPr>
            <p:sp>
              <p:nvSpPr>
                <p:cNvPr id="48" name="Shape 316"/>
                <p:cNvSpPr/>
                <p:nvPr/>
              </p:nvSpPr>
              <p:spPr>
                <a:xfrm>
                  <a:off x="0" y="0"/>
                  <a:ext cx="1946205" cy="609600"/>
                </a:xfrm>
                <a:prstGeom prst="roundRect">
                  <a:avLst>
                    <a:gd name="adj" fmla="val 11806"/>
                  </a:avLst>
                </a:prstGeom>
                <a:solidFill>
                  <a:srgbClr val="FFFED5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 defTabSz="584200">
                    <a:defRPr sz="4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:endParaRPr/>
                </a:p>
              </p:txBody>
            </p:sp>
            <p:sp>
              <p:nvSpPr>
                <p:cNvPr id="49" name="Shape 317"/>
                <p:cNvSpPr/>
                <p:nvPr/>
              </p:nvSpPr>
              <p:spPr>
                <a:xfrm>
                  <a:off x="407987" y="129240"/>
                  <a:ext cx="1130229" cy="3539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L="73858" marR="73858" algn="ctr" defTabSz="584200">
                    <a:buClr>
                      <a:srgbClr val="000000"/>
                    </a:buClr>
                    <a:buFont typeface="Helvetica"/>
                    <a:defRPr sz="2200">
                      <a:latin typeface="Century Gothic"/>
                      <a:ea typeface="Century Gothic"/>
                      <a:cs typeface="Century Gothic"/>
                      <a:sym typeface="Century Gothic"/>
                    </a:defRPr>
                  </a:lvl1pPr>
                </a:lstStyle>
                <a:p>
                  <a:pPr lvl="0">
                    <a:defRPr sz="1800"/>
                  </a:pPr>
                  <a:r>
                    <a:rPr sz="1800"/>
                    <a:t>Transição</a:t>
                  </a:r>
                </a:p>
              </p:txBody>
            </p:sp>
          </p:grpSp>
          <p:sp>
            <p:nvSpPr>
              <p:cNvPr id="38" name="Shape 319"/>
              <p:cNvSpPr/>
              <p:nvPr/>
            </p:nvSpPr>
            <p:spPr>
              <a:xfrm>
                <a:off x="3325706" y="2930595"/>
                <a:ext cx="410917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39" name="Shape 320"/>
              <p:cNvSpPr/>
              <p:nvPr/>
            </p:nvSpPr>
            <p:spPr>
              <a:xfrm>
                <a:off x="5989884" y="2930595"/>
                <a:ext cx="410917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40" name="Shape 321"/>
              <p:cNvSpPr/>
              <p:nvPr/>
            </p:nvSpPr>
            <p:spPr>
              <a:xfrm>
                <a:off x="9271000" y="2930595"/>
                <a:ext cx="410916" cy="408659"/>
              </a:xfrm>
              <a:prstGeom prst="rightArrow">
                <a:avLst>
                  <a:gd name="adj1" fmla="val 50000"/>
                  <a:gd name="adj2" fmla="val 17675"/>
                </a:avLst>
              </a:prstGeom>
              <a:solidFill>
                <a:srgbClr val="FFFED5"/>
              </a:solidFill>
              <a:ln w="254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+mj-lt"/>
                    <a:ea typeface="+mj-ea"/>
                    <a:cs typeface="+mj-cs"/>
                    <a:sym typeface="Gill Sans"/>
                  </a:defRPr>
                </a:pPr>
                <a:endParaRPr/>
              </a:p>
            </p:txBody>
          </p:sp>
          <p:sp>
            <p:nvSpPr>
              <p:cNvPr id="41" name="Shape 323"/>
              <p:cNvSpPr/>
              <p:nvPr/>
            </p:nvSpPr>
            <p:spPr>
              <a:xfrm>
                <a:off x="3020905" y="6944447"/>
                <a:ext cx="5740402" cy="6272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 lang="en-US" dirty="0">
                    <a:sym typeface="Gill Sans"/>
                  </a:rPr>
                  <a:t>Marco de </a:t>
                </a:r>
                <a:r>
                  <a:rPr lang="en-US" dirty="0" err="1">
                    <a:sym typeface="Gill Sans"/>
                  </a:rPr>
                  <a:t>arquitetura</a:t>
                </a:r>
                <a:r>
                  <a:rPr lang="en-US" dirty="0">
                    <a:sym typeface="Gill Sans"/>
                  </a:rPr>
                  <a:t> do </a:t>
                </a:r>
                <a:r>
                  <a:rPr lang="en-US" i="1" dirty="0">
                    <a:sym typeface="Gill Sans"/>
                  </a:rPr>
                  <a:t>software</a:t>
                </a:r>
              </a:p>
            </p:txBody>
          </p:sp>
          <p:sp>
            <p:nvSpPr>
              <p:cNvPr id="42" name="Shape 324"/>
              <p:cNvSpPr/>
              <p:nvPr/>
            </p:nvSpPr>
            <p:spPr>
              <a:xfrm>
                <a:off x="7112000" y="4691789"/>
                <a:ext cx="4114800" cy="108488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 lang="en-US" dirty="0">
                    <a:sym typeface="Gill Sans"/>
                  </a:rPr>
                  <a:t>Marco de </a:t>
                </a:r>
                <a:r>
                  <a:rPr lang="en-US" dirty="0" err="1">
                    <a:sym typeface="Gill Sans"/>
                  </a:rPr>
                  <a:t>capacidade</a:t>
                </a:r>
                <a:endParaRPr lang="en-US" dirty="0">
                  <a:sym typeface="Gill Sans"/>
                </a:endParaRPr>
              </a:p>
              <a:p>
                <a:pPr lvl="0" algn="ctr" defTabSz="584200">
                  <a:buClr>
                    <a:srgbClr val="000000"/>
                  </a:buClr>
                  <a:buFont typeface="Arial"/>
                  <a:defRPr sz="1800"/>
                </a:pPr>
                <a:r>
                  <a:rPr lang="en-US" dirty="0" err="1">
                    <a:sym typeface="Gill Sans"/>
                  </a:rPr>
                  <a:t>operacional</a:t>
                </a:r>
                <a:r>
                  <a:rPr lang="en-US" dirty="0">
                    <a:sym typeface="Gill Sans"/>
                  </a:rPr>
                  <a:t> </a:t>
                </a:r>
                <a:r>
                  <a:rPr lang="en-US" dirty="0" err="1">
                    <a:sym typeface="Gill Sans"/>
                  </a:rPr>
                  <a:t>inicial</a:t>
                </a:r>
                <a:endParaRPr lang="en-US" dirty="0">
                  <a:sym typeface="Gill Sans"/>
                </a:endParaRPr>
              </a:p>
            </p:txBody>
          </p:sp>
          <p:sp>
            <p:nvSpPr>
              <p:cNvPr id="43" name="Shape 325"/>
              <p:cNvSpPr/>
              <p:nvPr/>
            </p:nvSpPr>
            <p:spPr>
              <a:xfrm>
                <a:off x="7637306" y="8253131"/>
                <a:ext cx="4062431" cy="6272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 lvl="0">
                  <a:defRPr sz="1800"/>
                </a:pPr>
                <a:r>
                  <a:rPr lang="en-US" dirty="0"/>
                  <a:t>Marco de </a:t>
                </a:r>
                <a:r>
                  <a:rPr lang="en-US" dirty="0" err="1"/>
                  <a:t>entrega</a:t>
                </a:r>
                <a:r>
                  <a:rPr lang="en-US" dirty="0"/>
                  <a:t> </a:t>
                </a:r>
                <a:r>
                  <a:rPr lang="en-US" dirty="0" smtClean="0"/>
                  <a:t>do </a:t>
                </a:r>
                <a:r>
                  <a:rPr lang="en-US" dirty="0" err="1"/>
                  <a:t>produto</a:t>
                </a:r>
                <a:endParaRPr lang="en-US" dirty="0"/>
              </a:p>
            </p:txBody>
          </p:sp>
          <p:sp>
            <p:nvSpPr>
              <p:cNvPr id="44" name="Shape 326"/>
              <p:cNvSpPr/>
              <p:nvPr/>
            </p:nvSpPr>
            <p:spPr>
              <a:xfrm flipV="1">
                <a:off x="6326613" y="3443111"/>
                <a:ext cx="2258" cy="3072836"/>
              </a:xfrm>
              <a:prstGeom prst="line">
                <a:avLst/>
              </a:prstGeom>
              <a:ln w="57150">
                <a:solidFill>
                  <a:srgbClr val="3DA779"/>
                </a:solidFill>
                <a:round/>
                <a:tailEnd type="triangle"/>
              </a:ln>
            </p:spPr>
            <p:txBody>
              <a:bodyPr lIns="0" tIns="0" rIns="0" bIns="0" anchor="ctr"/>
              <a:lstStyle/>
              <a:p>
                <a:pPr lvl="0"/>
                <a:endParaRPr/>
              </a:p>
            </p:txBody>
          </p:sp>
        </p:grpSp>
      </p:grpSp>
      <p:sp>
        <p:nvSpPr>
          <p:cNvPr id="58" name="Shape 327"/>
          <p:cNvSpPr/>
          <p:nvPr/>
        </p:nvSpPr>
        <p:spPr>
          <a:xfrm flipV="1">
            <a:off x="2666831" y="2403980"/>
            <a:ext cx="1611" cy="620365"/>
          </a:xfrm>
          <a:prstGeom prst="line">
            <a:avLst/>
          </a:prstGeom>
          <a:ln w="57150">
            <a:solidFill>
              <a:srgbClr val="3DA779"/>
            </a:solidFill>
            <a:round/>
            <a:tailEnd type="triangle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9" name="Shape 328"/>
          <p:cNvSpPr/>
          <p:nvPr/>
        </p:nvSpPr>
        <p:spPr>
          <a:xfrm flipV="1">
            <a:off x="6902664" y="2403979"/>
            <a:ext cx="1611" cy="855687"/>
          </a:xfrm>
          <a:prstGeom prst="line">
            <a:avLst/>
          </a:prstGeom>
          <a:ln w="57150">
            <a:solidFill>
              <a:srgbClr val="3DA779"/>
            </a:solidFill>
            <a:round/>
            <a:tailEnd type="triangle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1" name="Shape 329"/>
          <p:cNvSpPr/>
          <p:nvPr/>
        </p:nvSpPr>
        <p:spPr>
          <a:xfrm flipV="1">
            <a:off x="8342296" y="2465470"/>
            <a:ext cx="1611" cy="2790273"/>
          </a:xfrm>
          <a:prstGeom prst="line">
            <a:avLst/>
          </a:prstGeom>
          <a:ln w="57150">
            <a:solidFill>
              <a:srgbClr val="3DA779"/>
            </a:solidFill>
            <a:round/>
            <a:tailEnd type="triangle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67491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x-none" dirty="0" smtClean="0">
                <a:latin typeface="Tahoma"/>
                <a:cs typeface="Tahoma"/>
              </a:rPr>
              <a:t>Problemas com Processos Prescritivos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 marL="320040" lvl="1" indent="-320040">
              <a:lnSpc>
                <a:spcPct val="114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2800" dirty="0">
                <a:latin typeface="Tahoma" charset="0"/>
              </a:rPr>
              <a:t>O desenvolvimento de </a:t>
            </a:r>
            <a:r>
              <a:rPr lang="pt-BR" sz="2800" i="1" dirty="0">
                <a:latin typeface="Tahoma" charset="0"/>
              </a:rPr>
              <a:t>software</a:t>
            </a:r>
            <a:r>
              <a:rPr lang="pt-BR" sz="2800" dirty="0">
                <a:latin typeface="Tahoma" charset="0"/>
              </a:rPr>
              <a:t> em processos prescritivos:</a:t>
            </a:r>
          </a:p>
          <a:p>
            <a:pPr lvl="1">
              <a:lnSpc>
                <a:spcPct val="114000"/>
              </a:lnSpc>
            </a:pPr>
            <a:r>
              <a:rPr lang="pt-BR" sz="2400" dirty="0" smtClean="0">
                <a:latin typeface="Tahoma" charset="0"/>
              </a:rPr>
              <a:t>é</a:t>
            </a:r>
            <a:r>
              <a:rPr lang="pt-BR" sz="2400" dirty="0" smtClean="0">
                <a:latin typeface="Tahoma" charset="0"/>
              </a:rPr>
              <a:t> </a:t>
            </a:r>
            <a:r>
              <a:rPr lang="pt-BR" sz="2400" dirty="0">
                <a:latin typeface="Tahoma" charset="0"/>
              </a:rPr>
              <a:t>baseado no </a:t>
            </a:r>
            <a:r>
              <a:rPr lang="pt-BR" sz="2400" b="1" dirty="0">
                <a:latin typeface="Tahoma" charset="0"/>
              </a:rPr>
              <a:t>paradigma comando</a:t>
            </a:r>
            <a:r>
              <a:rPr lang="pt-BR" sz="2400" dirty="0">
                <a:latin typeface="Tahoma" charset="0"/>
              </a:rPr>
              <a:t> e </a:t>
            </a:r>
            <a:r>
              <a:rPr lang="pt-BR" sz="2400" b="1" dirty="0" smtClean="0">
                <a:latin typeface="Tahoma" charset="0"/>
              </a:rPr>
              <a:t>controle</a:t>
            </a:r>
            <a:r>
              <a:rPr lang="pt-BR" sz="2400" dirty="0" smtClean="0">
                <a:latin typeface="Tahoma" charset="0"/>
              </a:rPr>
              <a:t>;</a:t>
            </a:r>
            <a:endParaRPr lang="pt-BR" sz="2400" dirty="0">
              <a:latin typeface="Tahoma" charset="0"/>
            </a:endParaRPr>
          </a:p>
          <a:p>
            <a:pPr lvl="1">
              <a:lnSpc>
                <a:spcPct val="114000"/>
              </a:lnSpc>
            </a:pPr>
            <a:r>
              <a:rPr lang="pt-BR" sz="2400" dirty="0" smtClean="0">
                <a:latin typeface="Tahoma" charset="0"/>
              </a:rPr>
              <a:t>são </a:t>
            </a:r>
            <a:r>
              <a:rPr lang="pt-BR" sz="2400" b="1" dirty="0">
                <a:latin typeface="Tahoma" charset="0"/>
              </a:rPr>
              <a:t>mais atrativos para gerentes </a:t>
            </a:r>
            <a:r>
              <a:rPr lang="pt-BR" sz="2400" dirty="0" smtClean="0">
                <a:latin typeface="Tahoma" charset="0"/>
              </a:rPr>
              <a:t>de projetos;</a:t>
            </a:r>
          </a:p>
          <a:p>
            <a:pPr lvl="2">
              <a:lnSpc>
                <a:spcPct val="114000"/>
              </a:lnSpc>
            </a:pPr>
            <a:r>
              <a:rPr lang="pt-BR" sz="2200" dirty="0" smtClean="0">
                <a:latin typeface="Tahoma" charset="0"/>
              </a:rPr>
              <a:t>do que </a:t>
            </a:r>
            <a:r>
              <a:rPr lang="pt-BR" sz="2200" dirty="0">
                <a:latin typeface="Tahoma" charset="0"/>
              </a:rPr>
              <a:t>para a maioria dos </a:t>
            </a:r>
            <a:r>
              <a:rPr lang="pt-BR" sz="2200" dirty="0" smtClean="0">
                <a:latin typeface="Tahoma" charset="0"/>
              </a:rPr>
              <a:t>desenvolvedores;</a:t>
            </a:r>
            <a:endParaRPr lang="pt-BR" sz="2200" dirty="0">
              <a:latin typeface="Tahoma" charset="0"/>
            </a:endParaRPr>
          </a:p>
          <a:p>
            <a:pPr lvl="1">
              <a:lnSpc>
                <a:spcPct val="114000"/>
              </a:lnSpc>
            </a:pPr>
            <a:r>
              <a:rPr lang="pt-BR" sz="2400" b="1" dirty="0" smtClean="0">
                <a:latin typeface="Tahoma" charset="0"/>
              </a:rPr>
              <a:t>segmenta</a:t>
            </a:r>
            <a:r>
              <a:rPr lang="pt-BR" sz="2400" dirty="0" smtClean="0">
                <a:latin typeface="Tahoma" charset="0"/>
              </a:rPr>
              <a:t> </a:t>
            </a:r>
            <a:r>
              <a:rPr lang="pt-BR" sz="2400" dirty="0">
                <a:latin typeface="Tahoma" charset="0"/>
              </a:rPr>
              <a:t>o </a:t>
            </a:r>
            <a:r>
              <a:rPr lang="pt-BR" sz="2400" b="1" dirty="0">
                <a:latin typeface="Tahoma" charset="0"/>
              </a:rPr>
              <a:t>desenvolvimento de </a:t>
            </a:r>
            <a:r>
              <a:rPr lang="pt-BR" sz="2400" b="1" i="1" dirty="0">
                <a:latin typeface="Tahoma" charset="0"/>
              </a:rPr>
              <a:t>software</a:t>
            </a:r>
            <a:r>
              <a:rPr lang="pt-BR" sz="2400" b="1" dirty="0">
                <a:latin typeface="Tahoma" charset="0"/>
              </a:rPr>
              <a:t> em </a:t>
            </a:r>
            <a:r>
              <a:rPr lang="pt-BR" sz="2400" b="1" dirty="0" smtClean="0">
                <a:latin typeface="Tahoma" charset="0"/>
              </a:rPr>
              <a:t>especialistas</a:t>
            </a:r>
            <a:r>
              <a:rPr lang="pt-BR" sz="2400" dirty="0" smtClean="0">
                <a:latin typeface="Tahoma" charset="0"/>
              </a:rPr>
              <a:t>;</a:t>
            </a:r>
          </a:p>
          <a:p>
            <a:pPr lvl="2">
              <a:lnSpc>
                <a:spcPct val="114000"/>
              </a:lnSpc>
            </a:pPr>
            <a:r>
              <a:rPr lang="pt-BR" sz="2200" dirty="0" smtClean="0">
                <a:latin typeface="Tahoma" charset="0"/>
              </a:rPr>
              <a:t>que </a:t>
            </a:r>
            <a:r>
              <a:rPr lang="pt-BR" sz="2200" b="1" dirty="0">
                <a:latin typeface="Tahoma" charset="0"/>
              </a:rPr>
              <a:t>não possuem visão do </a:t>
            </a:r>
            <a:r>
              <a:rPr lang="pt-BR" sz="2200" b="1" dirty="0" smtClean="0">
                <a:latin typeface="Tahoma" charset="0"/>
              </a:rPr>
              <a:t>todo</a:t>
            </a:r>
            <a:r>
              <a:rPr lang="pt-BR" sz="2200" dirty="0" smtClean="0">
                <a:latin typeface="Tahoma" charset="0"/>
              </a:rPr>
              <a:t>;</a:t>
            </a:r>
            <a:endParaRPr lang="pt-BR" sz="2200" dirty="0">
              <a:latin typeface="Tahoma" charset="0"/>
            </a:endParaRPr>
          </a:p>
          <a:p>
            <a:pPr lvl="1">
              <a:lnSpc>
                <a:spcPct val="114000"/>
              </a:lnSpc>
            </a:pPr>
            <a:r>
              <a:rPr lang="pt-BR" sz="2400" dirty="0" smtClean="0">
                <a:latin typeface="Tahoma" charset="0"/>
              </a:rPr>
              <a:t>muitas </a:t>
            </a:r>
            <a:r>
              <a:rPr lang="pt-BR" sz="2400" dirty="0">
                <a:latin typeface="Tahoma" charset="0"/>
              </a:rPr>
              <a:t>vezes são </a:t>
            </a:r>
            <a:r>
              <a:rPr lang="pt-BR" sz="2400" b="1" dirty="0" smtClean="0">
                <a:latin typeface="Tahoma" charset="0"/>
              </a:rPr>
              <a:t>abandonados</a:t>
            </a:r>
            <a:r>
              <a:rPr lang="pt-BR" sz="2400" dirty="0" smtClean="0">
                <a:latin typeface="Tahoma" charset="0"/>
              </a:rPr>
              <a:t>;</a:t>
            </a:r>
          </a:p>
          <a:p>
            <a:pPr lvl="2">
              <a:lnSpc>
                <a:spcPct val="114000"/>
              </a:lnSpc>
            </a:pPr>
            <a:r>
              <a:rPr lang="pt-BR" sz="2200" dirty="0" smtClean="0">
                <a:latin typeface="Tahoma" charset="0"/>
              </a:rPr>
              <a:t>em </a:t>
            </a:r>
            <a:r>
              <a:rPr lang="pt-BR" sz="2200" b="1" dirty="0">
                <a:latin typeface="Tahoma" charset="0"/>
              </a:rPr>
              <a:t>situações críticas</a:t>
            </a:r>
            <a:r>
              <a:rPr lang="pt-BR" sz="2200" dirty="0" smtClean="0">
                <a:latin typeface="Tahoma" charset="0"/>
              </a:rPr>
              <a:t>.</a:t>
            </a:r>
            <a:endParaRPr lang="pt-BR" sz="2200" dirty="0">
              <a:latin typeface="Tahoma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42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Referências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Tahoma"/>
                <a:cs typeface="Tahoma"/>
              </a:rPr>
              <a:t>KROLL, </a:t>
            </a:r>
            <a:r>
              <a:rPr lang="en-US" sz="2400" dirty="0" smtClean="0">
                <a:latin typeface="Tahoma"/>
                <a:cs typeface="Tahoma"/>
              </a:rPr>
              <a:t>Per; </a:t>
            </a:r>
            <a:r>
              <a:rPr lang="en-US" sz="2400" dirty="0">
                <a:latin typeface="Tahoma"/>
                <a:cs typeface="Tahoma"/>
              </a:rPr>
              <a:t>KRUCHTEN, </a:t>
            </a:r>
            <a:r>
              <a:rPr lang="en-US" sz="2400" dirty="0" smtClean="0">
                <a:latin typeface="Tahoma"/>
                <a:cs typeface="Tahoma"/>
              </a:rPr>
              <a:t>Philippe. </a:t>
            </a:r>
            <a:r>
              <a:rPr lang="en-US" sz="2400" b="1" dirty="0">
                <a:latin typeface="Tahoma"/>
                <a:cs typeface="Tahoma"/>
              </a:rPr>
              <a:t>The Rational Unified Process </a:t>
            </a:r>
            <a:r>
              <a:rPr lang="en-US" sz="2400" b="1" dirty="0" smtClean="0">
                <a:latin typeface="Tahoma"/>
                <a:cs typeface="Tahoma"/>
              </a:rPr>
              <a:t>made easy: a </a:t>
            </a:r>
            <a:r>
              <a:rPr lang="en-US" sz="2400" b="1" dirty="0">
                <a:latin typeface="Tahoma"/>
                <a:cs typeface="Tahoma"/>
              </a:rPr>
              <a:t>practitioner’s guide to the RUP</a:t>
            </a:r>
            <a:r>
              <a:rPr lang="en-US" sz="2400" dirty="0">
                <a:latin typeface="Tahoma"/>
                <a:cs typeface="Tahoma"/>
              </a:rPr>
              <a:t>. </a:t>
            </a:r>
            <a:r>
              <a:rPr lang="en-US" sz="2400" dirty="0" smtClean="0">
                <a:latin typeface="Tahoma"/>
                <a:cs typeface="Tahoma"/>
              </a:rPr>
              <a:t>2003</a:t>
            </a:r>
            <a:r>
              <a:rPr lang="en-US" sz="2400" dirty="0">
                <a:latin typeface="Tahoma"/>
                <a:cs typeface="Tahom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2400" dirty="0" smtClean="0">
                <a:latin typeface="Tahoma"/>
                <a:cs typeface="Tahoma"/>
              </a:rPr>
              <a:t>PRESSMAN</a:t>
            </a:r>
            <a:r>
              <a:rPr lang="en-US" sz="2400" dirty="0">
                <a:latin typeface="Tahoma"/>
                <a:cs typeface="Tahoma"/>
              </a:rPr>
              <a:t>, Roger. </a:t>
            </a:r>
            <a:r>
              <a:rPr lang="en-US" sz="2400" b="1" dirty="0" err="1">
                <a:latin typeface="Tahoma"/>
                <a:cs typeface="Tahoma"/>
              </a:rPr>
              <a:t>Engenharia</a:t>
            </a:r>
            <a:r>
              <a:rPr lang="en-US" sz="2400" b="1" dirty="0">
                <a:latin typeface="Tahoma"/>
                <a:cs typeface="Tahoma"/>
              </a:rPr>
              <a:t> de </a:t>
            </a:r>
            <a:r>
              <a:rPr lang="en-US" sz="2400" b="1" i="1" dirty="0">
                <a:latin typeface="Tahoma"/>
                <a:cs typeface="Tahoma"/>
              </a:rPr>
              <a:t>software</a:t>
            </a:r>
            <a:r>
              <a:rPr lang="en-US" sz="2400" b="1" dirty="0">
                <a:latin typeface="Tahoma"/>
                <a:cs typeface="Tahoma"/>
              </a:rPr>
              <a:t>: </a:t>
            </a:r>
            <a:r>
              <a:rPr lang="en-US" sz="2400" b="1" dirty="0" err="1">
                <a:latin typeface="Tahoma"/>
                <a:cs typeface="Tahoma"/>
              </a:rPr>
              <a:t>uma</a:t>
            </a:r>
            <a:r>
              <a:rPr lang="en-US" sz="2400" b="1" dirty="0">
                <a:latin typeface="Tahoma"/>
                <a:cs typeface="Tahoma"/>
              </a:rPr>
              <a:t> </a:t>
            </a:r>
            <a:r>
              <a:rPr lang="en-US" sz="2400" b="1" dirty="0" err="1">
                <a:latin typeface="Tahoma"/>
                <a:cs typeface="Tahoma"/>
              </a:rPr>
              <a:t>abordagem</a:t>
            </a:r>
            <a:r>
              <a:rPr lang="en-US" sz="2400" b="1" dirty="0">
                <a:latin typeface="Tahoma"/>
                <a:cs typeface="Tahoma"/>
              </a:rPr>
              <a:t> </a:t>
            </a:r>
            <a:r>
              <a:rPr lang="en-US" sz="2400" b="1" dirty="0" err="1">
                <a:latin typeface="Tahoma"/>
                <a:cs typeface="Tahoma"/>
              </a:rPr>
              <a:t>profissional</a:t>
            </a:r>
            <a:r>
              <a:rPr lang="en-US" sz="2400" dirty="0">
                <a:latin typeface="Tahoma"/>
                <a:cs typeface="Tahoma"/>
              </a:rPr>
              <a:t>. </a:t>
            </a:r>
            <a:r>
              <a:rPr lang="bg-BG" sz="2400" dirty="0" smtClean="0">
                <a:latin typeface="Tahoma"/>
                <a:cs typeface="Tahoma"/>
              </a:rPr>
              <a:t>Capítulo </a:t>
            </a:r>
            <a:r>
              <a:rPr lang="bg-BG" sz="2400" dirty="0" smtClean="0">
                <a:latin typeface="Tahoma"/>
                <a:cs typeface="Tahoma"/>
              </a:rPr>
              <a:t>2</a:t>
            </a:r>
            <a:r>
              <a:rPr lang="en-US" sz="2400" dirty="0" smtClean="0">
                <a:latin typeface="Tahoma"/>
                <a:cs typeface="Tahoma"/>
              </a:rPr>
              <a:t>. </a:t>
            </a:r>
            <a:endParaRPr lang="en-US" sz="2400" dirty="0">
              <a:latin typeface="Tahoma"/>
              <a:cs typeface="Tahoma"/>
            </a:endParaRPr>
          </a:p>
          <a:p>
            <a:pPr>
              <a:lnSpc>
                <a:spcPct val="130000"/>
              </a:lnSpc>
            </a:pPr>
            <a:r>
              <a:rPr lang="en-US" sz="2400" dirty="0" smtClean="0">
                <a:latin typeface="Tahoma"/>
                <a:cs typeface="Tahoma"/>
              </a:rPr>
              <a:t>SOMMERVILLE</a:t>
            </a:r>
            <a:r>
              <a:rPr lang="en-US" sz="2400" dirty="0">
                <a:latin typeface="Tahoma"/>
                <a:cs typeface="Tahoma"/>
              </a:rPr>
              <a:t>, Ian. </a:t>
            </a:r>
            <a:r>
              <a:rPr lang="en-US" sz="2400" b="1" dirty="0" err="1">
                <a:latin typeface="Tahoma"/>
                <a:cs typeface="Tahoma"/>
              </a:rPr>
              <a:t>Engenharia</a:t>
            </a:r>
            <a:r>
              <a:rPr lang="en-US" sz="2400" b="1" dirty="0">
                <a:latin typeface="Tahoma"/>
                <a:cs typeface="Tahoma"/>
              </a:rPr>
              <a:t> de </a:t>
            </a:r>
            <a:r>
              <a:rPr lang="en-US" sz="2400" b="1" i="1" dirty="0">
                <a:latin typeface="Tahoma"/>
                <a:cs typeface="Tahoma"/>
              </a:rPr>
              <a:t>software</a:t>
            </a:r>
            <a:r>
              <a:rPr lang="en-US" sz="2400" dirty="0">
                <a:latin typeface="Tahoma"/>
                <a:cs typeface="Tahoma"/>
              </a:rPr>
              <a:t>. </a:t>
            </a:r>
            <a:r>
              <a:rPr lang="bg-BG" sz="2400" dirty="0" smtClean="0">
                <a:latin typeface="Tahoma"/>
                <a:cs typeface="Tahoma"/>
              </a:rPr>
              <a:t>Capítulo </a:t>
            </a:r>
            <a:r>
              <a:rPr lang="bg-BG" sz="2400" dirty="0" smtClean="0">
                <a:latin typeface="Tahoma"/>
                <a:cs typeface="Tahoma"/>
              </a:rPr>
              <a:t>2.</a:t>
            </a:r>
            <a:endParaRPr lang="bg-BG" sz="2400" dirty="0">
              <a:latin typeface="Tahoma"/>
              <a:cs typeface="Tahoma"/>
            </a:endParaRPr>
          </a:p>
          <a:p>
            <a:pPr>
              <a:lnSpc>
                <a:spcPct val="130000"/>
              </a:lnSpc>
            </a:pPr>
            <a:r>
              <a:rPr lang="en-US" sz="2400" dirty="0" err="1" smtClean="0">
                <a:latin typeface="Tahoma"/>
                <a:cs typeface="Tahoma"/>
              </a:rPr>
              <a:t>Vários</a:t>
            </a:r>
            <a:r>
              <a:rPr lang="en-US" sz="2400" dirty="0" smtClean="0">
                <a:latin typeface="Tahoma"/>
                <a:cs typeface="Tahoma"/>
              </a:rPr>
              <a:t> </a:t>
            </a:r>
            <a:r>
              <a:rPr lang="en-US" sz="2400" dirty="0" err="1">
                <a:latin typeface="Tahoma"/>
                <a:cs typeface="Tahoma"/>
              </a:rPr>
              <a:t>artigos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dirty="0" err="1">
                <a:latin typeface="Tahoma"/>
                <a:cs typeface="Tahoma"/>
              </a:rPr>
              <a:t>sobre</a:t>
            </a:r>
            <a:r>
              <a:rPr lang="en-US" sz="2400" dirty="0">
                <a:latin typeface="Tahoma"/>
                <a:cs typeface="Tahoma"/>
              </a:rPr>
              <a:t> o </a:t>
            </a:r>
            <a:r>
              <a:rPr lang="en-US" sz="2400" dirty="0" smtClean="0">
                <a:latin typeface="Tahoma"/>
                <a:cs typeface="Tahoma"/>
              </a:rPr>
              <a:t>RUP:</a:t>
            </a:r>
            <a:endParaRPr lang="en-US" sz="2400" dirty="0">
              <a:latin typeface="Tahoma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2200" dirty="0">
                <a:latin typeface="Tahoma" charset="0"/>
              </a:rPr>
              <a:t>http://</a:t>
            </a:r>
            <a:r>
              <a:rPr lang="en-US" sz="2200" dirty="0" err="1">
                <a:latin typeface="Tahoma" charset="0"/>
              </a:rPr>
              <a:t>philippe.kruchten.com</a:t>
            </a:r>
            <a:r>
              <a:rPr lang="en-US" sz="2200" dirty="0">
                <a:latin typeface="Tahoma" charset="0"/>
              </a:rPr>
              <a:t>/process/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78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Median.thmx</Template>
  <TotalTime>7630</TotalTime>
  <Words>1231</Words>
  <Application>Microsoft Macintosh PowerPoint</Application>
  <PresentationFormat>On-screen Show (4:3)</PresentationFormat>
  <Paragraphs>213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Median</vt:lpstr>
      <vt:lpstr>PROCESSOS PRESCRITIVOS – UP E RUP</vt:lpstr>
      <vt:lpstr>Processos Prescritivos</vt:lpstr>
      <vt:lpstr>Processos Reais</vt:lpstr>
      <vt:lpstr>PowerPoint Presentation</vt:lpstr>
      <vt:lpstr>Processo Unificado</vt:lpstr>
      <vt:lpstr>Características do Processo Unificado</vt:lpstr>
      <vt:lpstr>Características do Processo Unificado</vt:lpstr>
      <vt:lpstr>Características do Processo Unificado</vt:lpstr>
      <vt:lpstr>Características do Processo Unificado</vt:lpstr>
      <vt:lpstr>Características do Processo Unificado</vt:lpstr>
      <vt:lpstr>Fases x Fluxos</vt:lpstr>
      <vt:lpstr>RUP – Rational Unified Process</vt:lpstr>
      <vt:lpstr>RUP – Rational Unified Process</vt:lpstr>
      <vt:lpstr>Princípios do RUP</vt:lpstr>
      <vt:lpstr>Princípios do RUP</vt:lpstr>
      <vt:lpstr>Atacar os Riscos</vt:lpstr>
      <vt:lpstr>Uso de Componentes Arquiteturais</vt:lpstr>
      <vt:lpstr>Dimensões do RUP</vt:lpstr>
      <vt:lpstr>Iterativo e Incremental</vt:lpstr>
      <vt:lpstr>Gráfico das “Baleias”</vt:lpstr>
      <vt:lpstr>Marcos Principais</vt:lpstr>
      <vt:lpstr>Marcos Principais</vt:lpstr>
      <vt:lpstr>Problemas com Processos Prescritivos</vt:lpstr>
      <vt:lpstr>Referências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EVELINE ALONSO</dc:creator>
  <cp:lastModifiedBy>Eveline Alonso Veloso</cp:lastModifiedBy>
  <cp:revision>508</cp:revision>
  <dcterms:created xsi:type="dcterms:W3CDTF">2022-02-17T12:52:56Z</dcterms:created>
  <dcterms:modified xsi:type="dcterms:W3CDTF">2022-03-20T17:07:10Z</dcterms:modified>
</cp:coreProperties>
</file>