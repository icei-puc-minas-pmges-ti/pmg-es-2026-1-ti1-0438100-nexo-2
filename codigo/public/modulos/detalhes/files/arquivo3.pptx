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6858000" cx="9144000"/>
  <p:notesSz cx="6858000" cy="9144000"/>
  <p:embeddedFontLst>
    <p:embeddedFont>
      <p:font typeface="Tahoma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0" roundtripDataSignature="AMtx7miO+3opuR/33N//pMVg077b4Y0e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Tahoma-regular.fntdata"/><Relationship Id="rId47" Type="http://schemas.openxmlformats.org/officeDocument/2006/relationships/slide" Target="slides/slide41.xml"/><Relationship Id="rId49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pt-BR"/>
              <a:t>Os métodos da engenharia de software fornecem as informações técnicas para se desenvolver software.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pt-BR"/>
              <a:t>Envolvem tarefas.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pt-BR"/>
              <a:t>Baseiam-se em um conjunto de princípios básicos que governam cada área da tecnologia.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 medida que a equipe de software desce do lado esquerdo do V, os requisitos básicos do problema são refinados em representações cada vez mais detalhadas e técnicas do problema e de sua solução. Uma vez gerado o código, a equipe passa para o lado direito do V, basicamente realizando uma série de testes (ações de garantia da qualidade) que validam cada um dos modelos criados à medida que a equipe desceu pelo lado esquerdo.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realidade, não há nenhuma diferença fundamental entre o ciclo de vida em cascata e o modelo V. O modelo V oferece uma maneira de visualizar como as ações de verificação e validação são aplicadas a um trabalho de engenharia anterior.</a:t>
            </a:r>
            <a:endParaRPr/>
          </a:p>
        </p:txBody>
      </p:sp>
      <p:sp>
        <p:nvSpPr>
          <p:cNvPr id="286" name="Google Shape;286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pt-BR" sz="1200"/>
              <a:t>Primeiro circuito em volta da espiral (iniciando na linha de fluxo interna mais próxima ao centro) pode resultar no desenvolvimento de uma especificação de produto; passagens subsequentes em torno da espiral podem ser usadas para desenvolver um protótipo e, então, progressivamente, versões cada vez mais sofisticadas do </a:t>
            </a:r>
            <a:r>
              <a:rPr i="1" lang="pt-BR" sz="1200"/>
              <a:t>software</a:t>
            </a:r>
            <a:r>
              <a:rPr lang="pt-BR" sz="1200"/>
              <a:t>.</a:t>
            </a:r>
            <a:endParaRPr sz="1200"/>
          </a:p>
        </p:txBody>
      </p:sp>
      <p:sp>
        <p:nvSpPr>
          <p:cNvPr id="351" name="Google Shape;351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CCB: Comitê para Controle de Mudanças – Change Control Board</a:t>
            </a:r>
            <a:endParaRPr/>
          </a:p>
        </p:txBody>
      </p:sp>
      <p:sp>
        <p:nvSpPr>
          <p:cNvPr id="415" name="Google Shape;415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lang="pt-BR" sz="1200">
                <a:latin typeface="Tahoma"/>
                <a:ea typeface="Tahoma"/>
                <a:cs typeface="Tahoma"/>
                <a:sym typeface="Tahoma"/>
              </a:rPr>
              <a:t>NBR ISO/IEC 12207:1998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 ISO/IEC que define </a:t>
            </a:r>
            <a:r>
              <a:rPr b="0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 de Engenharia de </a:t>
            </a:r>
            <a:r>
              <a:rPr b="0"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b="0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atividades e tarefas que são associadas com os processos do ciclo de vida do </a:t>
            </a:r>
            <a:r>
              <a:rPr b="0"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b="0" i="0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23" name="Google Shape;423;p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dk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5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" name="Google Shape;18;p45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" name="Google Shape;19;p45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" name="Google Shape;20;p45"/>
          <p:cNvSpPr txBox="1"/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5"/>
          <p:cNvSpPr txBox="1"/>
          <p:nvPr>
            <p:ph idx="1" type="subTitle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6"/>
          <p:cNvSpPr txBox="1"/>
          <p:nvPr>
            <p:ph idx="11" type="ftr"/>
          </p:nvPr>
        </p:nvSpPr>
        <p:spPr>
          <a:xfrm>
            <a:off x="609596" y="624817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dk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4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" name="Google Shape;35;p44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" name="Google Shape;36;p44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" name="Google Shape;37;p44"/>
          <p:cNvSpPr txBox="1"/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" type="subTitle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 rotWithShape="1">
          <a:blip r:embed="rId2">
            <a:alphaModFix/>
          </a:blip>
          <a:tile algn="tl" flip="none" tx="0" sx="100000" ty="0" sy="100000"/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>
            <p:ph idx="1" type="body"/>
          </p:nvPr>
        </p:nvSpPr>
        <p:spPr>
          <a:xfrm>
            <a:off x="1371600" y="2743200"/>
            <a:ext cx="7123113" cy="167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68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1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1" name="Google Shape;41;p47"/>
          <p:cNvSpPr/>
          <p:nvPr/>
        </p:nvSpPr>
        <p:spPr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" name="Google Shape;42;p4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3" name="Google Shape;43;p47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" name="Google Shape;44;p47"/>
          <p:cNvSpPr txBox="1"/>
          <p:nvPr>
            <p:ph type="title"/>
          </p:nvPr>
        </p:nvSpPr>
        <p:spPr>
          <a:xfrm>
            <a:off x="1371600" y="1600200"/>
            <a:ext cx="7620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wentieth Century"/>
              <a:buNone/>
              <a:defRPr b="0" sz="440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7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6" name="Google Shape;46;p47"/>
          <p:cNvSpPr txBox="1"/>
          <p:nvPr>
            <p:ph idx="12" type="sldNum"/>
          </p:nvPr>
        </p:nvSpPr>
        <p:spPr>
          <a:xfrm>
            <a:off x="0" y="1752600"/>
            <a:ext cx="1295400" cy="701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" name="Google Shape;47;p47"/>
          <p:cNvSpPr txBox="1"/>
          <p:nvPr>
            <p:ph idx="11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8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8"/>
          <p:cNvSpPr txBox="1"/>
          <p:nvPr>
            <p:ph idx="1" type="body"/>
          </p:nvPr>
        </p:nvSpPr>
        <p:spPr>
          <a:xfrm>
            <a:off x="609600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2" type="body"/>
          </p:nvPr>
        </p:nvSpPr>
        <p:spPr>
          <a:xfrm>
            <a:off x="4844901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" name="Google Shape;54;p48"/>
          <p:cNvSpPr txBox="1"/>
          <p:nvPr>
            <p:ph idx="11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9"/>
          <p:cNvSpPr txBox="1"/>
          <p:nvPr>
            <p:ph type="title"/>
          </p:nvPr>
        </p:nvSpPr>
        <p:spPr>
          <a:xfrm>
            <a:off x="533400" y="273050"/>
            <a:ext cx="81534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9"/>
          <p:cNvSpPr txBox="1"/>
          <p:nvPr>
            <p:ph idx="1" type="body"/>
          </p:nvPr>
        </p:nvSpPr>
        <p:spPr>
          <a:xfrm>
            <a:off x="609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8" name="Google Shape;58;p49"/>
          <p:cNvSpPr txBox="1"/>
          <p:nvPr>
            <p:ph idx="2" type="body"/>
          </p:nvPr>
        </p:nvSpPr>
        <p:spPr>
          <a:xfrm>
            <a:off x="4800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60" name="Google Shape;60;p49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1" name="Google Shape;61;p49"/>
          <p:cNvSpPr txBox="1"/>
          <p:nvPr>
            <p:ph idx="11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3" type="body"/>
          </p:nvPr>
        </p:nvSpPr>
        <p:spPr>
          <a:xfrm>
            <a:off x="609600" y="1752600"/>
            <a:ext cx="388620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b="1" sz="2000">
                <a:solidFill>
                  <a:srgbClr val="FFFFFF"/>
                </a:solidFill>
              </a:defRPr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3" name="Google Shape;63;p49"/>
          <p:cNvSpPr txBox="1"/>
          <p:nvPr>
            <p:ph idx="4" type="body"/>
          </p:nvPr>
        </p:nvSpPr>
        <p:spPr>
          <a:xfrm>
            <a:off x="4800600" y="1752600"/>
            <a:ext cx="3886200" cy="64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b="1" sz="2000">
                <a:solidFill>
                  <a:srgbClr val="FFFFFF"/>
                </a:solidFill>
              </a:defRPr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0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67" name="Google Shape;67;p50"/>
          <p:cNvSpPr txBox="1"/>
          <p:nvPr>
            <p:ph idx="11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0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1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71" name="Google Shape;71;p51"/>
          <p:cNvSpPr txBox="1"/>
          <p:nvPr>
            <p:ph idx="11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2" type="sldNum"/>
          </p:nvPr>
        </p:nvSpPr>
        <p:spPr>
          <a:xfrm>
            <a:off x="0" y="62484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2"/>
          <p:cNvSpPr txBox="1"/>
          <p:nvPr>
            <p:ph type="title"/>
          </p:nvPr>
        </p:nvSpPr>
        <p:spPr>
          <a:xfrm>
            <a:off x="609600" y="273050"/>
            <a:ext cx="80772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b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2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76" name="Google Shape;76;p52"/>
          <p:cNvSpPr txBox="1"/>
          <p:nvPr>
            <p:ph idx="11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" name="Google Shape;78;p52"/>
          <p:cNvSpPr txBox="1"/>
          <p:nvPr>
            <p:ph idx="1" type="body"/>
          </p:nvPr>
        </p:nvSpPr>
        <p:spPr>
          <a:xfrm>
            <a:off x="609600" y="1752600"/>
            <a:ext cx="1600200" cy="4343400"/>
          </a:xfrm>
          <a:prstGeom prst="rect">
            <a:avLst/>
          </a:prstGeom>
          <a:solidFill>
            <a:schemeClr val="accent2"/>
          </a:solidFill>
          <a:ln cap="sq" cmpd="dbl" w="508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137150" spcFirstLastPara="1" rIns="137150" wrap="square" tIns="182875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08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50"/>
              <a:buNone/>
              <a:defRPr sz="1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7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58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2" type="body"/>
          </p:nvPr>
        </p:nvSpPr>
        <p:spPr>
          <a:xfrm>
            <a:off x="2362200" y="1752600"/>
            <a:ext cx="6400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blipFill rotWithShape="1">
          <a:blip r:embed="rId2">
            <a:alphaModFix/>
          </a:blip>
          <a:tile algn="tl" flip="none" tx="0" sx="100000" ty="0" sy="100000"/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3"/>
          <p:cNvSpPr txBox="1"/>
          <p:nvPr>
            <p:ph idx="1" type="body"/>
          </p:nvPr>
        </p:nvSpPr>
        <p:spPr>
          <a:xfrm>
            <a:off x="1600200" y="5486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020"/>
              <a:buFont typeface="Twentieth Century"/>
              <a:buNone/>
              <a:defRPr sz="1700"/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840"/>
              <a:buFont typeface="Twentieth Century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50"/>
              <a:buFont typeface="Twentieth Century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75"/>
              <a:buFont typeface="Twentieth Century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585"/>
              <a:buFont typeface="Twentieth Century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2" name="Google Shape;82;p53"/>
          <p:cNvSpPr/>
          <p:nvPr/>
        </p:nvSpPr>
        <p:spPr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3" name="Google Shape;83;p53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4" name="Google Shape;84;p53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5" name="Google Shape;85;p53"/>
          <p:cNvSpPr txBox="1"/>
          <p:nvPr>
            <p:ph type="title"/>
          </p:nvPr>
        </p:nvSpPr>
        <p:spPr>
          <a:xfrm>
            <a:off x="1600200" y="4648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wentieth Century"/>
              <a:buNone/>
              <a:defRPr b="0" sz="2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3"/>
          <p:cNvSpPr/>
          <p:nvPr/>
        </p:nvSpPr>
        <p:spPr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7" name="Google Shape;87;p53"/>
          <p:cNvSpPr txBox="1"/>
          <p:nvPr>
            <p:ph idx="10" type="dt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8" name="Google Shape;88;p53"/>
          <p:cNvSpPr txBox="1"/>
          <p:nvPr>
            <p:ph idx="12" type="sldNum"/>
          </p:nvPr>
        </p:nvSpPr>
        <p:spPr>
          <a:xfrm>
            <a:off x="0" y="4667249"/>
            <a:ext cx="1447800" cy="66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9" name="Google Shape;89;p53"/>
          <p:cNvSpPr txBox="1"/>
          <p:nvPr>
            <p:ph idx="11" type="ftr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3"/>
          <p:cNvSpPr/>
          <p:nvPr>
            <p:ph idx="2" type="pic"/>
          </p:nvPr>
        </p:nvSpPr>
        <p:spPr>
          <a:xfrm>
            <a:off x="1560576" y="0"/>
            <a:ext cx="7583424" cy="4568952"/>
          </a:xfrm>
          <a:prstGeom prst="rect">
            <a:avLst/>
          </a:prstGeom>
          <a:solidFill>
            <a:srgbClr val="DCE5EE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4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4"/>
          <p:cNvSpPr txBox="1"/>
          <p:nvPr>
            <p:ph idx="1" type="body"/>
          </p:nvPr>
        </p:nvSpPr>
        <p:spPr>
          <a:xfrm rot="5400000">
            <a:off x="2426208" y="-213360"/>
            <a:ext cx="4526280" cy="8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94" name="Google Shape;94;p54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5" name="Google Shape;95;p54"/>
          <p:cNvSpPr txBox="1"/>
          <p:nvPr>
            <p:ph idx="11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4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5"/>
          <p:cNvSpPr txBox="1"/>
          <p:nvPr>
            <p:ph type="title"/>
          </p:nvPr>
        </p:nvSpPr>
        <p:spPr>
          <a:xfrm rot="5400000">
            <a:off x="4823619" y="2339182"/>
            <a:ext cx="55165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5"/>
          <p:cNvSpPr txBox="1"/>
          <p:nvPr>
            <p:ph idx="1" type="body"/>
          </p:nvPr>
        </p:nvSpPr>
        <p:spPr>
          <a:xfrm rot="5400000">
            <a:off x="480218" y="586582"/>
            <a:ext cx="5516564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00" name="Google Shape;100;p55"/>
          <p:cNvSpPr txBox="1"/>
          <p:nvPr>
            <p:ph idx="10" type="dt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1" name="Google Shape;101;p55"/>
          <p:cNvSpPr txBox="1"/>
          <p:nvPr>
            <p:ph idx="11" type="ftr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5"/>
          <p:cNvSpPr/>
          <p:nvPr/>
        </p:nvSpPr>
        <p:spPr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3" name="Google Shape;103;p55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4" name="Google Shape;104;p5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5" name="Google Shape;105;p55"/>
          <p:cNvSpPr txBox="1"/>
          <p:nvPr>
            <p:ph idx="12" type="sldNum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3"/>
          <p:cNvSpPr txBox="1"/>
          <p:nvPr>
            <p:ph idx="1" type="body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09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b="0" i="0" sz="29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4169" lvl="1" marL="914400" marR="0" rtl="0" algn="l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b="0" i="0" sz="2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8137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b="0" i="0" sz="23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1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43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14;p43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15;p43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2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" name="Google Shape;24;p42"/>
          <p:cNvSpPr txBox="1"/>
          <p:nvPr>
            <p:ph idx="1" type="body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09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b="0" i="0" sz="29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4169" lvl="1" marL="914400" marR="0" rtl="0" algn="l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b="0" i="0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8137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b="0" i="0" sz="23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5" name="Google Shape;25;p42"/>
          <p:cNvSpPr txBox="1"/>
          <p:nvPr>
            <p:ph idx="11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6" name="Google Shape;26;p42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" name="Google Shape;27;p42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" name="Google Shape;28;p42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pt.wikipedia.org/wiki/ISO/IEC_122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ctrTitle"/>
          </p:nvPr>
        </p:nvSpPr>
        <p:spPr>
          <a:xfrm>
            <a:off x="2373115" y="354805"/>
            <a:ext cx="6115538" cy="3945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600"/>
              <a:buFont typeface="Twentieth Century"/>
              <a:buNone/>
            </a:pPr>
            <a:r>
              <a:rPr lang="pt-BR" sz="6600"/>
              <a:t>MODELOS DE PROCESSOS DE </a:t>
            </a:r>
            <a:r>
              <a:rPr i="1" lang="pt-BR" sz="6600"/>
              <a:t>SOFTWARE </a:t>
            </a:r>
            <a:r>
              <a:rPr lang="pt-BR" sz="6600"/>
              <a:t>E DE CICLO DE VIDA</a:t>
            </a:r>
            <a:endParaRPr i="1" sz="6600"/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2373115" y="4435234"/>
            <a:ext cx="6115538" cy="1348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lang="pt-BR" sz="2800"/>
              <a:t>Eveline Alonso Veloso*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SzPts val="1440"/>
              <a:buNone/>
            </a:pPr>
            <a:r>
              <a:rPr lang="pt-BR" sz="2400"/>
              <a:t>* Adaptado do material da Prof.</a:t>
            </a:r>
            <a:r>
              <a:rPr baseline="30000" lang="pt-BR" sz="2400"/>
              <a:t>a</a:t>
            </a:r>
            <a:r>
              <a:rPr lang="pt-BR" sz="2400"/>
              <a:t> Maria Augusta Vieira Nelson</a:t>
            </a:r>
            <a:endParaRPr sz="2400"/>
          </a:p>
        </p:txBody>
      </p:sp>
      <p:sp>
        <p:nvSpPr>
          <p:cNvPr id="112" name="Google Shape;112;p1"/>
          <p:cNvSpPr txBox="1"/>
          <p:nvPr/>
        </p:nvSpPr>
        <p:spPr>
          <a:xfrm>
            <a:off x="136777" y="6126261"/>
            <a:ext cx="1989246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PUC Minas</a:t>
            </a:r>
            <a:endParaRPr sz="3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2403234" y="5961135"/>
            <a:ext cx="572347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Engenharia de </a:t>
            </a:r>
            <a:r>
              <a:rPr i="1" lang="pt-BR" sz="4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i="1" sz="4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O que é um Processo de </a:t>
            </a:r>
            <a:r>
              <a:rPr i="1" lang="pt-BR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?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612647" y="1582613"/>
            <a:ext cx="7984275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Conjunto estruturado de passos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3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necessários para se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desenvolver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um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sistema de </a:t>
            </a:r>
            <a:r>
              <a:rPr b="1" i="1" lang="pt-BR" sz="28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228600" lvl="2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■"/>
            </a:pP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o produto da execução do processo. 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As atividades, as técnicas, a duração, a ordem, a distribuição no tempo;</a:t>
            </a:r>
            <a:endParaRPr/>
          </a:p>
          <a:p>
            <a:pPr indent="-274320" lvl="1" marL="640080" rtl="0" algn="l">
              <a:lnSpc>
                <a:spcPct val="13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podem variar de processo para processo. </a:t>
            </a:r>
            <a:endParaRPr/>
          </a:p>
        </p:txBody>
      </p:sp>
      <p:sp>
        <p:nvSpPr>
          <p:cNvPr id="120" name="Google Shape;120;p2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O que é um Processo de </a:t>
            </a:r>
            <a:r>
              <a:rPr i="1" lang="pt-BR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?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p3"/>
          <p:cNvSpPr txBox="1"/>
          <p:nvPr>
            <p:ph idx="1" type="body"/>
          </p:nvPr>
        </p:nvSpPr>
        <p:spPr>
          <a:xfrm>
            <a:off x="612647" y="1582613"/>
            <a:ext cx="7984275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40"/>
              <a:buChar char="◻"/>
            </a:pPr>
            <a:r>
              <a:rPr lang="pt-BR" sz="4400">
                <a:latin typeface="Tahoma"/>
                <a:ea typeface="Tahoma"/>
                <a:cs typeface="Tahoma"/>
                <a:sym typeface="Tahoma"/>
              </a:rPr>
              <a:t>É a “</a:t>
            </a:r>
            <a:r>
              <a:rPr b="1" lang="pt-BR" sz="4400">
                <a:latin typeface="Tahoma"/>
                <a:ea typeface="Tahoma"/>
                <a:cs typeface="Tahoma"/>
                <a:sym typeface="Tahoma"/>
              </a:rPr>
              <a:t>receita</a:t>
            </a:r>
            <a:r>
              <a:rPr lang="pt-BR" sz="4400">
                <a:latin typeface="Tahoma"/>
                <a:ea typeface="Tahoma"/>
                <a:cs typeface="Tahoma"/>
                <a:sym typeface="Tahoma"/>
              </a:rPr>
              <a:t>” seguida por um projeto:</a:t>
            </a:r>
            <a:endParaRPr sz="44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40000"/>
              </a:lnSpc>
              <a:spcBef>
                <a:spcPts val="550"/>
              </a:spcBef>
              <a:spcAft>
                <a:spcPts val="0"/>
              </a:spcAft>
              <a:buSzPts val="2800"/>
              <a:buChar char="🞑"/>
            </a:pP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não é o produto final;</a:t>
            </a:r>
            <a:endParaRPr/>
          </a:p>
          <a:p>
            <a:pPr indent="-274320" lvl="1" marL="640080" rtl="0" algn="l">
              <a:lnSpc>
                <a:spcPct val="140000"/>
              </a:lnSpc>
              <a:spcBef>
                <a:spcPts val="550"/>
              </a:spcBef>
              <a:spcAft>
                <a:spcPts val="0"/>
              </a:spcAft>
              <a:buSzPts val="2800"/>
              <a:buChar char="🞑"/>
            </a:pP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não é o projeto.</a:t>
            </a:r>
            <a:endParaRPr/>
          </a:p>
        </p:txBody>
      </p:sp>
      <p:sp>
        <p:nvSpPr>
          <p:cNvPr id="127" name="Google Shape;127;p3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Camadas da Engenharia de </a:t>
            </a:r>
            <a:r>
              <a:rPr i="1" lang="pt-BR">
                <a:latin typeface="Tahoma"/>
                <a:ea typeface="Tahoma"/>
                <a:cs typeface="Tahoma"/>
                <a:sym typeface="Tahoma"/>
              </a:rPr>
              <a:t>Software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" name="Google Shape;134;p4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" y="2368219"/>
            <a:ext cx="8351520" cy="29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O que é um Modelo de Processo de </a:t>
            </a:r>
            <a:r>
              <a:rPr i="1" lang="pt-BR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?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1" name="Google Shape;141;p5"/>
          <p:cNvSpPr txBox="1"/>
          <p:nvPr>
            <p:ph idx="1" type="body"/>
          </p:nvPr>
        </p:nvSpPr>
        <p:spPr>
          <a:xfrm>
            <a:off x="612647" y="1582612"/>
            <a:ext cx="7992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160"/>
              <a:buChar char="◻"/>
            </a:pPr>
            <a:r>
              <a:rPr b="1" lang="pt-BR" sz="3600">
                <a:latin typeface="Tahoma"/>
                <a:ea typeface="Tahoma"/>
                <a:cs typeface="Tahoma"/>
                <a:sym typeface="Tahoma"/>
              </a:rPr>
              <a:t>Representação abstrata</a:t>
            </a:r>
            <a:r>
              <a:rPr lang="pt-BR" sz="3600">
                <a:latin typeface="Tahoma"/>
                <a:ea typeface="Tahoma"/>
                <a:cs typeface="Tahoma"/>
                <a:sym typeface="Tahoma"/>
              </a:rPr>
              <a:t> de um processo de </a:t>
            </a:r>
            <a:r>
              <a:rPr i="1" lang="pt-BR" sz="36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3600">
                <a:latin typeface="Tahoma"/>
                <a:ea typeface="Tahoma"/>
                <a:cs typeface="Tahoma"/>
                <a:sym typeface="Tahoma"/>
              </a:rPr>
              <a:t>.</a:t>
            </a:r>
            <a:endParaRPr sz="36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40000"/>
              </a:lnSpc>
              <a:spcBef>
                <a:spcPts val="700"/>
              </a:spcBef>
              <a:spcAft>
                <a:spcPts val="0"/>
              </a:spcAft>
              <a:buSzPts val="2160"/>
              <a:buChar char="◻"/>
            </a:pPr>
            <a:r>
              <a:rPr lang="pt-BR" sz="3600">
                <a:latin typeface="Tahoma"/>
                <a:ea typeface="Tahoma"/>
                <a:cs typeface="Tahoma"/>
                <a:sym typeface="Tahoma"/>
              </a:rPr>
              <a:t>Em geral, </a:t>
            </a:r>
            <a:r>
              <a:rPr b="1" lang="pt-BR" sz="3600">
                <a:latin typeface="Tahoma"/>
                <a:ea typeface="Tahoma"/>
                <a:cs typeface="Tahoma"/>
                <a:sym typeface="Tahoma"/>
              </a:rPr>
              <a:t>baseia-se</a:t>
            </a:r>
            <a:r>
              <a:rPr lang="pt-BR" sz="3600">
                <a:latin typeface="Tahoma"/>
                <a:ea typeface="Tahoma"/>
                <a:cs typeface="Tahoma"/>
                <a:sym typeface="Tahoma"/>
              </a:rPr>
              <a:t> no </a:t>
            </a:r>
            <a:r>
              <a:rPr b="1" lang="pt-BR" sz="3600">
                <a:latin typeface="Tahoma"/>
                <a:ea typeface="Tahoma"/>
                <a:cs typeface="Tahoma"/>
                <a:sym typeface="Tahoma"/>
              </a:rPr>
              <a:t>modelo de ciclo de vida</a:t>
            </a:r>
            <a:r>
              <a:rPr lang="pt-BR" sz="3600">
                <a:latin typeface="Tahoma"/>
                <a:ea typeface="Tahoma"/>
                <a:cs typeface="Tahoma"/>
                <a:sym typeface="Tahoma"/>
              </a:rPr>
              <a:t> do </a:t>
            </a:r>
            <a:r>
              <a:rPr i="1" lang="pt-BR" sz="36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3600">
                <a:latin typeface="Tahoma"/>
                <a:ea typeface="Tahoma"/>
                <a:cs typeface="Tahoma"/>
                <a:sym typeface="Tahoma"/>
              </a:rPr>
              <a:t>.</a:t>
            </a:r>
            <a:endParaRPr sz="3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" name="Google Shape;142;p5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Modelo de Processo de </a:t>
            </a:r>
            <a:r>
              <a:rPr i="1" lang="pt-BR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– Exemplo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8" name="Google Shape;148;p6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Surgimento de novos projetos.png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32113"/>
            <a:ext cx="9144000" cy="4165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ahoma"/>
              <a:buNone/>
            </a:pPr>
            <a:r>
              <a:rPr lang="pt-BR" sz="4800">
                <a:latin typeface="Tahoma"/>
                <a:ea typeface="Tahoma"/>
                <a:cs typeface="Tahoma"/>
                <a:sym typeface="Tahoma"/>
              </a:rPr>
              <a:t>O que é Ciclo de Vida?</a:t>
            </a:r>
            <a:endParaRPr sz="4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p7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Compreende a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vida útil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 do </a:t>
            </a:r>
            <a:r>
              <a:rPr i="1" lang="pt-BR" sz="32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desde a concepção da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ideia inicial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do </a:t>
            </a:r>
            <a:r>
              <a:rPr i="1" lang="pt-BR" sz="28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até o momento em que é aposentado e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retirado do ambiente de produção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na empresa.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Determina seu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caráter temporal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.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6" name="Google Shape;156;p7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ahoma"/>
              <a:buNone/>
            </a:pPr>
            <a:r>
              <a:rPr lang="pt-BR" sz="4800">
                <a:latin typeface="Tahoma"/>
                <a:ea typeface="Tahoma"/>
                <a:cs typeface="Tahoma"/>
                <a:sym typeface="Tahoma"/>
              </a:rPr>
              <a:t>O que é Ciclo de Vida?</a:t>
            </a:r>
            <a:endParaRPr sz="4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8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1" marL="3200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◻"/>
            </a:pP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"Estrutura contendo </a:t>
            </a: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processos, atividades e tarefas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 envolvidas no </a:t>
            </a: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desenvolvimento, operação e manutenção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 de um produto de </a:t>
            </a:r>
            <a:r>
              <a:rPr i="1" lang="pt-BR" sz="30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, abrangendo a </a:t>
            </a: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vida do sistema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, desde a </a:t>
            </a: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definição 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de seus </a:t>
            </a: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requisitos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até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 o </a:t>
            </a: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término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 de seu </a:t>
            </a: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uso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."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" name="Google Shape;163;p8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612648" y="5558847"/>
            <a:ext cx="8150352" cy="399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5" marL="1289304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NBR ISO/IEC 12207:1998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365760" marR="0" rtl="0" algn="l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Quais são os Elementos de um Modelo de Processo de </a:t>
            </a:r>
            <a:r>
              <a:rPr i="1" lang="pt-BR" sz="40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?</a:t>
            </a:r>
            <a:endParaRPr i="1" sz="4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0" name="Google Shape;170;p9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1" marL="3200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Atividade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: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termo genérico utilizado para designar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unidades de trabalho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indica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o que precisa ser feito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28600" lvl="2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■"/>
            </a:pP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e a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técnica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que deve ser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empregada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.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  <a:p>
            <a:pPr indent="-320040" lvl="1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Técnica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: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método ou prática aplicável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à execução de um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conjunto de atividades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1" name="Google Shape;171;p9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Quais são os Elementos de um Modelo de Processo de </a:t>
            </a:r>
            <a:r>
              <a:rPr i="1" lang="pt-BR" sz="40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?</a:t>
            </a:r>
            <a:endParaRPr i="1" sz="4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Google Shape;177;p10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680"/>
              <a:buChar char="◻"/>
            </a:pP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Fase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274320" lvl="1" marL="640080" rtl="0" algn="l">
              <a:lnSpc>
                <a:spcPct val="114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b="1" lang="pt-BR">
                <a:latin typeface="Tahoma"/>
                <a:ea typeface="Tahoma"/>
                <a:cs typeface="Tahoma"/>
                <a:sym typeface="Tahoma"/>
              </a:rPr>
              <a:t>divisão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maior de um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processo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28600" lvl="2" marL="91440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800"/>
              <a:buChar char="■"/>
            </a:pP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para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fins gerenciais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;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14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corresponde aos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pontos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principais de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aceitação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por parte do cliente.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Iteração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274320" lvl="1" marL="640080" rtl="0" algn="l">
              <a:lnSpc>
                <a:spcPct val="114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b="1" lang="pt-BR">
                <a:latin typeface="Tahoma"/>
                <a:ea typeface="Tahoma"/>
                <a:cs typeface="Tahoma"/>
                <a:sym typeface="Tahoma"/>
              </a:rPr>
              <a:t>parte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constituinte de uma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fase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;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14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b="1" lang="pt-BR">
                <a:latin typeface="Tahoma"/>
                <a:ea typeface="Tahoma"/>
                <a:cs typeface="Tahoma"/>
                <a:sym typeface="Tahoma"/>
              </a:rPr>
              <a:t>atinge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um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conjunto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bem definido de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metas parciais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de um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projeto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</p:txBody>
      </p:sp>
      <p:sp>
        <p:nvSpPr>
          <p:cNvPr id="178" name="Google Shape;178;p10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Quais são os Elementos de um Modelo de Processo de </a:t>
            </a:r>
            <a:r>
              <a:rPr i="1" lang="pt-BR" sz="40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?</a:t>
            </a:r>
            <a:endParaRPr i="1" sz="4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" name="Google Shape;184;p11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80"/>
              <a:buChar char="◻"/>
            </a:pP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Produto ou artefato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: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10000"/>
              </a:lnSpc>
              <a:spcBef>
                <a:spcPts val="550"/>
              </a:spcBef>
              <a:spcAft>
                <a:spcPts val="0"/>
              </a:spcAft>
              <a:buSzPts val="1680"/>
              <a:buChar char="🞑"/>
            </a:pP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resultado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de uma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atividade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do processo;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10000"/>
              </a:lnSpc>
              <a:spcBef>
                <a:spcPts val="550"/>
              </a:spcBef>
              <a:spcAft>
                <a:spcPts val="0"/>
              </a:spcAft>
              <a:buSzPts val="1680"/>
              <a:buChar char="🞑"/>
            </a:pP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representa um dos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resultados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da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execução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do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processo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10000"/>
              </a:lnSpc>
              <a:spcBef>
                <a:spcPts val="550"/>
              </a:spcBef>
              <a:spcAft>
                <a:spcPts val="0"/>
              </a:spcAft>
              <a:buSzPts val="1680"/>
              <a:buChar char="🞑"/>
            </a:pP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O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término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de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fases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e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iterações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geralmente está associado com a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entrega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de um conjunto de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artefatos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320040" lvl="1" marL="32004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◻"/>
            </a:pP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Insumo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: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10000"/>
              </a:lnSpc>
              <a:spcBef>
                <a:spcPts val="550"/>
              </a:spcBef>
              <a:spcAft>
                <a:spcPts val="0"/>
              </a:spcAft>
              <a:buSzPts val="1680"/>
              <a:buChar char="🞑"/>
            </a:pP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artefato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que serve de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entrada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para a execução de uma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atividade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do processo.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" name="Google Shape;185;p11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Quais são os Elementos de um Modelo de Processo de </a:t>
            </a:r>
            <a:r>
              <a:rPr i="1" lang="pt-BR" sz="40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?</a:t>
            </a:r>
            <a:endParaRPr i="1" sz="4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1" name="Google Shape;191;p12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Papel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: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reflete as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responsabilidades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das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pessoas envolvidas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no processo.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920"/>
              <a:buChar char="◻"/>
            </a:pP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Pré e pós-condições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: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declarações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que são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verdadeiras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28600" lvl="2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50"/>
              <a:buChar char="■"/>
            </a:pPr>
            <a:r>
              <a:rPr b="1" lang="pt-BR" sz="2600">
                <a:latin typeface="Tahoma"/>
                <a:ea typeface="Tahoma"/>
                <a:cs typeface="Tahoma"/>
                <a:sym typeface="Tahoma"/>
              </a:rPr>
              <a:t>antes e depois</a:t>
            </a:r>
            <a:r>
              <a:rPr lang="pt-BR" sz="2600">
                <a:latin typeface="Tahoma"/>
                <a:ea typeface="Tahoma"/>
                <a:cs typeface="Tahoma"/>
                <a:sym typeface="Tahoma"/>
              </a:rPr>
              <a:t> de uma </a:t>
            </a:r>
            <a:r>
              <a:rPr b="1" lang="pt-BR" sz="2600">
                <a:latin typeface="Tahoma"/>
                <a:ea typeface="Tahoma"/>
                <a:cs typeface="Tahoma"/>
                <a:sym typeface="Tahoma"/>
              </a:rPr>
              <a:t>atividade</a:t>
            </a:r>
            <a:r>
              <a:rPr lang="pt-BR" sz="2600">
                <a:latin typeface="Tahoma"/>
                <a:ea typeface="Tahoma"/>
                <a:cs typeface="Tahoma"/>
                <a:sym typeface="Tahoma"/>
              </a:rPr>
              <a:t> do processo ser </a:t>
            </a:r>
            <a:r>
              <a:rPr b="1" lang="pt-BR" sz="2600">
                <a:latin typeface="Tahoma"/>
                <a:ea typeface="Tahoma"/>
                <a:cs typeface="Tahoma"/>
                <a:sym typeface="Tahoma"/>
              </a:rPr>
              <a:t>executada</a:t>
            </a:r>
            <a:r>
              <a:rPr lang="pt-BR" sz="2600">
                <a:latin typeface="Tahoma"/>
                <a:ea typeface="Tahoma"/>
                <a:cs typeface="Tahoma"/>
                <a:sym typeface="Tahoma"/>
              </a:rPr>
              <a:t> ou um </a:t>
            </a:r>
            <a:r>
              <a:rPr b="1" lang="pt-BR" sz="2600">
                <a:latin typeface="Tahoma"/>
                <a:ea typeface="Tahoma"/>
                <a:cs typeface="Tahoma"/>
                <a:sym typeface="Tahoma"/>
              </a:rPr>
              <a:t>produto</a:t>
            </a:r>
            <a:r>
              <a:rPr lang="pt-BR" sz="2600">
                <a:latin typeface="Tahoma"/>
                <a:ea typeface="Tahoma"/>
                <a:cs typeface="Tahoma"/>
                <a:sym typeface="Tahoma"/>
              </a:rPr>
              <a:t> ser </a:t>
            </a:r>
            <a:r>
              <a:rPr b="1" lang="pt-BR" sz="2600">
                <a:latin typeface="Tahoma"/>
                <a:ea typeface="Tahoma"/>
                <a:cs typeface="Tahoma"/>
                <a:sym typeface="Tahoma"/>
              </a:rPr>
              <a:t>produzido</a:t>
            </a:r>
            <a:r>
              <a:rPr lang="pt-BR" sz="2600">
                <a:latin typeface="Tahoma"/>
                <a:ea typeface="Tahoma"/>
                <a:cs typeface="Tahoma"/>
                <a:sym typeface="Tahoma"/>
              </a:rPr>
              <a:t>. </a:t>
            </a:r>
            <a:endParaRPr/>
          </a:p>
        </p:txBody>
      </p:sp>
      <p:sp>
        <p:nvSpPr>
          <p:cNvPr id="192" name="Google Shape;192;p12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Elementos de um Modelo de Processo de </a:t>
            </a:r>
            <a:r>
              <a:rPr i="1" lang="pt-BR" sz="40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 – Exemplos</a:t>
            </a:r>
            <a:endParaRPr sz="4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6-02-25 at 10.59.10.png" id="198" name="Google Shape;1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8" y="1597232"/>
            <a:ext cx="5745685" cy="509198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3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6745017" y="3032521"/>
            <a:ext cx="149025" cy="174953"/>
          </a:xfrm>
          <a:prstGeom prst="rect">
            <a:avLst/>
          </a:prstGeom>
          <a:solidFill>
            <a:schemeClr val="lt1"/>
          </a:solidFill>
          <a:ln cap="flat" cmpd="sng" w="10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Elementos de um Modelo de Processo de </a:t>
            </a:r>
            <a:r>
              <a:rPr i="1" lang="pt-BR" sz="40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 – Exemplos</a:t>
            </a:r>
            <a:endParaRPr sz="4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6-02-25 at 10.59.10.png" id="206" name="Google Shape;2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8" y="1597232"/>
            <a:ext cx="5745685" cy="509198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4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6745017" y="3032521"/>
            <a:ext cx="149025" cy="174953"/>
          </a:xfrm>
          <a:prstGeom prst="rect">
            <a:avLst/>
          </a:prstGeom>
          <a:solidFill>
            <a:schemeClr val="lt1"/>
          </a:solidFill>
          <a:ln cap="flat" cmpd="sng" w="10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2511778" y="1597232"/>
            <a:ext cx="2596444" cy="1295545"/>
          </a:xfrm>
          <a:prstGeom prst="ellipse">
            <a:avLst/>
          </a:prstGeom>
          <a:noFill/>
          <a:ln cap="flat" cmpd="sng" w="101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30000">
              <a:srgbClr val="000000">
                <a:alpha val="4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Elementos de um Modelo de Processo de </a:t>
            </a:r>
            <a:r>
              <a:rPr i="1" lang="pt-BR" sz="40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 – Exemplos</a:t>
            </a:r>
            <a:endParaRPr sz="4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6-02-25 at 10.59.10.png" id="215" name="Google Shape;2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8" y="1597232"/>
            <a:ext cx="5745685" cy="509198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5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6745017" y="3032521"/>
            <a:ext cx="149025" cy="174953"/>
          </a:xfrm>
          <a:prstGeom prst="rect">
            <a:avLst/>
          </a:prstGeom>
          <a:solidFill>
            <a:schemeClr val="lt1"/>
          </a:solidFill>
          <a:ln cap="flat" cmpd="sng" w="10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3151080" y="3295782"/>
            <a:ext cx="1141198" cy="1005118"/>
          </a:xfrm>
          <a:prstGeom prst="ellipse">
            <a:avLst/>
          </a:prstGeom>
          <a:noFill/>
          <a:ln cap="flat" cmpd="sng" w="101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30000">
              <a:srgbClr val="000000">
                <a:alpha val="4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Elementos de um Modelo de Processo de </a:t>
            </a:r>
            <a:r>
              <a:rPr i="1" lang="pt-BR" sz="40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 – Exemplos</a:t>
            </a:r>
            <a:endParaRPr sz="4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6-02-25 at 10.59.10.png" id="224" name="Google Shape;2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8" y="1597232"/>
            <a:ext cx="5745685" cy="509198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6745017" y="3032521"/>
            <a:ext cx="149025" cy="174953"/>
          </a:xfrm>
          <a:prstGeom prst="rect">
            <a:avLst/>
          </a:prstGeom>
          <a:solidFill>
            <a:schemeClr val="lt1"/>
          </a:solidFill>
          <a:ln cap="flat" cmpd="sng" w="10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4409093" y="4490119"/>
            <a:ext cx="1300343" cy="1020217"/>
          </a:xfrm>
          <a:prstGeom prst="ellipse">
            <a:avLst/>
          </a:prstGeom>
          <a:noFill/>
          <a:ln cap="flat" cmpd="sng" w="101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30000">
              <a:srgbClr val="000000">
                <a:alpha val="4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Elementos de um Modelo de Processo de </a:t>
            </a:r>
            <a:r>
              <a:rPr i="1" lang="pt-BR" sz="40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 – Exemplos</a:t>
            </a:r>
            <a:endParaRPr sz="4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6-02-25 at 10.59.10.png" id="233" name="Google Shape;2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8" y="1597232"/>
            <a:ext cx="5745685" cy="509198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7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6745017" y="3032521"/>
            <a:ext cx="149025" cy="174953"/>
          </a:xfrm>
          <a:prstGeom prst="rect">
            <a:avLst/>
          </a:prstGeom>
          <a:solidFill>
            <a:schemeClr val="lt1"/>
          </a:solidFill>
          <a:ln cap="flat" cmpd="sng" w="10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3106729" y="4849935"/>
            <a:ext cx="1141198" cy="853917"/>
          </a:xfrm>
          <a:prstGeom prst="ellipse">
            <a:avLst/>
          </a:prstGeom>
          <a:noFill/>
          <a:ln cap="flat" cmpd="sng" w="101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30000">
              <a:srgbClr val="000000">
                <a:alpha val="4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Elementos de um Modelo de Processo de </a:t>
            </a:r>
            <a:r>
              <a:rPr i="1" lang="pt-BR" sz="40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4000">
                <a:latin typeface="Tahoma"/>
                <a:ea typeface="Tahoma"/>
                <a:cs typeface="Tahoma"/>
                <a:sym typeface="Tahoma"/>
              </a:rPr>
              <a:t> – Exemplos</a:t>
            </a:r>
            <a:endParaRPr sz="4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6-02-25 at 10.59.10.png" id="242" name="Google Shape;2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8" y="1597232"/>
            <a:ext cx="5745685" cy="509198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6745017" y="3032521"/>
            <a:ext cx="149025" cy="174953"/>
          </a:xfrm>
          <a:prstGeom prst="rect">
            <a:avLst/>
          </a:prstGeom>
          <a:solidFill>
            <a:schemeClr val="lt1"/>
          </a:solidFill>
          <a:ln cap="flat" cmpd="sng" w="10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1354788" y="3807786"/>
            <a:ext cx="1368037" cy="1216764"/>
          </a:xfrm>
          <a:prstGeom prst="ellipse">
            <a:avLst/>
          </a:prstGeom>
          <a:noFill/>
          <a:ln cap="flat" cmpd="sng" w="101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30000">
              <a:srgbClr val="000000">
                <a:alpha val="4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Modelos de Ciclo de Vida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1" name="Google Shape;251;p19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Modelo Sequencial Linear</a:t>
            </a:r>
            <a:endParaRPr/>
          </a:p>
          <a:p>
            <a:pPr indent="-320040" lvl="0" marL="32004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Modelo em Cascata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Modelo V</a:t>
            </a:r>
            <a:endParaRPr/>
          </a:p>
          <a:p>
            <a:pPr indent="-320040" lvl="0" marL="32004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Modelo Incremental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Modelo Iterativo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Modelo Evolucionário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Modelo Espiral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Modelo Incremental e Iterativo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2" name="Google Shape;252;p19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Sequencial Linear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p20"/>
          <p:cNvSpPr txBox="1"/>
          <p:nvPr>
            <p:ph idx="1" type="body"/>
          </p:nvPr>
        </p:nvSpPr>
        <p:spPr>
          <a:xfrm>
            <a:off x="612647" y="1582613"/>
            <a:ext cx="8150353" cy="251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◻"/>
            </a:pPr>
            <a:r>
              <a:rPr b="1" lang="pt-BR" sz="3600">
                <a:latin typeface="Tahoma"/>
                <a:ea typeface="Tahoma"/>
                <a:cs typeface="Tahoma"/>
                <a:sym typeface="Tahoma"/>
              </a:rPr>
              <a:t>Executa</a:t>
            </a:r>
            <a:r>
              <a:rPr lang="pt-BR" sz="3600">
                <a:latin typeface="Tahoma"/>
                <a:ea typeface="Tahoma"/>
                <a:cs typeface="Tahoma"/>
                <a:sym typeface="Tahoma"/>
              </a:rPr>
              <a:t> cada uma de suas </a:t>
            </a:r>
            <a:r>
              <a:rPr b="1" lang="pt-BR" sz="3600">
                <a:latin typeface="Tahoma"/>
                <a:ea typeface="Tahoma"/>
                <a:cs typeface="Tahoma"/>
                <a:sym typeface="Tahoma"/>
              </a:rPr>
              <a:t>atividades</a:t>
            </a:r>
            <a:r>
              <a:rPr lang="pt-BR" sz="3600">
                <a:latin typeface="Tahoma"/>
                <a:ea typeface="Tahoma"/>
                <a:cs typeface="Tahoma"/>
                <a:sym typeface="Tahoma"/>
              </a:rPr>
              <a:t> metodológicas </a:t>
            </a:r>
            <a:r>
              <a:rPr b="1" lang="pt-BR" sz="3600">
                <a:latin typeface="Tahoma"/>
                <a:ea typeface="Tahoma"/>
                <a:cs typeface="Tahoma"/>
                <a:sym typeface="Tahoma"/>
              </a:rPr>
              <a:t>em sequência</a:t>
            </a:r>
            <a:r>
              <a:rPr lang="pt-BR" sz="3600">
                <a:latin typeface="Tahoma"/>
                <a:ea typeface="Tahoma"/>
                <a:cs typeface="Tahoma"/>
                <a:sym typeface="Tahoma"/>
              </a:rPr>
              <a:t>.</a:t>
            </a:r>
            <a:endParaRPr sz="3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9" name="Google Shape;259;p20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60" name="Google Shape;2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700" y="4199576"/>
            <a:ext cx="83566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Em Cascata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6" name="Google Shape;266;p21"/>
          <p:cNvSpPr txBox="1"/>
          <p:nvPr>
            <p:ph idx="1" type="body"/>
          </p:nvPr>
        </p:nvSpPr>
        <p:spPr>
          <a:xfrm>
            <a:off x="612647" y="1582613"/>
            <a:ext cx="8150353" cy="251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◻"/>
            </a:pPr>
            <a:r>
              <a:rPr lang="pt-BR" sz="3600">
                <a:latin typeface="Tahoma"/>
                <a:ea typeface="Tahoma"/>
                <a:cs typeface="Tahoma"/>
                <a:sym typeface="Tahoma"/>
              </a:rPr>
              <a:t>Modelo Sequencial Linear.</a:t>
            </a:r>
            <a:endParaRPr sz="3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7" name="Google Shape;267;p21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68" name="Google Shape;2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1580" y="2414510"/>
            <a:ext cx="6720840" cy="3893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Em Cascata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4" name="Google Shape;274;p22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Trabalho flui de modo relativamente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linear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: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14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b="1" lang="pt-BR">
                <a:latin typeface="Tahoma"/>
                <a:ea typeface="Tahoma"/>
                <a:cs typeface="Tahoma"/>
                <a:sym typeface="Tahoma"/>
              </a:rPr>
              <a:t>pontos de controle bem definidos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28600" lvl="2" marL="91440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800"/>
              <a:buChar char="■"/>
            </a:pP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facilitam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a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gestão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do projeto.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Aplicável em projetos em que os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requisitos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estão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bem definidos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desde o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início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14000"/>
              </a:lnSpc>
              <a:spcBef>
                <a:spcPts val="550"/>
              </a:spcBef>
              <a:spcAft>
                <a:spcPts val="0"/>
              </a:spcAft>
              <a:buSzPts val="1750"/>
              <a:buChar char="🞑"/>
            </a:pPr>
            <a:r>
              <a:rPr lang="pt-BR" sz="2500">
                <a:latin typeface="Tahoma"/>
                <a:ea typeface="Tahoma"/>
                <a:cs typeface="Tahoma"/>
                <a:sym typeface="Tahoma"/>
              </a:rPr>
              <a:t>e são razoavelmente </a:t>
            </a:r>
            <a:r>
              <a:rPr b="1" lang="pt-BR" sz="2500">
                <a:latin typeface="Tahoma"/>
                <a:ea typeface="Tahoma"/>
                <a:cs typeface="Tahoma"/>
                <a:sym typeface="Tahoma"/>
              </a:rPr>
              <a:t>estáveis</a:t>
            </a:r>
            <a:r>
              <a:rPr lang="pt-BR" sz="2500">
                <a:latin typeface="Tahoma"/>
                <a:ea typeface="Tahoma"/>
                <a:cs typeface="Tahoma"/>
                <a:sym typeface="Tahoma"/>
              </a:rPr>
              <a:t>.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Prevê </a:t>
            </a:r>
            <a:r>
              <a:rPr b="1" i="1" lang="pt-BR" sz="2800">
                <a:latin typeface="Tahoma"/>
                <a:ea typeface="Tahoma"/>
                <a:cs typeface="Tahoma"/>
                <a:sym typeface="Tahoma"/>
              </a:rPr>
              <a:t>feedback loops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14000"/>
              </a:lnSpc>
              <a:spcBef>
                <a:spcPts val="550"/>
              </a:spcBef>
              <a:spcAft>
                <a:spcPts val="0"/>
              </a:spcAft>
              <a:buSzPts val="1750"/>
              <a:buChar char="🞑"/>
            </a:pPr>
            <a:r>
              <a:rPr b="1" lang="pt-BR" sz="2500">
                <a:latin typeface="Tahoma"/>
                <a:ea typeface="Tahoma"/>
                <a:cs typeface="Tahoma"/>
                <a:sym typeface="Tahoma"/>
              </a:rPr>
              <a:t>correção</a:t>
            </a:r>
            <a:r>
              <a:rPr lang="pt-BR" sz="2500">
                <a:latin typeface="Tahoma"/>
                <a:ea typeface="Tahoma"/>
                <a:cs typeface="Tahoma"/>
                <a:sym typeface="Tahoma"/>
              </a:rPr>
              <a:t> de possíveis </a:t>
            </a:r>
            <a:r>
              <a:rPr b="1" lang="pt-BR" sz="2500">
                <a:latin typeface="Tahoma"/>
                <a:ea typeface="Tahoma"/>
                <a:cs typeface="Tahoma"/>
                <a:sym typeface="Tahoma"/>
              </a:rPr>
              <a:t>erros</a:t>
            </a:r>
            <a:r>
              <a:rPr lang="pt-BR" sz="2500">
                <a:latin typeface="Tahoma"/>
                <a:ea typeface="Tahoma"/>
                <a:cs typeface="Tahoma"/>
                <a:sym typeface="Tahoma"/>
              </a:rPr>
              <a:t> em </a:t>
            </a:r>
            <a:r>
              <a:rPr b="1" lang="pt-BR" sz="2500">
                <a:latin typeface="Tahoma"/>
                <a:ea typeface="Tahoma"/>
                <a:cs typeface="Tahoma"/>
                <a:sym typeface="Tahoma"/>
              </a:rPr>
              <a:t>etapas anteriores</a:t>
            </a:r>
            <a:r>
              <a:rPr lang="pt-BR" sz="2500">
                <a:latin typeface="Tahoma"/>
                <a:ea typeface="Tahoma"/>
                <a:cs typeface="Tahoma"/>
                <a:sym typeface="Tahoma"/>
              </a:rPr>
              <a:t>.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5" name="Google Shape;275;p22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Em Cascata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1" name="Google Shape;281;p23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680"/>
              <a:buChar char="◻"/>
            </a:pP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Problemas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: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14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é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difícil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para o cliente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estabelecer todas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as suas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necessidades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28600" lvl="2" marL="91440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650"/>
              <a:buChar char="■"/>
            </a:pPr>
            <a:r>
              <a:rPr lang="pt-BR" sz="2200">
                <a:latin typeface="Tahoma"/>
                <a:ea typeface="Tahoma"/>
                <a:cs typeface="Tahoma"/>
                <a:sym typeface="Tahoma"/>
              </a:rPr>
              <a:t>no </a:t>
            </a:r>
            <a:r>
              <a:rPr b="1" lang="pt-BR" sz="2200">
                <a:latin typeface="Tahoma"/>
                <a:ea typeface="Tahoma"/>
                <a:cs typeface="Tahoma"/>
                <a:sym typeface="Tahoma"/>
              </a:rPr>
              <a:t>início</a:t>
            </a:r>
            <a:r>
              <a:rPr lang="pt-BR" sz="2200">
                <a:latin typeface="Tahoma"/>
                <a:ea typeface="Tahoma"/>
                <a:cs typeface="Tahoma"/>
                <a:sym typeface="Tahoma"/>
              </a:rPr>
              <a:t> do projeto;</a:t>
            </a:r>
            <a:endParaRPr sz="22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14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b="1" lang="pt-BR">
                <a:latin typeface="Tahoma"/>
                <a:ea typeface="Tahoma"/>
                <a:cs typeface="Tahoma"/>
                <a:sym typeface="Tahoma"/>
              </a:rPr>
              <a:t>erros graves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podem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não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ser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detectados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28600" lvl="2" marL="91440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650"/>
              <a:buChar char="■"/>
            </a:pPr>
            <a:r>
              <a:rPr lang="pt-BR" sz="2200">
                <a:latin typeface="Tahoma"/>
                <a:ea typeface="Tahoma"/>
                <a:cs typeface="Tahoma"/>
                <a:sym typeface="Tahoma"/>
              </a:rPr>
              <a:t>até o </a:t>
            </a:r>
            <a:r>
              <a:rPr i="1" lang="pt-BR" sz="22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2200">
                <a:latin typeface="Tahoma"/>
                <a:ea typeface="Tahoma"/>
                <a:cs typeface="Tahoma"/>
                <a:sym typeface="Tahoma"/>
              </a:rPr>
              <a:t> ser testado;</a:t>
            </a:r>
            <a:endParaRPr sz="22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14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b="1" lang="pt-BR">
                <a:latin typeface="Tahoma"/>
                <a:ea typeface="Tahoma"/>
                <a:cs typeface="Tahoma"/>
                <a:sym typeface="Tahoma"/>
              </a:rPr>
              <a:t>baixa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visibilidade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para o cliente: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28600" lvl="2" marL="91440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650"/>
              <a:buChar char="■"/>
            </a:pPr>
            <a:r>
              <a:rPr lang="pt-BR" sz="2200">
                <a:latin typeface="Tahoma"/>
                <a:ea typeface="Tahoma"/>
                <a:cs typeface="Tahoma"/>
                <a:sym typeface="Tahoma"/>
              </a:rPr>
              <a:t>uma </a:t>
            </a:r>
            <a:r>
              <a:rPr b="1" lang="pt-BR" sz="2200">
                <a:latin typeface="Tahoma"/>
                <a:ea typeface="Tahoma"/>
                <a:cs typeface="Tahoma"/>
                <a:sym typeface="Tahoma"/>
              </a:rPr>
              <a:t>versão operacional</a:t>
            </a:r>
            <a:r>
              <a:rPr lang="pt-BR" sz="2200">
                <a:latin typeface="Tahoma"/>
                <a:ea typeface="Tahoma"/>
                <a:cs typeface="Tahoma"/>
                <a:sym typeface="Tahoma"/>
              </a:rPr>
              <a:t> do </a:t>
            </a:r>
            <a:r>
              <a:rPr i="1" lang="pt-BR" sz="22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2200">
                <a:latin typeface="Tahoma"/>
                <a:ea typeface="Tahoma"/>
                <a:cs typeface="Tahoma"/>
                <a:sym typeface="Tahoma"/>
              </a:rPr>
              <a:t> não estará </a:t>
            </a:r>
            <a:r>
              <a:rPr b="1" lang="pt-BR" sz="2200">
                <a:latin typeface="Tahoma"/>
                <a:ea typeface="Tahoma"/>
                <a:cs typeface="Tahoma"/>
                <a:sym typeface="Tahoma"/>
              </a:rPr>
              <a:t>disponível</a:t>
            </a:r>
            <a:r>
              <a:rPr lang="pt-BR" sz="2200">
                <a:latin typeface="Tahoma"/>
                <a:ea typeface="Tahoma"/>
                <a:cs typeface="Tahoma"/>
                <a:sym typeface="Tahoma"/>
              </a:rPr>
              <a:t> antes de estarmos próximos ao </a:t>
            </a:r>
            <a:r>
              <a:rPr b="1" lang="pt-BR" sz="2200">
                <a:latin typeface="Tahoma"/>
                <a:ea typeface="Tahoma"/>
                <a:cs typeface="Tahoma"/>
                <a:sym typeface="Tahoma"/>
              </a:rPr>
              <a:t>final do projeto</a:t>
            </a:r>
            <a:r>
              <a:rPr lang="pt-BR" sz="2200">
                <a:latin typeface="Tahoma"/>
                <a:ea typeface="Tahoma"/>
                <a:cs typeface="Tahoma"/>
                <a:sym typeface="Tahoma"/>
              </a:rPr>
              <a:t>.</a:t>
            </a:r>
            <a:endParaRPr sz="2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2" name="Google Shape;282;p23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V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9" name="Google Shape;289;p24"/>
          <p:cNvSpPr txBox="1"/>
          <p:nvPr>
            <p:ph idx="1" type="body"/>
          </p:nvPr>
        </p:nvSpPr>
        <p:spPr>
          <a:xfrm>
            <a:off x="612647" y="1582613"/>
            <a:ext cx="8150353" cy="251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Variação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 do modelo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em Cascata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0" name="Google Shape;290;p24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Screen Shot 2016-02-26 at 20.36.29.png" id="291" name="Google Shape;2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4328" y="2408025"/>
            <a:ext cx="4871720" cy="330708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614666" y="2253084"/>
            <a:ext cx="3930182" cy="4028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lang="pt-BR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Descreve a </a:t>
            </a:r>
            <a:r>
              <a:rPr b="1" lang="pt-BR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relação</a:t>
            </a:r>
            <a:r>
              <a:rPr lang="pt-BR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entre:</a:t>
            </a:r>
            <a:endParaRPr/>
          </a:p>
          <a:p>
            <a:pPr indent="-274320" lvl="1" marL="640080" marR="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🞑"/>
            </a:pPr>
            <a:r>
              <a:rPr b="0" i="0" lang="pt-BR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ações de </a:t>
            </a:r>
            <a:r>
              <a:rPr b="1" i="0" lang="pt-BR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garantia da qualidade</a:t>
            </a:r>
            <a:r>
              <a:rPr b="0" i="0" lang="pt-BR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marR="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🞑"/>
            </a:pPr>
            <a:r>
              <a:rPr b="0" i="0" lang="pt-BR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ações associadas às </a:t>
            </a:r>
            <a:r>
              <a:rPr b="1" i="0" lang="pt-BR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atividades anteriores</a:t>
            </a:r>
            <a:r>
              <a:rPr b="0" i="0" lang="pt-BR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Incremental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9" name="Google Shape;299;p25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incremental.png" id="300" name="Google Shape;30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687309"/>
            <a:ext cx="60960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Incremental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7" name="Google Shape;307;p26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Aplica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sequências lineares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escalonadas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à medida que o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tempo 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avança.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Cada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sequência linear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produz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um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incremento entregável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do </a:t>
            </a:r>
            <a:r>
              <a:rPr i="1" lang="pt-BR" sz="28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Modelo incremental puro é um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estilo linear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: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equipe conhece todo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 o 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escopo no início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28600" lvl="2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50"/>
              <a:buChar char="■"/>
            </a:pPr>
            <a:r>
              <a:rPr lang="pt-BR" sz="2200">
                <a:latin typeface="Tahoma"/>
                <a:ea typeface="Tahoma"/>
                <a:cs typeface="Tahoma"/>
                <a:sym typeface="Tahoma"/>
              </a:rPr>
              <a:t>só possível com grandes análise e </a:t>
            </a:r>
            <a:r>
              <a:rPr i="1" lang="pt-BR" sz="2200">
                <a:latin typeface="Tahoma"/>
                <a:ea typeface="Tahoma"/>
                <a:cs typeface="Tahoma"/>
                <a:sym typeface="Tahoma"/>
              </a:rPr>
              <a:t>design</a:t>
            </a:r>
            <a:r>
              <a:rPr lang="pt-BR" sz="2200">
                <a:latin typeface="Tahoma"/>
                <a:ea typeface="Tahoma"/>
                <a:cs typeface="Tahoma"/>
                <a:sym typeface="Tahoma"/>
              </a:rPr>
              <a:t> iniciais;</a:t>
            </a:r>
            <a:endParaRPr/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e então começa a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construir partes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8" name="Google Shape;308;p26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Iterativo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4" name="Google Shape;314;p27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◻"/>
            </a:pPr>
            <a:r>
              <a:rPr b="1" lang="pt-BR" sz="3600">
                <a:latin typeface="Tahoma"/>
                <a:ea typeface="Tahoma"/>
                <a:cs typeface="Tahoma"/>
                <a:sym typeface="Tahoma"/>
              </a:rPr>
              <a:t>Repete</a:t>
            </a:r>
            <a:r>
              <a:rPr lang="pt-BR" sz="3600">
                <a:latin typeface="Tahoma"/>
                <a:ea typeface="Tahoma"/>
                <a:cs typeface="Tahoma"/>
                <a:sym typeface="Tahoma"/>
              </a:rPr>
              <a:t> uma ou mais de suas </a:t>
            </a:r>
            <a:r>
              <a:rPr b="1" lang="pt-BR" sz="3600">
                <a:latin typeface="Tahoma"/>
                <a:ea typeface="Tahoma"/>
                <a:cs typeface="Tahoma"/>
                <a:sym typeface="Tahoma"/>
              </a:rPr>
              <a:t>atividades</a:t>
            </a:r>
            <a:r>
              <a:rPr lang="pt-BR" sz="36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30000"/>
              </a:lnSpc>
              <a:spcBef>
                <a:spcPts val="550"/>
              </a:spcBef>
              <a:spcAft>
                <a:spcPts val="0"/>
              </a:spcAft>
              <a:buSzPts val="2240"/>
              <a:buChar char="🞑"/>
            </a:pP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antes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 de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prosseguir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 para a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seguinte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.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5" name="Google Shape;315;p27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16" name="Google Shape;3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700" y="4226468"/>
            <a:ext cx="835660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Incremental x Iterativo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2" name="Google Shape;322;p28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23" name="Google Shape;3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0840" y="1587413"/>
            <a:ext cx="5862320" cy="4714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Evolucionário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0" name="Google Shape;330;p29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31" name="Google Shape;3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" y="2252671"/>
            <a:ext cx="821436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Evolucionário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8" name="Google Shape;338;p30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Executa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 suas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atividades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 de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forma “circular”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Desenvolve um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produto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 que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cresce e muda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É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iterativo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.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Rápido desenvolvimento de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versões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cada vez mais completas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do </a:t>
            </a:r>
            <a:r>
              <a:rPr i="1" lang="pt-BR" sz="28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9" name="Google Shape;339;p30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Espiral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6" name="Google Shape;346;p31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47" name="Google Shape;3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898" y="1615872"/>
            <a:ext cx="6466205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Espiral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4" name="Google Shape;354;p32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O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produto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 é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desenvolvido em iterações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Cada nova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iteração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corresponde a uma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volta na espiral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Os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problemas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identificados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 em uma iteração;</a:t>
            </a:r>
            <a:endParaRPr/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são utilizados para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alimentar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a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próxima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5" name="Google Shape;355;p32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Espiral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2" name="Google Shape;362;p33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Modelo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evolucionário dirigido por riscos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i="1" lang="pt-BR" sz="28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 é desenvolvido em uma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série de versões evolucionárias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consideração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direta dos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riscos técnicos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em todos os estágios do projeto;</a:t>
            </a:r>
            <a:endParaRPr/>
          </a:p>
          <a:p>
            <a:pPr indent="-228600" lvl="2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■"/>
            </a:pP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reduz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os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riscos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antes destes se tornarem problemáticos.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3" name="Google Shape;363;p33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Modelo Espiral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0" name="Google Shape;370;p34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Permite construir produtos em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prazos curtos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320040" lvl="0" marL="32004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Novas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características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são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adicionadas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à medida que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o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problema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é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entendido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05000"/>
              </a:lnSpc>
              <a:spcBef>
                <a:spcPts val="550"/>
              </a:spcBef>
              <a:spcAft>
                <a:spcPts val="0"/>
              </a:spcAft>
              <a:buSzPts val="1680"/>
              <a:buChar char="🞑"/>
            </a:pP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favorecendo para que as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verdadeiras necessidades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apareçam.</a:t>
            </a:r>
            <a:endParaRPr/>
          </a:p>
          <a:p>
            <a:pPr indent="-320040" lvl="0" marL="32004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É um modelo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complexo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05000"/>
              </a:lnSpc>
              <a:spcBef>
                <a:spcPts val="550"/>
              </a:spcBef>
              <a:spcAft>
                <a:spcPts val="0"/>
              </a:spcAft>
              <a:buSzPts val="1680"/>
              <a:buChar char="🞑"/>
            </a:pP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requer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gestão sofisticada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para ser previsível e confiável.</a:t>
            </a:r>
            <a:endParaRPr/>
          </a:p>
          <a:p>
            <a:pPr indent="-320040" lvl="0" marL="32004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Requer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desenho robusto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05000"/>
              </a:lnSpc>
              <a:spcBef>
                <a:spcPts val="550"/>
              </a:spcBef>
              <a:spcAft>
                <a:spcPts val="0"/>
              </a:spcAft>
              <a:buSzPts val="1680"/>
              <a:buChar char="🞑"/>
            </a:pP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para evitar que a estrutura do produto se degrade.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1" name="Google Shape;371;p34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ahoma"/>
              <a:buNone/>
            </a:pPr>
            <a:r>
              <a:rPr lang="pt-BR" sz="4800">
                <a:latin typeface="Tahoma"/>
                <a:ea typeface="Tahoma"/>
                <a:cs typeface="Tahoma"/>
                <a:sym typeface="Tahoma"/>
              </a:rPr>
              <a:t>Modelo Incremental e Iterativo</a:t>
            </a:r>
            <a:endParaRPr sz="4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8" name="Google Shape;378;p35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iteration.png"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680" y="1647748"/>
            <a:ext cx="7152640" cy="4652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ahoma"/>
              <a:buNone/>
            </a:pPr>
            <a:r>
              <a:rPr lang="pt-BR" sz="4800">
                <a:latin typeface="Tahoma"/>
                <a:ea typeface="Tahoma"/>
                <a:cs typeface="Tahoma"/>
                <a:sym typeface="Tahoma"/>
              </a:rPr>
              <a:t>Modelo Incremental e Iterativo</a:t>
            </a:r>
            <a:endParaRPr sz="4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6" name="Google Shape;386;p36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7" name="Google Shape;387;p36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Incremental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274320" lvl="1" marL="640080" rtl="0" algn="l">
              <a:lnSpc>
                <a:spcPct val="13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adiciona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recursos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completamente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novos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28600" lvl="2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Char char="■"/>
            </a:pP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ampliando o escopo da funcionalidade oferecida.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920"/>
              <a:buChar char="◻"/>
            </a:pP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Iterativo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274320" lvl="1" marL="640080" rtl="0" algn="l">
              <a:lnSpc>
                <a:spcPct val="13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cada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incremento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provavelmente também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refinará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as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funcionalidades existentes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ahoma"/>
              <a:buNone/>
            </a:pPr>
            <a:r>
              <a:rPr lang="pt-BR" sz="4800">
                <a:latin typeface="Tahoma"/>
                <a:ea typeface="Tahoma"/>
                <a:cs typeface="Tahoma"/>
                <a:sym typeface="Tahoma"/>
              </a:rPr>
              <a:t>Modelo Incremental e Iterativo</a:t>
            </a:r>
            <a:endParaRPr sz="4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4" name="Google Shape;394;p37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95" name="Google Shape;39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1967421"/>
            <a:ext cx="8153400" cy="394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ahoma"/>
              <a:buNone/>
            </a:pPr>
            <a:r>
              <a:rPr lang="pt-BR" sz="4800">
                <a:latin typeface="Tahoma"/>
                <a:ea typeface="Tahoma"/>
                <a:cs typeface="Tahoma"/>
                <a:sym typeface="Tahoma"/>
              </a:rPr>
              <a:t>Processos Dirigidos por Planos</a:t>
            </a:r>
            <a:endParaRPr sz="4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2" name="Google Shape;402;p38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3" name="Google Shape;403;p38"/>
          <p:cNvSpPr txBox="1"/>
          <p:nvPr>
            <p:ph idx="1" type="body"/>
          </p:nvPr>
        </p:nvSpPr>
        <p:spPr>
          <a:xfrm>
            <a:off x="612647" y="1582613"/>
            <a:ext cx="8276541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Todas as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atividades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do processo são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planejadas com antecedência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05000"/>
              </a:lnSpc>
              <a:spcBef>
                <a:spcPts val="550"/>
              </a:spcBef>
              <a:spcAft>
                <a:spcPts val="0"/>
              </a:spcAft>
              <a:buSzPts val="1680"/>
              <a:buChar char="🞑"/>
            </a:pP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progresso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é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medido em relação a esse plano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. </a:t>
            </a:r>
            <a:endParaRPr/>
          </a:p>
          <a:p>
            <a:pPr indent="-320040" lvl="0" marL="32004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Prescrevem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 um conjunto de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elementos de processo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274320" lvl="1" marL="640080" rtl="0" algn="l">
              <a:lnSpc>
                <a:spcPct val="105000"/>
              </a:lnSpc>
              <a:spcBef>
                <a:spcPts val="550"/>
              </a:spcBef>
              <a:spcAft>
                <a:spcPts val="0"/>
              </a:spcAft>
              <a:buSzPts val="1680"/>
              <a:buChar char="🞑"/>
            </a:pP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atividades, tarefas, artefatos, mecanismos de garantia da qualidade e de controle de mudanças;</a:t>
            </a:r>
            <a:endParaRPr/>
          </a:p>
          <a:p>
            <a:pPr indent="-274320" lvl="1" marL="640080" rtl="0" algn="l">
              <a:lnSpc>
                <a:spcPct val="105000"/>
              </a:lnSpc>
              <a:spcBef>
                <a:spcPts val="550"/>
              </a:spcBef>
              <a:spcAft>
                <a:spcPts val="0"/>
              </a:spcAft>
              <a:buSzPts val="1680"/>
              <a:buChar char="🞑"/>
            </a:pP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e a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forma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 pela qual esses elementos </a:t>
            </a:r>
            <a:r>
              <a:rPr b="1" lang="pt-BR" sz="2400">
                <a:latin typeface="Tahoma"/>
                <a:ea typeface="Tahoma"/>
                <a:cs typeface="Tahoma"/>
                <a:sym typeface="Tahoma"/>
              </a:rPr>
              <a:t>se relacionam</a:t>
            </a:r>
            <a:r>
              <a:rPr lang="pt-BR" sz="2400">
                <a:latin typeface="Tahoma"/>
                <a:ea typeface="Tahoma"/>
                <a:cs typeface="Tahoma"/>
                <a:sym typeface="Tahoma"/>
              </a:rPr>
              <a:t>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Também conhecidos como </a:t>
            </a:r>
            <a:r>
              <a:rPr b="1" lang="pt-BR" sz="2800">
                <a:latin typeface="Tahoma"/>
                <a:ea typeface="Tahoma"/>
                <a:cs typeface="Tahoma"/>
                <a:sym typeface="Tahoma"/>
              </a:rPr>
              <a:t>processos prescritivos</a:t>
            </a:r>
            <a:r>
              <a:rPr lang="pt-BR" sz="2800">
                <a:latin typeface="Tahoma"/>
                <a:ea typeface="Tahoma"/>
                <a:cs typeface="Tahoma"/>
                <a:sym typeface="Tahoma"/>
              </a:rPr>
              <a:t>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9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Processos Ágeis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0" name="Google Shape;410;p39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1" name="Google Shape;411;p39"/>
          <p:cNvSpPr txBox="1"/>
          <p:nvPr>
            <p:ph idx="1" type="body"/>
          </p:nvPr>
        </p:nvSpPr>
        <p:spPr>
          <a:xfrm>
            <a:off x="612647" y="1582613"/>
            <a:ext cx="8150353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◻"/>
            </a:pP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Planejamento incremental e contínuo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Char char="◻"/>
            </a:pP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Acomodam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 mais facilmente </a:t>
            </a: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mudanças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para refletir alterações nos requisitos do cliente. 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Char char="◻"/>
            </a:pP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Consistem em um conjunto de </a:t>
            </a: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valores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princípios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 e </a:t>
            </a:r>
            <a:r>
              <a:rPr b="1" lang="pt-BR" sz="3000">
                <a:latin typeface="Tahoma"/>
                <a:ea typeface="Tahoma"/>
                <a:cs typeface="Tahoma"/>
                <a:sym typeface="Tahoma"/>
              </a:rPr>
              <a:t>práticas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 voltados para o desenvolvimento do </a:t>
            </a:r>
            <a:r>
              <a:rPr i="1" lang="pt-BR" sz="30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3000">
                <a:latin typeface="Tahoma"/>
                <a:ea typeface="Tahoma"/>
                <a:cs typeface="Tahoma"/>
                <a:sym typeface="Tahoma"/>
              </a:rPr>
              <a:t>;</a:t>
            </a:r>
            <a:endParaRPr/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820"/>
              <a:buChar char="🞑"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que podem ser aplicados de </a:t>
            </a:r>
            <a:r>
              <a:rPr b="1" lang="pt-BR">
                <a:latin typeface="Tahoma"/>
                <a:ea typeface="Tahoma"/>
                <a:cs typeface="Tahoma"/>
                <a:sym typeface="Tahoma"/>
              </a:rPr>
              <a:t>forma leve e efetiva</a:t>
            </a:r>
            <a:r>
              <a:rPr lang="pt-BR"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0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Processos Dirigidos por Planos x Processos Ágeis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8" name="Google Shape;418;p40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agile-processes-bureaucracy.png" id="419" name="Google Shape;419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1216" l="-18" r="240" t="7077"/>
          <a:stretch/>
        </p:blipFill>
        <p:spPr>
          <a:xfrm>
            <a:off x="1245684" y="1654462"/>
            <a:ext cx="6652632" cy="4607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1"/>
          <p:cNvSpPr txBox="1"/>
          <p:nvPr>
            <p:ph type="title"/>
          </p:nvPr>
        </p:nvSpPr>
        <p:spPr>
          <a:xfrm>
            <a:off x="612648" y="39076"/>
            <a:ext cx="815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ahoma"/>
              <a:buNone/>
            </a:pPr>
            <a:r>
              <a:rPr lang="pt-BR" sz="5400">
                <a:latin typeface="Tahoma"/>
                <a:ea typeface="Tahoma"/>
                <a:cs typeface="Tahoma"/>
                <a:sym typeface="Tahoma"/>
              </a:rPr>
              <a:t>Referências</a:t>
            </a:r>
            <a:endParaRPr sz="5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6" name="Google Shape;426;p41"/>
          <p:cNvSpPr txBox="1"/>
          <p:nvPr>
            <p:ph idx="1" type="body"/>
          </p:nvPr>
        </p:nvSpPr>
        <p:spPr>
          <a:xfrm>
            <a:off x="612647" y="1582613"/>
            <a:ext cx="7984275" cy="466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PRESSMAN, Roger.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Engenharia de </a:t>
            </a:r>
            <a:r>
              <a:rPr b="1" i="1" lang="pt-BR" sz="32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: uma abordagem profissional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. Capítulo 2. 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SOMMERVILLE, Ian. </a:t>
            </a:r>
            <a:r>
              <a:rPr b="1" lang="pt-BR" sz="3200">
                <a:latin typeface="Tahoma"/>
                <a:ea typeface="Tahoma"/>
                <a:cs typeface="Tahoma"/>
                <a:sym typeface="Tahoma"/>
              </a:rPr>
              <a:t>Engenharia de </a:t>
            </a:r>
            <a:r>
              <a:rPr b="1" i="1" lang="pt-BR" sz="3200">
                <a:latin typeface="Tahoma"/>
                <a:ea typeface="Tahoma"/>
                <a:cs typeface="Tahoma"/>
                <a:sym typeface="Tahoma"/>
              </a:rPr>
              <a:t>software</a:t>
            </a: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. Capítulo 2.</a:t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-320040" lvl="0" marL="32004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920"/>
              <a:buChar char="◻"/>
            </a:pPr>
            <a:r>
              <a:rPr lang="pt-BR" sz="3200">
                <a:latin typeface="Tahoma"/>
                <a:ea typeface="Tahoma"/>
                <a:cs typeface="Tahoma"/>
                <a:sym typeface="Tahoma"/>
              </a:rPr>
              <a:t>NBR ISO/IEC 12207:1998</a:t>
            </a:r>
            <a:endParaRPr/>
          </a:p>
          <a:p>
            <a:pPr indent="-274320" lvl="1" marL="640080" rtl="0" algn="l">
              <a:lnSpc>
                <a:spcPct val="120000"/>
              </a:lnSpc>
              <a:spcBef>
                <a:spcPts val="550"/>
              </a:spcBef>
              <a:spcAft>
                <a:spcPts val="0"/>
              </a:spcAft>
              <a:buSzPts val="1960"/>
              <a:buChar char="🞑"/>
            </a:pPr>
            <a:r>
              <a:rPr lang="pt-BR" sz="28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https://pt.wikipedia.org/wiki/ISO/IEC_12207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7" name="Google Shape;427;p41"/>
          <p:cNvSpPr txBox="1"/>
          <p:nvPr>
            <p:ph idx="4294967295" type="ftr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Fundamentos de Engenharia de </a:t>
            </a:r>
            <a:r>
              <a:rPr i="1" lang="pt-BR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Software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2022-02-17T12:52:56Z</dcterms:created>
  <dc:creator>EVELINE ALONSO</dc:creator>
</cp:coreProperties>
</file>