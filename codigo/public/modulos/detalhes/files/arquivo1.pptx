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14"/>
  </p:notesMasterIdLst>
  <p:sldIdLst>
    <p:sldId id="258" r:id="rId2"/>
    <p:sldId id="300" r:id="rId3"/>
    <p:sldId id="595" r:id="rId4"/>
    <p:sldId id="598" r:id="rId5"/>
    <p:sldId id="599" r:id="rId6"/>
    <p:sldId id="600" r:id="rId7"/>
    <p:sldId id="601" r:id="rId8"/>
    <p:sldId id="602" r:id="rId9"/>
    <p:sldId id="603" r:id="rId10"/>
    <p:sldId id="604" r:id="rId11"/>
    <p:sldId id="605" r:id="rId12"/>
    <p:sldId id="60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ia Augusta Vieira Nelson" initials="M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48034"/>
    <a:srgbClr val="E47934"/>
    <a:srgbClr val="F58034"/>
    <a:srgbClr val="FA8034"/>
    <a:srgbClr val="ED8034"/>
    <a:srgbClr val="EC8034"/>
    <a:srgbClr val="F67A3E"/>
    <a:srgbClr val="FD8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428" autoAdjust="0"/>
  </p:normalViewPr>
  <p:slideViewPr>
    <p:cSldViewPr snapToGrid="0" snapToObjects="1">
      <p:cViewPr>
        <p:scale>
          <a:sx n="120" d="100"/>
          <a:sy n="120" d="100"/>
        </p:scale>
        <p:origin x="-1872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interSettings" Target="printerSettings/printerSettings1.bin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D6E76-89BB-CC41-8BBB-051FCFF70D82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smtClean="0"/>
              <a:t>Click to edit Master text styles</a:t>
            </a:r>
          </a:p>
          <a:p>
            <a:pPr lvl="1"/>
            <a:r>
              <a:rPr lang="bg-BG" smtClean="0"/>
              <a:t>Second level</a:t>
            </a:r>
          </a:p>
          <a:p>
            <a:pPr lvl="2"/>
            <a:r>
              <a:rPr lang="bg-BG" smtClean="0"/>
              <a:t>Third level</a:t>
            </a:r>
          </a:p>
          <a:p>
            <a:pPr lvl="3"/>
            <a:r>
              <a:rPr lang="bg-BG" smtClean="0"/>
              <a:t>Fourth level</a:t>
            </a:r>
          </a:p>
          <a:p>
            <a:pPr lvl="4"/>
            <a:r>
              <a:rPr lang="bg-BG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24916-7BB6-BA49-9D0A-B51A49E1D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3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ISO/IEC/IEEE 29148:2018: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padrão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internacional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recente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descreve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engenharia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requisitos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desenvolvimento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produtos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software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hardware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76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bg-BG" smtClean="0"/>
              <a:t>Click to edit Master subtitle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6" y="6248176"/>
            <a:ext cx="8153400" cy="365125"/>
          </a:xfrm>
        </p:spPr>
        <p:txBody>
          <a:bodyPr/>
          <a:lstStyle/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bg-BG" dirty="0" smtClean="0"/>
              <a:t>Click to edit Master text styles</a:t>
            </a:r>
          </a:p>
          <a:p>
            <a:pPr lvl="1" eaLnBrk="1" latinLnBrk="0" hangingPunct="1"/>
            <a:r>
              <a:rPr lang="bg-BG" dirty="0" smtClean="0"/>
              <a:t>Second level</a:t>
            </a:r>
          </a:p>
          <a:p>
            <a:pPr lvl="2" eaLnBrk="1" latinLnBrk="0" hangingPunct="1"/>
            <a:r>
              <a:rPr lang="bg-BG" dirty="0" smtClean="0"/>
              <a:t>Third level</a:t>
            </a:r>
          </a:p>
          <a:p>
            <a:pPr lvl="3" eaLnBrk="1" latinLnBrk="0" hangingPunct="1"/>
            <a:r>
              <a:rPr lang="bg-BG" dirty="0" smtClean="0"/>
              <a:t>Fourth level</a:t>
            </a:r>
          </a:p>
          <a:p>
            <a:pPr lvl="4" eaLnBrk="1" latinLnBrk="0" hangingPunct="1"/>
            <a:r>
              <a:rPr lang="bg-BG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bg-BG" smtClean="0"/>
              <a:t>Drag picture to placeholder or click icon to add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26/03/22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bg-BG" smtClean="0"/>
              <a:t>Click to edit Master text styles</a:t>
            </a:r>
          </a:p>
          <a:p>
            <a:pPr lvl="1" eaLnBrk="1" latinLnBrk="0" hangingPunct="1"/>
            <a:r>
              <a:rPr kumimoji="0" lang="bg-BG" smtClean="0"/>
              <a:t>Second level</a:t>
            </a:r>
          </a:p>
          <a:p>
            <a:pPr lvl="2" eaLnBrk="1" latinLnBrk="0" hangingPunct="1"/>
            <a:r>
              <a:rPr kumimoji="0" lang="bg-BG" smtClean="0"/>
              <a:t>Third level</a:t>
            </a:r>
          </a:p>
          <a:p>
            <a:pPr lvl="3" eaLnBrk="1" latinLnBrk="0" hangingPunct="1"/>
            <a:r>
              <a:rPr kumimoji="0" lang="bg-BG" smtClean="0"/>
              <a:t>Fourth level</a:t>
            </a:r>
          </a:p>
          <a:p>
            <a:pPr lvl="4" eaLnBrk="1" latinLnBrk="0" hangingPunct="1"/>
            <a:r>
              <a:rPr kumimoji="0" lang="bg-BG" smtClean="0"/>
              <a:t>Fifth level</a:t>
            </a:r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qview.com/doc/iso-iec-ieee-29148-templates.html" TargetMode="External"/><Relationship Id="rId4" Type="http://schemas.openxmlformats.org/officeDocument/2006/relationships/hyperlink" Target="https://web.archive.org/web/20140106040945/http://epf.eclipse.org/wikis/openup/" TargetMode="External"/><Relationship Id="rId5" Type="http://schemas.openxmlformats.org/officeDocument/2006/relationships/hyperlink" Target="https://www.volere.org/wp-content/uploads/2018/12/template14_ptbra.pdf" TargetMode="External"/><Relationship Id="rId6" Type="http://schemas.openxmlformats.org/officeDocument/2006/relationships/hyperlink" Target="https://github.com/DroidFoundry/DroidMetronome/wiki/TEMPLATE-Documento-de-Especifica%C3%A7%C3%A3o-de-Objetivos-e-Requisitos-(EOR)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sei.cmu.edu/confluence/display/SAD/Template:ArchitectureViewTemplate" TargetMode="External"/><Relationship Id="rId4" Type="http://schemas.openxmlformats.org/officeDocument/2006/relationships/hyperlink" Target="https://wiki.sei.cmu.edu/confluence/display/SAD/Template:InterfaceTemplate" TargetMode="External"/><Relationship Id="rId5" Type="http://schemas.openxmlformats.org/officeDocument/2006/relationships/hyperlink" Target="https://webstore.iec.ch/preview/info_isoiecieee42020%7Bed1.0%7Den.pdf" TargetMode="External"/><Relationship Id="rId6" Type="http://schemas.openxmlformats.org/officeDocument/2006/relationships/hyperlink" Target="https://wiki.sei.cmu.edu/confluence/pages/viewpage.action?pageId=146280205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3115" y="344959"/>
            <a:ext cx="6115538" cy="3863356"/>
          </a:xfrm>
        </p:spPr>
        <p:txBody>
          <a:bodyPr>
            <a:noAutofit/>
          </a:bodyPr>
          <a:lstStyle/>
          <a:p>
            <a:r>
              <a:rPr lang="bg-BG" sz="6400" dirty="0" smtClean="0"/>
              <a:t>DOCUMENTA</a:t>
            </a:r>
            <a:r>
              <a:rPr lang="bg-BG" sz="6400" dirty="0" smtClean="0"/>
              <a:t>ÇÃO DE </a:t>
            </a:r>
            <a:r>
              <a:rPr lang="bg-BG" sz="6400" i="1" dirty="0" smtClean="0"/>
              <a:t>SOFTWARE</a:t>
            </a:r>
            <a:endParaRPr lang="en-US" sz="64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3115" y="4435234"/>
            <a:ext cx="6115538" cy="1348154"/>
          </a:xfrm>
        </p:spPr>
        <p:txBody>
          <a:bodyPr>
            <a:noAutofit/>
          </a:bodyPr>
          <a:lstStyle/>
          <a:p>
            <a:r>
              <a:rPr lang="bg-BG" sz="2800" dirty="0" smtClean="0"/>
              <a:t>Eveline Alonso Veloso*</a:t>
            </a:r>
          </a:p>
          <a:p>
            <a:r>
              <a:rPr lang="bg-BG" sz="2400" dirty="0" smtClean="0"/>
              <a:t>* Adaptado do material da Prof.</a:t>
            </a:r>
            <a:r>
              <a:rPr lang="bg-BG" sz="2400" baseline="30000" dirty="0" smtClean="0"/>
              <a:t>a</a:t>
            </a:r>
            <a:r>
              <a:rPr lang="bg-BG" sz="2400" dirty="0" smtClean="0"/>
              <a:t> Maria Augusta Vieira Nelson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6777" y="6126261"/>
            <a:ext cx="19892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 smtClean="0"/>
              <a:t>PUC Minas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403234" y="5961135"/>
            <a:ext cx="57234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4400" dirty="0" smtClean="0"/>
              <a:t>Engenharia de </a:t>
            </a:r>
            <a:r>
              <a:rPr lang="bg-BG" sz="4400" i="1" dirty="0" smtClean="0"/>
              <a:t>Software</a:t>
            </a:r>
            <a:endParaRPr lang="en-US" sz="4400" i="1" dirty="0"/>
          </a:p>
        </p:txBody>
      </p:sp>
    </p:spTree>
    <p:extLst>
      <p:ext uri="{BB962C8B-B14F-4D97-AF65-F5344CB8AC3E}">
        <p14:creationId xmlns:p14="http://schemas.microsoft.com/office/powerpoint/2010/main" val="305279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cs typeface="Tahoma"/>
              </a:rPr>
              <a:t>Documenta</a:t>
            </a:r>
            <a:r>
              <a:rPr lang="bg-BG" sz="4800" dirty="0" smtClean="0">
                <a:latin typeface="Tahoma"/>
                <a:cs typeface="Tahoma"/>
              </a:rPr>
              <a:t>ção de </a:t>
            </a:r>
            <a:r>
              <a:rPr lang="bg-BG" sz="4800" i="1" dirty="0" smtClean="0">
                <a:latin typeface="Tahoma"/>
                <a:cs typeface="Tahoma"/>
              </a:rPr>
              <a:t>Software</a:t>
            </a:r>
            <a:endParaRPr lang="en-US" sz="48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3600" b="1" dirty="0" smtClean="0">
                <a:latin typeface="Tahoma"/>
                <a:ea typeface="+mn-lt"/>
                <a:cs typeface="Tahoma"/>
              </a:rPr>
              <a:t>Registro </a:t>
            </a:r>
            <a:r>
              <a:rPr lang="pt-BR" sz="3600" b="1" dirty="0">
                <a:latin typeface="Tahoma"/>
                <a:ea typeface="+mn-lt"/>
                <a:cs typeface="Tahoma"/>
              </a:rPr>
              <a:t>formal </a:t>
            </a:r>
            <a:r>
              <a:rPr lang="pt-BR" sz="3600" dirty="0" smtClean="0">
                <a:latin typeface="Tahoma"/>
                <a:ea typeface="+mn-lt"/>
                <a:cs typeface="Tahoma"/>
              </a:rPr>
              <a:t>das </a:t>
            </a:r>
            <a:r>
              <a:rPr lang="pt-BR" sz="3600" b="1" dirty="0" smtClean="0">
                <a:latin typeface="Tahoma"/>
                <a:ea typeface="+mn-lt"/>
                <a:cs typeface="Tahoma"/>
              </a:rPr>
              <a:t>informações </a:t>
            </a:r>
            <a:r>
              <a:rPr lang="pt-BR" sz="3600" b="1" dirty="0">
                <a:latin typeface="Tahoma"/>
                <a:ea typeface="+mn-lt"/>
                <a:cs typeface="Tahoma"/>
              </a:rPr>
              <a:t>técnicas e não-técnicas</a:t>
            </a:r>
            <a:r>
              <a:rPr lang="pt-BR" sz="3600" dirty="0">
                <a:latin typeface="Tahoma"/>
                <a:ea typeface="+mn-lt"/>
                <a:cs typeface="Tahoma"/>
              </a:rPr>
              <a:t> relativas ao </a:t>
            </a:r>
            <a:r>
              <a:rPr lang="pt-BR" sz="3600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pt-BR" sz="36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3600" dirty="0">
                <a:latin typeface="Tahoma"/>
                <a:ea typeface="+mn-lt"/>
                <a:cs typeface="Tahoma"/>
              </a:rPr>
              <a:t>que será implantado.</a:t>
            </a:r>
          </a:p>
          <a:p>
            <a:pPr>
              <a:lnSpc>
                <a:spcPct val="130000"/>
              </a:lnSpc>
            </a:pPr>
            <a:r>
              <a:rPr lang="pt-BR" sz="3600" dirty="0">
                <a:latin typeface="Tahoma"/>
                <a:ea typeface="+mn-lt"/>
                <a:cs typeface="Tahoma"/>
              </a:rPr>
              <a:t>Duas formas:</a:t>
            </a:r>
          </a:p>
          <a:p>
            <a:pPr lvl="1">
              <a:lnSpc>
                <a:spcPct val="130000"/>
              </a:lnSpc>
            </a:pPr>
            <a:r>
              <a:rPr lang="pt-BR" sz="3200" b="1" dirty="0" smtClean="0">
                <a:latin typeface="Tahoma"/>
                <a:ea typeface="+mn-lt"/>
                <a:cs typeface="Tahoma"/>
              </a:rPr>
              <a:t>baixo nível</a:t>
            </a:r>
            <a:r>
              <a:rPr lang="pt-BR" sz="3200" dirty="0" smtClean="0">
                <a:latin typeface="Tahoma"/>
                <a:ea typeface="+mn-lt"/>
                <a:cs typeface="Tahoma"/>
              </a:rPr>
              <a:t>;</a:t>
            </a:r>
            <a:endParaRPr lang="pt-BR" sz="32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pt-BR" sz="3200" b="1" dirty="0" smtClean="0">
                <a:latin typeface="Tahoma"/>
                <a:ea typeface="+mn-lt"/>
                <a:cs typeface="Tahoma"/>
              </a:rPr>
              <a:t>alto nível</a:t>
            </a:r>
            <a:r>
              <a:rPr lang="pt-BR" sz="3200" dirty="0" smtClean="0">
                <a:latin typeface="Tahoma"/>
                <a:ea typeface="+mn-lt"/>
                <a:cs typeface="Tahoma"/>
              </a:rPr>
              <a:t>.</a:t>
            </a:r>
            <a:endParaRPr lang="pt-BR" sz="32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0511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Tipos de Documenta</a:t>
            </a:r>
            <a:r>
              <a:rPr lang="bg-BG" sz="5400" dirty="0" smtClean="0">
                <a:latin typeface="Tahoma"/>
                <a:cs typeface="Tahoma"/>
              </a:rPr>
              <a:t>ção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dirty="0" err="1">
                <a:latin typeface="Tahoma"/>
                <a:ea typeface="+mn-lt"/>
                <a:cs typeface="Tahoma"/>
              </a:rPr>
              <a:t>Documentação</a:t>
            </a:r>
            <a:r>
              <a:rPr lang="en-US" sz="3200" dirty="0">
                <a:latin typeface="Tahoma"/>
                <a:ea typeface="+mn-lt"/>
                <a:cs typeface="Tahoma"/>
              </a:rPr>
              <a:t> dos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Requisitos</a:t>
            </a:r>
            <a:r>
              <a:rPr lang="en-US" sz="3200" b="1" dirty="0">
                <a:latin typeface="Tahoma"/>
                <a:ea typeface="+mn-lt"/>
                <a:cs typeface="Tahoma"/>
              </a:rPr>
              <a:t> do </a:t>
            </a:r>
            <a:r>
              <a:rPr lang="en-US" sz="3200" b="1" i="1" dirty="0">
                <a:latin typeface="Tahoma"/>
                <a:ea typeface="+mn-lt"/>
                <a:cs typeface="Tahoma"/>
              </a:rPr>
              <a:t>Software</a:t>
            </a:r>
          </a:p>
          <a:p>
            <a:pPr>
              <a:lnSpc>
                <a:spcPct val="110000"/>
              </a:lnSpc>
            </a:pPr>
            <a:r>
              <a:rPr lang="en-US" sz="3200" dirty="0" err="1">
                <a:latin typeface="Tahoma"/>
                <a:ea typeface="+mn-lt"/>
                <a:cs typeface="Tahoma"/>
              </a:rPr>
              <a:t>Documentação</a:t>
            </a:r>
            <a:r>
              <a:rPr lang="en-US" sz="3200" dirty="0">
                <a:latin typeface="Tahoma"/>
                <a:ea typeface="+mn-lt"/>
                <a:cs typeface="Tahoma"/>
              </a:rPr>
              <a:t> da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Arquitetura</a:t>
            </a:r>
            <a:r>
              <a:rPr lang="en-US" sz="3200" b="1" dirty="0">
                <a:latin typeface="Tahoma"/>
                <a:ea typeface="+mn-lt"/>
                <a:cs typeface="Tahoma"/>
              </a:rPr>
              <a:t> do </a:t>
            </a:r>
            <a:r>
              <a:rPr lang="en-US" sz="3200" b="1" i="1" dirty="0">
                <a:latin typeface="Tahoma"/>
                <a:ea typeface="+mn-lt"/>
                <a:cs typeface="Tahoma"/>
              </a:rPr>
              <a:t>Software</a:t>
            </a:r>
          </a:p>
          <a:p>
            <a:pPr>
              <a:lnSpc>
                <a:spcPct val="110000"/>
              </a:lnSpc>
            </a:pPr>
            <a:r>
              <a:rPr lang="en-US" sz="3200" dirty="0" err="1" smtClean="0">
                <a:latin typeface="Tahoma"/>
                <a:ea typeface="+mn-lt"/>
                <a:cs typeface="Tahoma"/>
              </a:rPr>
              <a:t>Documentação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>
                <a:latin typeface="Tahoma"/>
                <a:ea typeface="+mn-lt"/>
                <a:cs typeface="Tahoma"/>
              </a:rPr>
              <a:t>do 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código-fonte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10000"/>
              </a:lnSpc>
            </a:pPr>
            <a:r>
              <a:rPr lang="en-US" sz="2800" dirty="0" err="1" smtClean="0">
                <a:latin typeface="Tahoma"/>
                <a:ea typeface="+mn-lt"/>
                <a:cs typeface="Tahoma"/>
              </a:rPr>
              <a:t>comentários</a:t>
            </a:r>
            <a:endParaRPr lang="en-US" sz="2800" dirty="0">
              <a:latin typeface="Tahoma"/>
              <a:ea typeface="+mn-lt"/>
              <a:cs typeface="Tahoma"/>
            </a:endParaRPr>
          </a:p>
          <a:p>
            <a:pPr>
              <a:lnSpc>
                <a:spcPct val="110000"/>
              </a:lnSpc>
            </a:pPr>
            <a:r>
              <a:rPr lang="en-US" sz="3200" dirty="0" err="1" smtClean="0">
                <a:latin typeface="Tahoma"/>
                <a:ea typeface="+mn-lt"/>
                <a:cs typeface="Tahoma"/>
              </a:rPr>
              <a:t>Documentação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 err="1">
                <a:latin typeface="Tahoma"/>
                <a:ea typeface="+mn-lt"/>
                <a:cs typeface="Tahoma"/>
              </a:rPr>
              <a:t>para</a:t>
            </a:r>
            <a:r>
              <a:rPr lang="en-US" sz="3200" dirty="0">
                <a:latin typeface="Tahoma"/>
                <a:ea typeface="+mn-lt"/>
                <a:cs typeface="Tahoma"/>
              </a:rPr>
              <a:t> o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usuário</a:t>
            </a:r>
            <a:r>
              <a:rPr lang="en-US" sz="3200" dirty="0">
                <a:latin typeface="Tahoma"/>
                <a:ea typeface="+mn-lt"/>
                <a:cs typeface="Tahoma"/>
              </a:rPr>
              <a:t> do </a:t>
            </a:r>
            <a:r>
              <a:rPr lang="en-US" sz="3200" i="1" dirty="0">
                <a:latin typeface="Tahoma"/>
                <a:ea typeface="+mn-lt"/>
                <a:cs typeface="Tahoma"/>
              </a:rPr>
              <a:t>software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19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Documentos de Especifica</a:t>
            </a:r>
            <a:r>
              <a:rPr lang="bg-BG" dirty="0" smtClean="0">
                <a:latin typeface="Tahoma"/>
                <a:cs typeface="Tahoma"/>
              </a:rPr>
              <a:t>ção de Requisitos de </a:t>
            </a:r>
            <a:r>
              <a:rPr lang="bg-BG" i="1" dirty="0" smtClean="0">
                <a:latin typeface="Tahoma"/>
                <a:cs typeface="Tahoma"/>
              </a:rPr>
              <a:t>Software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3200" i="1" dirty="0" smtClean="0">
                <a:latin typeface="Tahoma"/>
                <a:ea typeface="+mn-lt"/>
                <a:cs typeface="Tahoma"/>
              </a:rPr>
              <a:t>Templates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:</a:t>
            </a:r>
            <a:endParaRPr lang="en-US" sz="32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2800" dirty="0" smtClean="0">
                <a:latin typeface="Tahoma"/>
                <a:ea typeface="+mn-lt"/>
                <a:cs typeface="Tahoma"/>
                <a:hlinkClick r:id="rId3"/>
              </a:rPr>
              <a:t>ISO/IEC/IEEE </a:t>
            </a:r>
            <a:r>
              <a:rPr lang="en-US" sz="2800" dirty="0">
                <a:latin typeface="Tahoma"/>
                <a:ea typeface="+mn-lt"/>
                <a:cs typeface="Tahoma"/>
                <a:hlinkClick r:id="rId3"/>
              </a:rPr>
              <a:t>29148</a:t>
            </a:r>
            <a:endParaRPr lang="en-US" sz="28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2800" dirty="0">
                <a:latin typeface="Tahoma"/>
                <a:ea typeface="+mn-lt"/>
                <a:cs typeface="Tahoma"/>
                <a:hlinkClick r:id="rId4"/>
              </a:rPr>
              <a:t>OpenUP</a:t>
            </a:r>
            <a:r>
              <a:rPr lang="en-US" sz="2800" dirty="0">
                <a:latin typeface="Tahoma"/>
                <a:ea typeface="+mn-lt"/>
                <a:cs typeface="Tahoma"/>
                <a:hlinkClick r:id="rId4"/>
              </a:rPr>
              <a:t> – </a:t>
            </a:r>
            <a:r>
              <a:rPr lang="en-US" sz="2800" i="1" dirty="0" smtClean="0">
                <a:latin typeface="Tahoma"/>
                <a:ea typeface="+mn-lt"/>
                <a:cs typeface="Tahoma"/>
                <a:hlinkClick r:id="rId4"/>
              </a:rPr>
              <a:t>Template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4"/>
              </a:rPr>
              <a:t> </a:t>
            </a:r>
            <a:r>
              <a:rPr lang="en-US" sz="2800" dirty="0">
                <a:latin typeface="Tahoma"/>
                <a:ea typeface="+mn-lt"/>
                <a:cs typeface="Tahoma"/>
                <a:hlinkClick r:id="rId4"/>
              </a:rPr>
              <a:t>para 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4"/>
              </a:rPr>
              <a:t>requisitos</a:t>
            </a:r>
            <a:r>
              <a:rPr lang="en-US" sz="2800" dirty="0">
                <a:latin typeface="Tahoma"/>
                <a:ea typeface="+mn-lt"/>
                <a:cs typeface="Tahoma"/>
              </a:rPr>
              <a:t> com </a:t>
            </a:r>
            <a:r>
              <a:rPr lang="en-US" sz="2800" dirty="0" err="1">
                <a:latin typeface="Tahoma"/>
                <a:ea typeface="+mn-lt"/>
                <a:cs typeface="Tahoma"/>
              </a:rPr>
              <a:t>casos</a:t>
            </a:r>
            <a:r>
              <a:rPr lang="en-US" sz="2800" dirty="0">
                <a:latin typeface="Tahoma"/>
                <a:ea typeface="+mn-lt"/>
                <a:cs typeface="Tahoma"/>
              </a:rPr>
              <a:t> de </a:t>
            </a:r>
            <a:r>
              <a:rPr lang="en-US" sz="2800" dirty="0" err="1">
                <a:latin typeface="Tahoma"/>
                <a:ea typeface="+mn-lt"/>
                <a:cs typeface="Tahoma"/>
              </a:rPr>
              <a:t>uso</a:t>
            </a:r>
            <a:endParaRPr lang="en-US" sz="28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2800" dirty="0">
                <a:latin typeface="Tahoma"/>
                <a:ea typeface="+mn-lt"/>
                <a:cs typeface="Tahoma"/>
                <a:hlinkClick r:id="rId5"/>
              </a:rPr>
              <a:t>Método 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5"/>
              </a:rPr>
              <a:t>Volere</a:t>
            </a:r>
            <a:endParaRPr lang="en-US" sz="2800" dirty="0" smtClean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2800" i="1" dirty="0" smtClean="0">
                <a:latin typeface="Tahoma"/>
                <a:ea typeface="+mn-lt"/>
                <a:cs typeface="Tahoma"/>
                <a:hlinkClick r:id="rId6"/>
              </a:rPr>
              <a:t>Template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6"/>
              </a:rPr>
              <a:t> de </a:t>
            </a:r>
            <a:r>
              <a:rPr lang="en-US" sz="2800" dirty="0" err="1" smtClean="0">
                <a:latin typeface="Tahoma"/>
                <a:ea typeface="+mn-lt"/>
                <a:cs typeface="Tahoma"/>
                <a:hlinkClick r:id="rId6"/>
              </a:rPr>
              <a:t>documento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6"/>
              </a:rPr>
              <a:t> de </a:t>
            </a:r>
            <a:r>
              <a:rPr lang="en-US" sz="2800" dirty="0" err="1" smtClean="0">
                <a:latin typeface="Tahoma"/>
                <a:ea typeface="+mn-lt"/>
                <a:cs typeface="Tahoma"/>
                <a:hlinkClick r:id="rId6"/>
              </a:rPr>
              <a:t>Especifica</a:t>
            </a:r>
            <a:r>
              <a:rPr lang="en-US" sz="2800" dirty="0" err="1" smtClean="0">
                <a:latin typeface="Tahoma"/>
                <a:ea typeface="+mn-lt"/>
                <a:cs typeface="Tahoma"/>
                <a:hlinkClick r:id="rId6"/>
              </a:rPr>
              <a:t>ção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6"/>
              </a:rPr>
              <a:t> de </a:t>
            </a:r>
            <a:r>
              <a:rPr lang="en-US" sz="2800" dirty="0" err="1" smtClean="0">
                <a:latin typeface="Tahoma"/>
                <a:ea typeface="+mn-lt"/>
                <a:cs typeface="Tahoma"/>
                <a:hlinkClick r:id="rId6"/>
              </a:rPr>
              <a:t>Objetivos</a:t>
            </a:r>
            <a:r>
              <a:rPr lang="en-US" sz="2800" dirty="0" smtClean="0">
                <a:latin typeface="Tahoma"/>
                <a:ea typeface="+mn-lt"/>
                <a:cs typeface="Tahoma"/>
                <a:hlinkClick r:id="rId6"/>
              </a:rPr>
              <a:t> e </a:t>
            </a:r>
            <a:r>
              <a:rPr lang="en-US" sz="2800" dirty="0" err="1" smtClean="0">
                <a:latin typeface="Tahoma"/>
                <a:ea typeface="+mn-lt"/>
                <a:cs typeface="Tahoma"/>
                <a:hlinkClick r:id="rId6"/>
              </a:rPr>
              <a:t>Requisitos</a:t>
            </a:r>
            <a:endParaRPr lang="en-US" sz="28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79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Documentos de Arquitetura</a:t>
            </a:r>
            <a:r>
              <a:rPr lang="bg-BG" dirty="0" smtClean="0">
                <a:latin typeface="Tahoma"/>
                <a:cs typeface="Tahoma"/>
              </a:rPr>
              <a:t> de </a:t>
            </a:r>
            <a:r>
              <a:rPr lang="bg-BG" i="1" dirty="0" smtClean="0">
                <a:latin typeface="Tahoma"/>
                <a:cs typeface="Tahoma"/>
              </a:rPr>
              <a:t>Software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3600" i="1" dirty="0" smtClean="0">
                <a:latin typeface="Tahoma"/>
                <a:ea typeface="+mn-lt"/>
                <a:cs typeface="Tahoma"/>
              </a:rPr>
              <a:t>Templates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:</a:t>
            </a:r>
          </a:p>
          <a:p>
            <a:pPr lvl="1">
              <a:lnSpc>
                <a:spcPct val="130000"/>
              </a:lnSpc>
            </a:pPr>
            <a:r>
              <a:rPr lang="en-US" sz="3200" i="1" dirty="0" smtClean="0">
                <a:latin typeface="Tahoma"/>
                <a:ea typeface="+mn-lt"/>
                <a:cs typeface="Tahoma"/>
                <a:hlinkClick r:id="rId3"/>
              </a:rPr>
              <a:t>Architecture View Template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(SEI)</a:t>
            </a:r>
            <a:endParaRPr lang="en-US" sz="32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3200" i="1" dirty="0" smtClean="0">
                <a:latin typeface="Tahoma"/>
                <a:ea typeface="+mn-lt"/>
                <a:cs typeface="Tahoma"/>
                <a:hlinkClick r:id="rId4"/>
              </a:rPr>
              <a:t>Interface </a:t>
            </a:r>
            <a:r>
              <a:rPr lang="en-US" sz="3200" i="1" dirty="0">
                <a:latin typeface="Tahoma"/>
                <a:ea typeface="+mn-lt"/>
                <a:cs typeface="Tahoma"/>
                <a:hlinkClick r:id="rId4"/>
              </a:rPr>
              <a:t>Template</a:t>
            </a:r>
            <a:r>
              <a:rPr lang="en-US" sz="3200" i="1" dirty="0">
                <a:latin typeface="Tahoma"/>
                <a:ea typeface="+mn-lt"/>
                <a:cs typeface="Tahoma"/>
              </a:rPr>
              <a:t> </a:t>
            </a:r>
            <a:r>
              <a:rPr lang="en-US" sz="3200" dirty="0">
                <a:latin typeface="Tahoma"/>
                <a:ea typeface="+mn-lt"/>
                <a:cs typeface="Tahoma"/>
              </a:rPr>
              <a:t>(SEI)</a:t>
            </a:r>
          </a:p>
          <a:p>
            <a:pPr lvl="1">
              <a:lnSpc>
                <a:spcPct val="130000"/>
              </a:lnSpc>
            </a:pPr>
            <a:r>
              <a:rPr lang="en-US" sz="3200" dirty="0" smtClean="0">
                <a:latin typeface="Tahoma"/>
                <a:ea typeface="+mn-lt"/>
                <a:cs typeface="Tahoma"/>
                <a:hlinkClick r:id="rId5"/>
              </a:rPr>
              <a:t>ISO/IEC/IEEE </a:t>
            </a:r>
            <a:r>
              <a:rPr lang="en-US" sz="3200" dirty="0">
                <a:latin typeface="Tahoma"/>
                <a:ea typeface="+mn-lt"/>
                <a:cs typeface="Tahoma"/>
                <a:hlinkClick r:id="rId5"/>
              </a:rPr>
              <a:t>42020</a:t>
            </a:r>
            <a:endParaRPr lang="en-US" sz="3200" dirty="0">
              <a:latin typeface="Tahoma"/>
              <a:ea typeface="+mn-lt"/>
              <a:cs typeface="Tahoma"/>
            </a:endParaRPr>
          </a:p>
          <a:p>
            <a:pPr>
              <a:lnSpc>
                <a:spcPct val="130000"/>
              </a:lnSpc>
            </a:pPr>
            <a:r>
              <a:rPr lang="en-US" sz="3600" dirty="0" err="1" smtClean="0">
                <a:latin typeface="Tahoma"/>
                <a:ea typeface="+mn-lt"/>
                <a:cs typeface="Tahoma"/>
              </a:rPr>
              <a:t>Exemplo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:</a:t>
            </a:r>
            <a:endParaRPr lang="en-US" sz="36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en-US" sz="3200" i="1" dirty="0" smtClean="0">
                <a:latin typeface="Tahoma"/>
                <a:ea typeface="+mn-lt"/>
                <a:cs typeface="Tahoma"/>
                <a:hlinkClick r:id="rId6"/>
              </a:rPr>
              <a:t>Adventure Builder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>
                <a:latin typeface="Tahoma"/>
                <a:ea typeface="+mn-lt"/>
                <a:cs typeface="Tahoma"/>
              </a:rPr>
              <a:t>(SEI)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64260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Documenta</a:t>
            </a:r>
            <a:r>
              <a:rPr lang="bg-BG" dirty="0" smtClean="0">
                <a:latin typeface="Tahoma"/>
                <a:cs typeface="Tahoma"/>
              </a:rPr>
              <a:t>ção do Código-Fonte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800" dirty="0" err="1" smtClean="0">
                <a:latin typeface="Tahoma"/>
                <a:ea typeface="+mn-lt"/>
                <a:cs typeface="Tahoma"/>
              </a:rPr>
              <a:t>Comente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dirty="0">
                <a:latin typeface="Tahoma"/>
                <a:ea typeface="+mn-lt"/>
                <a:cs typeface="Tahoma"/>
              </a:rPr>
              <a:t>com um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cabeçalho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cada</a:t>
            </a:r>
            <a:r>
              <a:rPr lang="en-US" sz="2800" dirty="0">
                <a:latin typeface="Tahoma"/>
                <a:ea typeface="+mn-lt"/>
                <a:cs typeface="Tahoma"/>
              </a:rPr>
              <a:t> um dos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arquivos</a:t>
            </a:r>
            <a:r>
              <a:rPr lang="en-US" sz="2800" b="1" dirty="0">
                <a:latin typeface="Tahoma"/>
                <a:ea typeface="+mn-lt"/>
                <a:cs typeface="Tahoma"/>
              </a:rPr>
              <a:t> do </a:t>
            </a:r>
            <a:r>
              <a:rPr lang="en-US" sz="2800" b="1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10000"/>
              </a:lnSpc>
            </a:pPr>
            <a:r>
              <a:rPr lang="en-US" sz="2400" dirty="0" err="1" smtClean="0">
                <a:latin typeface="Tahoma"/>
                <a:ea typeface="+mn-lt"/>
                <a:cs typeface="Tahoma"/>
              </a:rPr>
              <a:t>indicando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400" dirty="0">
                <a:latin typeface="Tahoma"/>
                <a:ea typeface="+mn-lt"/>
                <a:cs typeface="Tahoma"/>
              </a:rPr>
              <a:t>o </a:t>
            </a:r>
            <a:r>
              <a:rPr lang="en-US" sz="2400" b="1" dirty="0" err="1">
                <a:latin typeface="Tahoma"/>
                <a:ea typeface="+mn-lt"/>
                <a:cs typeface="Tahoma"/>
              </a:rPr>
              <a:t>objetivo</a:t>
            </a:r>
            <a:r>
              <a:rPr lang="en-US" sz="2400" dirty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>
                <a:latin typeface="Tahoma"/>
                <a:ea typeface="+mn-lt"/>
                <a:cs typeface="Tahoma"/>
              </a:rPr>
              <a:t>daquele</a:t>
            </a:r>
            <a:r>
              <a:rPr lang="en-US" sz="2400" dirty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 smtClean="0">
                <a:latin typeface="Tahoma"/>
                <a:ea typeface="+mn-lt"/>
                <a:cs typeface="Tahoma"/>
              </a:rPr>
              <a:t>arquivo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.</a:t>
            </a:r>
            <a:endParaRPr lang="en-US" sz="2400" dirty="0">
              <a:latin typeface="Tahoma"/>
              <a:ea typeface="+mn-lt"/>
              <a:cs typeface="Tahoma"/>
            </a:endParaRPr>
          </a:p>
          <a:p>
            <a:pPr>
              <a:lnSpc>
                <a:spcPct val="110000"/>
              </a:lnSpc>
            </a:pPr>
            <a:r>
              <a:rPr lang="en-US" sz="2800" dirty="0" err="1">
                <a:latin typeface="Tahoma"/>
                <a:ea typeface="+mn-lt"/>
                <a:cs typeface="Tahoma"/>
              </a:rPr>
              <a:t>Comente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cada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uma</a:t>
            </a:r>
            <a:r>
              <a:rPr lang="en-US" sz="2800" dirty="0">
                <a:latin typeface="Tahoma"/>
                <a:ea typeface="+mn-lt"/>
                <a:cs typeface="Tahoma"/>
              </a:rPr>
              <a:t> das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funções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ou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métodos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de </a:t>
            </a:r>
            <a:r>
              <a:rPr lang="en-US" sz="2800" dirty="0" err="1">
                <a:latin typeface="Tahoma"/>
                <a:ea typeface="+mn-lt"/>
                <a:cs typeface="Tahoma"/>
              </a:rPr>
              <a:t>seu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 smtClean="0">
                <a:latin typeface="Tahoma"/>
                <a:ea typeface="+mn-lt"/>
                <a:cs typeface="Tahoma"/>
              </a:rPr>
              <a:t>código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2800" dirty="0" err="1">
                <a:latin typeface="Tahoma"/>
                <a:ea typeface="+mn-lt"/>
                <a:cs typeface="Tahoma"/>
              </a:rPr>
              <a:t>Comente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os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tipos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abstratos</a:t>
            </a:r>
            <a:r>
              <a:rPr lang="en-US" sz="2800" b="1" dirty="0">
                <a:latin typeface="Tahoma"/>
                <a:ea typeface="+mn-lt"/>
                <a:cs typeface="Tahoma"/>
              </a:rPr>
              <a:t> de dados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ou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smtClean="0">
                <a:latin typeface="Tahoma"/>
                <a:ea typeface="+mn-lt"/>
                <a:cs typeface="Tahoma"/>
              </a:rPr>
              <a:t>classes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.</a:t>
            </a:r>
            <a:endParaRPr lang="en-US" sz="2800" dirty="0">
              <a:latin typeface="Tahoma"/>
              <a:ea typeface="+mn-lt"/>
              <a:cs typeface="Tahoma"/>
            </a:endParaRPr>
          </a:p>
          <a:p>
            <a:pPr>
              <a:lnSpc>
                <a:spcPct val="110000"/>
              </a:lnSpc>
            </a:pPr>
            <a:r>
              <a:rPr lang="en-US" sz="2800" dirty="0" err="1" smtClean="0">
                <a:latin typeface="Tahoma"/>
                <a:ea typeface="+mn-lt"/>
                <a:cs typeface="Tahoma"/>
              </a:rPr>
              <a:t>Comente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partes</a:t>
            </a:r>
            <a:r>
              <a:rPr lang="en-US" sz="2800" b="1" dirty="0">
                <a:latin typeface="Tahoma"/>
                <a:ea typeface="+mn-lt"/>
                <a:cs typeface="Tahoma"/>
              </a:rPr>
              <a:t> do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código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que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aparentemente</a:t>
            </a:r>
            <a:r>
              <a:rPr lang="en-US" sz="2800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não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estão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 smtClean="0">
                <a:latin typeface="Tahoma"/>
                <a:ea typeface="+mn-lt"/>
                <a:cs typeface="Tahoma"/>
              </a:rPr>
              <a:t>claras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.</a:t>
            </a:r>
            <a:endParaRPr lang="en-US" sz="28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107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Cabe</a:t>
            </a:r>
            <a:r>
              <a:rPr lang="bg-BG" sz="5400" dirty="0" smtClean="0">
                <a:latin typeface="Tahoma"/>
                <a:cs typeface="Tahoma"/>
              </a:rPr>
              <a:t>çalho de Arquivos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*******************************************************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FILENAME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: </a:t>
            </a:r>
            <a:r>
              <a:rPr lang="en-US" sz="1800" b="1" dirty="0" err="1" smtClean="0">
                <a:latin typeface="Courier New"/>
                <a:ea typeface="+mn-lt"/>
                <a:cs typeface="+mn-lt"/>
              </a:rPr>
              <a:t>fmcompres.c</a:t>
            </a:r>
            <a:endParaRPr lang="en-US" sz="1800" b="1" dirty="0" smtClean="0">
              <a:latin typeface="Courier New"/>
              <a:ea typeface="+mn-lt"/>
              <a:cs typeface="+mn-lt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DESCRIPTION :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File compression and decompression </a:t>
            </a:r>
            <a:endParaRPr lang="en-US" sz="1800" b="1" dirty="0" smtClean="0">
              <a:latin typeface="Courier New"/>
              <a:ea typeface="+mn-lt"/>
              <a:cs typeface="+mn-lt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              routines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.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PUBLIC FUNCTIONS :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ea typeface="+mn-lt"/>
                <a:cs typeface="+mn-lt"/>
              </a:rPr>
              <a:t>*       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int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     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FM_CompressFile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( 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FileHandle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 )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ea typeface="+mn-lt"/>
                <a:cs typeface="+mn-lt"/>
              </a:rPr>
              <a:t>*       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int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     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FM_DecompressFile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( </a:t>
            </a:r>
            <a:r>
              <a:rPr lang="en-US" sz="1800" b="1" dirty="0" err="1">
                <a:latin typeface="Courier New"/>
                <a:ea typeface="+mn-lt"/>
                <a:cs typeface="+mn-lt"/>
              </a:rPr>
              <a:t>FileHandle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 )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NOTES :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ea typeface="+mn-lt"/>
                <a:cs typeface="+mn-lt"/>
              </a:rPr>
              <a:t>*       These functions are a part of the FM suite;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ea typeface="+mn-lt"/>
                <a:cs typeface="+mn-lt"/>
              </a:rPr>
              <a:t>*       See IMS FM0121 for detailed description.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ea typeface="+mn-lt"/>
                <a:cs typeface="+mn-lt"/>
              </a:rPr>
              <a:t>*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AUTHOR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: </a:t>
            </a:r>
            <a:r>
              <a:rPr lang="en-US" sz="1800" b="1" dirty="0" smtClean="0">
                <a:latin typeface="Courier New"/>
                <a:ea typeface="+mn-lt"/>
                <a:cs typeface="+mn-lt"/>
              </a:rPr>
              <a:t>Arthur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Other        </a:t>
            </a:r>
            <a:endParaRPr lang="en-US" sz="1800" b="1" dirty="0" smtClean="0">
              <a:latin typeface="Courier New"/>
              <a:ea typeface="+mn-lt"/>
              <a:cs typeface="+mn-lt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 START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DATE : </a:t>
            </a:r>
            <a:r>
              <a:rPr lang="en-US" sz="1800" b="1" dirty="0" smtClean="0">
                <a:latin typeface="Courier New"/>
                <a:ea typeface="+mn-lt"/>
                <a:cs typeface="+mn-lt"/>
              </a:rPr>
              <a:t>16 </a:t>
            </a:r>
            <a:r>
              <a:rPr lang="en-US" sz="1800" b="1" dirty="0">
                <a:latin typeface="Courier New"/>
                <a:ea typeface="+mn-lt"/>
                <a:cs typeface="+mn-lt"/>
              </a:rPr>
              <a:t>Jan 99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ea typeface="+mn-lt"/>
                <a:cs typeface="+mn-lt"/>
              </a:rPr>
              <a:t>********************************************************</a:t>
            </a:r>
            <a:endParaRPr lang="en-US" sz="28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6070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Assinatura da Fun</a:t>
            </a:r>
            <a:r>
              <a:rPr lang="bg-BG" sz="5400" dirty="0" smtClean="0">
                <a:latin typeface="Tahoma"/>
                <a:cs typeface="Tahoma"/>
              </a:rPr>
              <a:t>ção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</a:pPr>
            <a:r>
              <a:rPr lang="en-US" sz="2600" b="1" dirty="0" smtClean="0">
                <a:latin typeface="Tahoma"/>
                <a:ea typeface="+mn-lt"/>
                <a:cs typeface="Tahoma"/>
              </a:rPr>
              <a:t>Nome</a:t>
            </a:r>
            <a:r>
              <a:rPr lang="en-US" sz="26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600" dirty="0">
                <a:latin typeface="Tahoma"/>
                <a:ea typeface="+mn-lt"/>
                <a:cs typeface="Tahoma"/>
              </a:rPr>
              <a:t>da </a:t>
            </a:r>
            <a:r>
              <a:rPr lang="en-US" sz="2600" dirty="0" err="1" smtClean="0">
                <a:latin typeface="Tahoma"/>
                <a:ea typeface="+mn-lt"/>
                <a:cs typeface="Tahoma"/>
              </a:rPr>
              <a:t>função</a:t>
            </a:r>
            <a:r>
              <a:rPr lang="en-US" sz="2600" dirty="0" smtClean="0">
                <a:latin typeface="Tahoma"/>
                <a:ea typeface="+mn-lt"/>
                <a:cs typeface="Tahoma"/>
              </a:rPr>
              <a:t>:</a:t>
            </a:r>
            <a:endParaRPr lang="en-US" sz="26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14000"/>
              </a:lnSpc>
            </a:pPr>
            <a:r>
              <a:rPr lang="en-US" sz="2400" dirty="0" err="1" smtClean="0">
                <a:latin typeface="Tahoma"/>
                <a:ea typeface="+mn-lt"/>
                <a:cs typeface="Tahoma"/>
              </a:rPr>
              <a:t>deve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>
                <a:latin typeface="Tahoma"/>
                <a:ea typeface="+mn-lt"/>
                <a:cs typeface="Tahoma"/>
              </a:rPr>
              <a:t>ser</a:t>
            </a:r>
            <a:r>
              <a:rPr lang="en-US" sz="2400" dirty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>
                <a:latin typeface="Tahoma"/>
                <a:ea typeface="+mn-lt"/>
                <a:cs typeface="Tahoma"/>
              </a:rPr>
              <a:t>pensado</a:t>
            </a:r>
            <a:r>
              <a:rPr lang="en-US" sz="2400" dirty="0">
                <a:latin typeface="Tahoma"/>
                <a:ea typeface="+mn-lt"/>
                <a:cs typeface="Tahoma"/>
              </a:rPr>
              <a:t> do </a:t>
            </a:r>
            <a:r>
              <a:rPr lang="en-US" sz="2400" b="1" dirty="0" err="1">
                <a:latin typeface="Tahoma"/>
                <a:ea typeface="+mn-lt"/>
                <a:cs typeface="Tahoma"/>
              </a:rPr>
              <a:t>ponto</a:t>
            </a:r>
            <a:r>
              <a:rPr lang="en-US" sz="2400" b="1" dirty="0">
                <a:latin typeface="Tahoma"/>
                <a:ea typeface="+mn-lt"/>
                <a:cs typeface="Tahoma"/>
              </a:rPr>
              <a:t> de vista </a:t>
            </a:r>
            <a:r>
              <a:rPr lang="en-US" sz="2400" dirty="0">
                <a:latin typeface="Tahoma"/>
                <a:ea typeface="+mn-lt"/>
                <a:cs typeface="Tahoma"/>
              </a:rPr>
              <a:t>de </a:t>
            </a:r>
            <a:r>
              <a:rPr lang="en-US" sz="2400" b="1" dirty="0" err="1">
                <a:latin typeface="Tahoma"/>
                <a:ea typeface="+mn-lt"/>
                <a:cs typeface="Tahoma"/>
              </a:rPr>
              <a:t>quem</a:t>
            </a:r>
            <a:r>
              <a:rPr lang="en-US" sz="2400" b="1" dirty="0">
                <a:latin typeface="Tahoma"/>
                <a:ea typeface="+mn-lt"/>
                <a:cs typeface="Tahoma"/>
              </a:rPr>
              <a:t> </a:t>
            </a:r>
            <a:r>
              <a:rPr lang="en-US" sz="2400" b="1" dirty="0" err="1">
                <a:latin typeface="Tahoma"/>
                <a:ea typeface="+mn-lt"/>
                <a:cs typeface="Tahoma"/>
              </a:rPr>
              <a:t>vai</a:t>
            </a:r>
            <a:r>
              <a:rPr lang="en-US" sz="2400" b="1" dirty="0">
                <a:latin typeface="Tahoma"/>
                <a:ea typeface="+mn-lt"/>
                <a:cs typeface="Tahoma"/>
              </a:rPr>
              <a:t> </a:t>
            </a:r>
            <a:r>
              <a:rPr lang="en-US" sz="2400" b="1" dirty="0" err="1">
                <a:latin typeface="Tahoma"/>
                <a:ea typeface="+mn-lt"/>
                <a:cs typeface="Tahoma"/>
              </a:rPr>
              <a:t>usar</a:t>
            </a:r>
            <a:r>
              <a:rPr lang="en-US" sz="2400" b="1" dirty="0">
                <a:latin typeface="Tahoma"/>
                <a:ea typeface="+mn-lt"/>
                <a:cs typeface="Tahoma"/>
              </a:rPr>
              <a:t> a </a:t>
            </a:r>
            <a:r>
              <a:rPr lang="en-US" sz="2400" b="1" dirty="0" err="1" smtClean="0">
                <a:latin typeface="Tahoma"/>
                <a:ea typeface="+mn-lt"/>
                <a:cs typeface="Tahoma"/>
              </a:rPr>
              <a:t>função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14000"/>
              </a:lnSpc>
            </a:pPr>
            <a:r>
              <a:rPr lang="en-US" sz="2200" dirty="0" err="1" smtClean="0">
                <a:latin typeface="Tahoma"/>
                <a:ea typeface="+mn-lt"/>
                <a:cs typeface="Tahoma"/>
              </a:rPr>
              <a:t>não</a:t>
            </a:r>
            <a:r>
              <a:rPr lang="en-US" sz="2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200" dirty="0">
                <a:latin typeface="Tahoma"/>
                <a:ea typeface="+mn-lt"/>
                <a:cs typeface="Tahoma"/>
              </a:rPr>
              <a:t>do </a:t>
            </a:r>
            <a:r>
              <a:rPr lang="en-US" sz="2200" dirty="0" err="1">
                <a:latin typeface="Tahoma"/>
                <a:ea typeface="+mn-lt"/>
                <a:cs typeface="Tahoma"/>
              </a:rPr>
              <a:t>ponto</a:t>
            </a:r>
            <a:r>
              <a:rPr lang="en-US" sz="2200" dirty="0">
                <a:latin typeface="Tahoma"/>
                <a:ea typeface="+mn-lt"/>
                <a:cs typeface="Tahoma"/>
              </a:rPr>
              <a:t> de vista de </a:t>
            </a:r>
            <a:r>
              <a:rPr lang="en-US" sz="2200" dirty="0" err="1">
                <a:latin typeface="Tahoma"/>
                <a:ea typeface="+mn-lt"/>
                <a:cs typeface="Tahoma"/>
              </a:rPr>
              <a:t>quem</a:t>
            </a:r>
            <a:r>
              <a:rPr lang="en-US" sz="2200" dirty="0">
                <a:latin typeface="Tahoma"/>
                <a:ea typeface="+mn-lt"/>
                <a:cs typeface="Tahoma"/>
              </a:rPr>
              <a:t> </a:t>
            </a:r>
            <a:r>
              <a:rPr lang="en-US" sz="2200" dirty="0" err="1" smtClean="0">
                <a:latin typeface="Tahoma"/>
                <a:ea typeface="+mn-lt"/>
                <a:cs typeface="Tahoma"/>
              </a:rPr>
              <a:t>codificou</a:t>
            </a:r>
            <a:r>
              <a:rPr lang="en-US" sz="2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200" dirty="0">
                <a:latin typeface="Tahoma"/>
                <a:ea typeface="+mn-lt"/>
                <a:cs typeface="Tahoma"/>
              </a:rPr>
              <a:t>a </a:t>
            </a:r>
            <a:r>
              <a:rPr lang="en-US" sz="2200" dirty="0" err="1" smtClean="0">
                <a:latin typeface="Tahoma"/>
                <a:ea typeface="+mn-lt"/>
                <a:cs typeface="Tahoma"/>
              </a:rPr>
              <a:t>função</a:t>
            </a:r>
            <a:r>
              <a:rPr lang="en-US" sz="2200" dirty="0" smtClean="0">
                <a:latin typeface="Tahoma"/>
                <a:ea typeface="+mn-lt"/>
                <a:cs typeface="Tahoma"/>
              </a:rPr>
              <a:t>, </a:t>
            </a:r>
            <a:r>
              <a:rPr lang="en-US" sz="2200" dirty="0" err="1">
                <a:latin typeface="Tahoma"/>
                <a:ea typeface="+mn-lt"/>
                <a:cs typeface="Tahoma"/>
              </a:rPr>
              <a:t>descrevendo</a:t>
            </a:r>
            <a:r>
              <a:rPr lang="en-US" sz="2200" dirty="0">
                <a:latin typeface="Tahoma"/>
                <a:ea typeface="+mn-lt"/>
                <a:cs typeface="Tahoma"/>
              </a:rPr>
              <a:t> </a:t>
            </a:r>
            <a:r>
              <a:rPr lang="en-US" sz="2200" dirty="0" err="1" smtClean="0">
                <a:latin typeface="Tahoma"/>
                <a:ea typeface="+mn-lt"/>
                <a:cs typeface="Tahoma"/>
              </a:rPr>
              <a:t>aspectos</a:t>
            </a:r>
            <a:r>
              <a:rPr lang="en-US" sz="2200" dirty="0" smtClean="0">
                <a:latin typeface="Tahoma"/>
                <a:ea typeface="+mn-lt"/>
                <a:cs typeface="Tahoma"/>
              </a:rPr>
              <a:t> da </a:t>
            </a:r>
            <a:r>
              <a:rPr lang="en-US" sz="2200" dirty="0" err="1">
                <a:latin typeface="Tahoma"/>
                <a:ea typeface="+mn-lt"/>
                <a:cs typeface="Tahoma"/>
              </a:rPr>
              <a:t>implementação</a:t>
            </a:r>
            <a:r>
              <a:rPr lang="en-US" sz="2200" dirty="0">
                <a:latin typeface="Tahoma"/>
                <a:ea typeface="+mn-lt"/>
                <a:cs typeface="Tahoma"/>
              </a:rPr>
              <a:t> da </a:t>
            </a:r>
            <a:r>
              <a:rPr lang="en-US" sz="2200" dirty="0" err="1" smtClean="0">
                <a:latin typeface="Tahoma"/>
                <a:ea typeface="+mn-lt"/>
                <a:cs typeface="Tahoma"/>
              </a:rPr>
              <a:t>mesma</a:t>
            </a:r>
            <a:r>
              <a:rPr lang="en-US" sz="2200" dirty="0" smtClean="0">
                <a:latin typeface="Tahoma"/>
                <a:ea typeface="+mn-lt"/>
                <a:cs typeface="Tahoma"/>
              </a:rPr>
              <a:t>:</a:t>
            </a:r>
            <a:endParaRPr lang="en-US" sz="2200" dirty="0">
              <a:latin typeface="Tahoma"/>
              <a:ea typeface="+mn-lt"/>
              <a:cs typeface="Tahoma"/>
            </a:endParaRPr>
          </a:p>
          <a:p>
            <a:pPr lvl="3">
              <a:lnSpc>
                <a:spcPct val="114000"/>
              </a:lnSpc>
            </a:pPr>
            <a:r>
              <a:rPr lang="en-US" sz="1800" dirty="0" err="1" smtClean="0">
                <a:latin typeface="Tahoma"/>
                <a:ea typeface="+mn-lt"/>
                <a:cs typeface="Tahoma"/>
              </a:rPr>
              <a:t>DeterminaTipoTriangulo</a:t>
            </a:r>
            <a:r>
              <a:rPr lang="en-US" sz="1800" dirty="0" smtClean="0">
                <a:latin typeface="Tahoma"/>
                <a:ea typeface="+mn-lt"/>
                <a:cs typeface="Tahoma"/>
              </a:rPr>
              <a:t>;</a:t>
            </a:r>
            <a:endParaRPr lang="en-US" sz="1800" dirty="0">
              <a:latin typeface="Tahoma"/>
              <a:ea typeface="+mn-lt"/>
              <a:cs typeface="Tahoma"/>
            </a:endParaRPr>
          </a:p>
          <a:p>
            <a:pPr lvl="3">
              <a:lnSpc>
                <a:spcPct val="114000"/>
              </a:lnSpc>
            </a:pPr>
            <a:r>
              <a:rPr lang="en-US" sz="1800" dirty="0" err="1" smtClean="0">
                <a:latin typeface="Tahoma"/>
                <a:ea typeface="+mn-lt"/>
                <a:cs typeface="Tahoma"/>
              </a:rPr>
              <a:t>ComparaTamanhoLados</a:t>
            </a:r>
            <a:r>
              <a:rPr lang="en-US" sz="1800" dirty="0" smtClean="0">
                <a:latin typeface="Tahoma"/>
                <a:ea typeface="+mn-lt"/>
                <a:cs typeface="Tahoma"/>
              </a:rPr>
              <a:t>.</a:t>
            </a:r>
            <a:endParaRPr lang="en-US" sz="1800" dirty="0">
              <a:latin typeface="Tahoma"/>
              <a:ea typeface="+mn-lt"/>
              <a:cs typeface="Tahoma"/>
            </a:endParaRPr>
          </a:p>
          <a:p>
            <a:pPr>
              <a:lnSpc>
                <a:spcPct val="114000"/>
              </a:lnSpc>
            </a:pPr>
            <a:r>
              <a:rPr lang="en-US" sz="2600" b="1" dirty="0" err="1">
                <a:latin typeface="Tahoma"/>
                <a:ea typeface="+mn-lt"/>
                <a:cs typeface="Tahoma"/>
              </a:rPr>
              <a:t>Parâmetros</a:t>
            </a:r>
            <a:endParaRPr lang="en-US" sz="2600" b="1" dirty="0">
              <a:latin typeface="Tahoma"/>
              <a:ea typeface="+mn-lt"/>
              <a:cs typeface="Tahoma"/>
            </a:endParaRPr>
          </a:p>
          <a:p>
            <a:pPr>
              <a:lnSpc>
                <a:spcPct val="114000"/>
              </a:lnSpc>
            </a:pPr>
            <a:r>
              <a:rPr lang="en-US" sz="2600" b="1" dirty="0" err="1">
                <a:latin typeface="Tahoma"/>
                <a:ea typeface="+mn-lt"/>
                <a:cs typeface="Tahoma"/>
              </a:rPr>
              <a:t>Tipos</a:t>
            </a:r>
            <a:r>
              <a:rPr lang="en-US" sz="2600" b="1" dirty="0">
                <a:latin typeface="Tahoma"/>
                <a:ea typeface="+mn-lt"/>
                <a:cs typeface="Tahoma"/>
              </a:rPr>
              <a:t> dos </a:t>
            </a:r>
            <a:r>
              <a:rPr lang="en-US" sz="2600" b="1" dirty="0" err="1">
                <a:latin typeface="Tahoma"/>
                <a:ea typeface="+mn-lt"/>
                <a:cs typeface="Tahoma"/>
              </a:rPr>
              <a:t>parâmetros</a:t>
            </a:r>
            <a:endParaRPr lang="en-US" sz="2600" b="1" dirty="0">
              <a:latin typeface="Tahoma"/>
              <a:ea typeface="+mn-lt"/>
              <a:cs typeface="Tahoma"/>
            </a:endParaRPr>
          </a:p>
          <a:p>
            <a:pPr>
              <a:lnSpc>
                <a:spcPct val="114000"/>
              </a:lnSpc>
            </a:pPr>
            <a:r>
              <a:rPr lang="en-US" sz="2600" b="1" dirty="0" err="1">
                <a:latin typeface="Tahoma"/>
                <a:ea typeface="+mn-lt"/>
                <a:cs typeface="Tahoma"/>
              </a:rPr>
              <a:t>Tipo</a:t>
            </a:r>
            <a:r>
              <a:rPr lang="en-US" sz="2600" b="1" dirty="0">
                <a:latin typeface="Tahoma"/>
                <a:ea typeface="+mn-lt"/>
                <a:cs typeface="Tahoma"/>
              </a:rPr>
              <a:t> do </a:t>
            </a:r>
            <a:r>
              <a:rPr lang="en-US" sz="2600" b="1" dirty="0" err="1">
                <a:latin typeface="Tahoma"/>
                <a:ea typeface="+mn-lt"/>
                <a:cs typeface="Tahoma"/>
              </a:rPr>
              <a:t>retorno</a:t>
            </a:r>
            <a:r>
              <a:rPr lang="en-US" sz="2600" b="1" dirty="0">
                <a:latin typeface="Tahoma"/>
                <a:ea typeface="+mn-lt"/>
                <a:cs typeface="Tahoma"/>
              </a:rPr>
              <a:t> da </a:t>
            </a:r>
            <a:r>
              <a:rPr lang="en-US" sz="2600" b="1" dirty="0" err="1">
                <a:latin typeface="Tahoma"/>
                <a:ea typeface="+mn-lt"/>
                <a:cs typeface="Tahoma"/>
              </a:rPr>
              <a:t>função</a:t>
            </a:r>
            <a:endParaRPr lang="en-US" sz="2600" b="1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165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Documentando as Assinaturas das Fun</a:t>
            </a:r>
            <a:r>
              <a:rPr lang="bg-BG" dirty="0" smtClean="0">
                <a:latin typeface="Tahoma"/>
                <a:cs typeface="Tahoma"/>
              </a:rPr>
              <a:t>ções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n-US" sz="4000" dirty="0" err="1" smtClean="0">
                <a:latin typeface="Tahoma"/>
                <a:ea typeface="+mn-lt"/>
                <a:cs typeface="Tahoma"/>
              </a:rPr>
              <a:t>Descreva</a:t>
            </a:r>
            <a:r>
              <a:rPr lang="en-US" sz="4000" dirty="0" smtClean="0">
                <a:latin typeface="Tahoma"/>
                <a:ea typeface="+mn-lt"/>
                <a:cs typeface="Tahoma"/>
              </a:rPr>
              <a:t>:</a:t>
            </a:r>
          </a:p>
          <a:p>
            <a:pPr lvl="1">
              <a:lnSpc>
                <a:spcPct val="140000"/>
              </a:lnSpc>
            </a:pPr>
            <a:r>
              <a:rPr lang="en-US" sz="3600" b="1" dirty="0" err="1" smtClean="0">
                <a:latin typeface="Tahoma"/>
                <a:ea typeface="+mn-lt"/>
                <a:cs typeface="Tahoma"/>
              </a:rPr>
              <a:t>propósito</a:t>
            </a:r>
            <a:r>
              <a:rPr lang="en-US" sz="36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dirty="0">
                <a:latin typeface="Tahoma"/>
                <a:ea typeface="+mn-lt"/>
                <a:cs typeface="Tahoma"/>
              </a:rPr>
              <a:t>da </a:t>
            </a:r>
            <a:r>
              <a:rPr lang="en-US" sz="3600" dirty="0" err="1" smtClean="0">
                <a:latin typeface="Tahoma"/>
                <a:ea typeface="+mn-lt"/>
                <a:cs typeface="Tahoma"/>
              </a:rPr>
              <a:t>função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;</a:t>
            </a:r>
            <a:endParaRPr lang="en-US" sz="36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40000"/>
              </a:lnSpc>
            </a:pPr>
            <a:r>
              <a:rPr lang="en-US" sz="3600" b="1" dirty="0" err="1" smtClean="0">
                <a:latin typeface="Tahoma"/>
                <a:ea typeface="+mn-lt"/>
                <a:cs typeface="Tahoma"/>
              </a:rPr>
              <a:t>cada</a:t>
            </a:r>
            <a:r>
              <a:rPr lang="en-US" sz="36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b="1" dirty="0" err="1">
                <a:latin typeface="Tahoma"/>
                <a:ea typeface="+mn-lt"/>
                <a:cs typeface="Tahoma"/>
              </a:rPr>
              <a:t>parâmetro</a:t>
            </a:r>
            <a:r>
              <a:rPr lang="en-US" sz="3600" b="1" dirty="0">
                <a:latin typeface="Tahoma"/>
                <a:ea typeface="+mn-lt"/>
                <a:cs typeface="Tahoma"/>
              </a:rPr>
              <a:t> de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entrada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;</a:t>
            </a:r>
            <a:endParaRPr lang="en-US" sz="36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40000"/>
              </a:lnSpc>
            </a:pPr>
            <a:r>
              <a:rPr lang="en-US" sz="3600" dirty="0" smtClean="0">
                <a:latin typeface="Tahoma"/>
                <a:ea typeface="+mn-lt"/>
                <a:cs typeface="Tahoma"/>
              </a:rPr>
              <a:t>as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saídas</a:t>
            </a:r>
            <a:r>
              <a:rPr lang="en-US" sz="36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poss</a:t>
            </a:r>
            <a:r>
              <a:rPr lang="en-US" sz="3600" b="1" dirty="0" err="1" smtClean="0">
                <a:latin typeface="Tahoma"/>
                <a:ea typeface="+mn-lt"/>
                <a:cs typeface="Tahoma"/>
              </a:rPr>
              <a:t>íveis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.</a:t>
            </a:r>
            <a:endParaRPr lang="en-US" sz="36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6745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Documentando as Assinaturas das Fun</a:t>
            </a:r>
            <a:r>
              <a:rPr lang="bg-BG" dirty="0" smtClean="0">
                <a:latin typeface="Tahoma"/>
                <a:cs typeface="Tahoma"/>
              </a:rPr>
              <a:t>ções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6" y="1582613"/>
            <a:ext cx="8150354" cy="4665593"/>
          </a:xfrm>
        </p:spPr>
        <p:txBody>
          <a:bodyPr>
            <a:noAutofit/>
          </a:bodyPr>
          <a:lstStyle/>
          <a:p>
            <a:pPr marL="45720" indent="0">
              <a:lnSpc>
                <a:spcPct val="110000"/>
              </a:lnSpc>
              <a:buNone/>
            </a:pPr>
            <a:r>
              <a:rPr lang="pt-BR" sz="2400" b="1" dirty="0" err="1">
                <a:latin typeface="Tahoma"/>
                <a:ea typeface="+mn-lt"/>
                <a:cs typeface="Tahoma"/>
              </a:rPr>
              <a:t>int</a:t>
            </a:r>
            <a:r>
              <a:rPr lang="pt-BR" sz="2400" b="1" dirty="0">
                <a:latin typeface="Tahoma"/>
                <a:ea typeface="+mn-lt"/>
                <a:cs typeface="Tahoma"/>
              </a:rPr>
              <a:t> </a:t>
            </a:r>
            <a:r>
              <a:rPr lang="pt-BR" sz="2400" b="1" dirty="0" err="1">
                <a:latin typeface="Tahoma"/>
                <a:ea typeface="+mn-lt"/>
                <a:cs typeface="Tahoma"/>
              </a:rPr>
              <a:t>imprimirReserva</a:t>
            </a:r>
            <a:r>
              <a:rPr lang="pt-BR" sz="2400" b="1" dirty="0" smtClean="0">
                <a:latin typeface="Tahoma"/>
                <a:ea typeface="+mn-lt"/>
                <a:cs typeface="Tahoma"/>
              </a:rPr>
              <a:t>(char</a:t>
            </a:r>
            <a:r>
              <a:rPr lang="pt-BR" sz="2400" b="1" dirty="0">
                <a:latin typeface="Tahoma"/>
                <a:ea typeface="+mn-lt"/>
                <a:cs typeface="Tahoma"/>
              </a:rPr>
              <a:t> </a:t>
            </a:r>
            <a:r>
              <a:rPr lang="pt-BR" sz="2400" b="1" dirty="0" err="1" smtClean="0">
                <a:latin typeface="Tahoma"/>
                <a:ea typeface="+mn-lt"/>
                <a:cs typeface="Tahoma"/>
              </a:rPr>
              <a:t>assentosReservados</a:t>
            </a:r>
            <a:r>
              <a:rPr lang="pt-BR" sz="2400" b="1" dirty="0" smtClean="0">
                <a:latin typeface="Tahoma"/>
                <a:ea typeface="+mn-lt"/>
                <a:cs typeface="Tahoma"/>
              </a:rPr>
              <a:t>[200</a:t>
            </a:r>
            <a:r>
              <a:rPr lang="pt-BR" sz="2400" b="1" dirty="0">
                <a:latin typeface="Tahoma"/>
                <a:ea typeface="+mn-lt"/>
                <a:cs typeface="Tahoma"/>
              </a:rPr>
              <a:t>]</a:t>
            </a:r>
            <a:r>
              <a:rPr lang="pt-BR" sz="2400" b="1" dirty="0" smtClean="0">
                <a:latin typeface="Tahoma"/>
                <a:ea typeface="+mn-lt"/>
                <a:cs typeface="Tahoma"/>
              </a:rPr>
              <a:t>[50</a:t>
            </a:r>
            <a:r>
              <a:rPr lang="pt-BR" sz="2400" b="1" dirty="0">
                <a:latin typeface="Tahoma"/>
                <a:ea typeface="+mn-lt"/>
                <a:cs typeface="Tahoma"/>
              </a:rPr>
              <a:t>], </a:t>
            </a:r>
            <a:r>
              <a:rPr lang="pt-BR" sz="2400" b="1" dirty="0" err="1" smtClean="0">
                <a:latin typeface="Tahoma"/>
                <a:ea typeface="+mn-lt"/>
                <a:cs typeface="Tahoma"/>
              </a:rPr>
              <a:t>int</a:t>
            </a:r>
            <a:r>
              <a:rPr lang="pt-BR" sz="2400" b="1" dirty="0">
                <a:latin typeface="Tahoma"/>
                <a:ea typeface="+mn-lt"/>
                <a:cs typeface="Tahoma"/>
              </a:rPr>
              <a:t> </a:t>
            </a:r>
            <a:r>
              <a:rPr lang="pt-BR" sz="2400" b="1" dirty="0" err="1" smtClean="0">
                <a:latin typeface="Tahoma"/>
                <a:ea typeface="+mn-lt"/>
                <a:cs typeface="Tahoma"/>
              </a:rPr>
              <a:t>numeroAssento</a:t>
            </a:r>
            <a:r>
              <a:rPr lang="pt-BR" sz="2400" b="1" dirty="0">
                <a:latin typeface="Tahoma"/>
                <a:ea typeface="+mn-lt"/>
                <a:cs typeface="Tahoma"/>
              </a:rPr>
              <a:t>)</a:t>
            </a:r>
            <a:endParaRPr lang="en-US" sz="2400" b="1" dirty="0">
              <a:latin typeface="Tahoma"/>
              <a:ea typeface="+mn-lt"/>
              <a:cs typeface="Tahoma"/>
            </a:endParaRPr>
          </a:p>
          <a:p>
            <a:pPr marL="45720" indent="0">
              <a:lnSpc>
                <a:spcPct val="110000"/>
              </a:lnSpc>
              <a:buNone/>
            </a:pPr>
            <a:r>
              <a:rPr lang="pt-BR" sz="2200" dirty="0" smtClean="0">
                <a:latin typeface="Tahoma"/>
                <a:ea typeface="+mn-lt"/>
                <a:cs typeface="Tahoma"/>
              </a:rPr>
              <a:t>- Função </a:t>
            </a:r>
            <a:r>
              <a:rPr lang="pt-BR" sz="2200" dirty="0">
                <a:latin typeface="Tahoma"/>
                <a:ea typeface="+mn-lt"/>
                <a:cs typeface="Tahoma"/>
              </a:rPr>
              <a:t>para efetuar a impressão 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da reserva de assento no voo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.</a:t>
            </a:r>
          </a:p>
          <a:p>
            <a:pPr marL="45720" indent="0">
              <a:lnSpc>
                <a:spcPct val="110000"/>
              </a:lnSpc>
              <a:buNone/>
            </a:pPr>
            <a:r>
              <a:rPr lang="pt-BR" sz="2200" dirty="0" smtClean="0">
                <a:latin typeface="Tahoma"/>
                <a:ea typeface="+mn-lt"/>
                <a:cs typeface="Tahoma"/>
              </a:rPr>
              <a:t>- Recebe </a:t>
            </a:r>
            <a:r>
              <a:rPr lang="pt-BR" sz="2200" dirty="0">
                <a:latin typeface="Tahoma"/>
                <a:ea typeface="+mn-lt"/>
                <a:cs typeface="Tahoma"/>
              </a:rPr>
              <a:t>como parâmetros 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a matriz 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“</a:t>
            </a:r>
            <a:r>
              <a:rPr lang="pt-BR" sz="2200" dirty="0" err="1" smtClean="0">
                <a:latin typeface="Tahoma"/>
                <a:ea typeface="+mn-lt"/>
                <a:cs typeface="Tahoma"/>
              </a:rPr>
              <a:t>assentosReservados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”;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200" dirty="0">
                <a:latin typeface="Tahoma"/>
                <a:ea typeface="+mn-lt"/>
                <a:cs typeface="Tahoma"/>
              </a:rPr>
              <a:t>e a poltrona reservada em 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“</a:t>
            </a:r>
            <a:r>
              <a:rPr lang="pt-BR" sz="2200" dirty="0" err="1" smtClean="0">
                <a:latin typeface="Tahoma"/>
                <a:ea typeface="+mn-lt"/>
                <a:cs typeface="Tahoma"/>
              </a:rPr>
              <a:t>numeroAssento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”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.</a:t>
            </a:r>
          </a:p>
          <a:p>
            <a:pPr marL="45720" indent="0">
              <a:lnSpc>
                <a:spcPct val="110000"/>
              </a:lnSpc>
              <a:buNone/>
            </a:pPr>
            <a:r>
              <a:rPr lang="pt-BR" sz="2200" dirty="0" smtClean="0">
                <a:latin typeface="Tahoma"/>
                <a:ea typeface="+mn-lt"/>
                <a:cs typeface="Tahoma"/>
              </a:rPr>
              <a:t>- A </a:t>
            </a:r>
            <a:r>
              <a:rPr lang="pt-BR" sz="2200" dirty="0">
                <a:latin typeface="Tahoma"/>
                <a:ea typeface="+mn-lt"/>
                <a:cs typeface="Tahoma"/>
              </a:rPr>
              <a:t>função retorna um código que representa os seguintes estados:</a:t>
            </a:r>
            <a:endParaRPr lang="en-US" sz="2200" dirty="0">
              <a:latin typeface="Tahoma"/>
              <a:ea typeface="+mn-lt"/>
              <a:cs typeface="Tahoma"/>
            </a:endParaRPr>
          </a:p>
          <a:p>
            <a:pPr marL="365760" lvl="1" indent="0">
              <a:lnSpc>
                <a:spcPct val="110000"/>
              </a:lnSpc>
              <a:buNone/>
            </a:pPr>
            <a:r>
              <a:rPr lang="pt-BR" sz="2200" dirty="0" smtClean="0">
                <a:latin typeface="Tahoma"/>
                <a:ea typeface="+mn-lt"/>
                <a:cs typeface="Tahoma"/>
              </a:rPr>
              <a:t>0 </a:t>
            </a:r>
            <a:r>
              <a:rPr lang="mr-IN" sz="2200" dirty="0" smtClean="0">
                <a:latin typeface="Tahoma"/>
                <a:ea typeface="+mn-lt"/>
                <a:cs typeface="Tahoma"/>
              </a:rPr>
              <a:t>–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 se a poltrona informada no par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âmetro “</a:t>
            </a:r>
            <a:r>
              <a:rPr lang="pt-BR" sz="2200" dirty="0" err="1" smtClean="0">
                <a:latin typeface="Tahoma"/>
                <a:ea typeface="+mn-lt"/>
                <a:cs typeface="Tahoma"/>
              </a:rPr>
              <a:t>numeroAssento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”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 est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á disponível.</a:t>
            </a:r>
            <a:endParaRPr lang="en-US" sz="2200" dirty="0">
              <a:latin typeface="Tahoma"/>
              <a:ea typeface="+mn-lt"/>
              <a:cs typeface="Tahoma"/>
            </a:endParaRPr>
          </a:p>
          <a:p>
            <a:pPr marL="365760" lvl="1" indent="0">
              <a:lnSpc>
                <a:spcPct val="110000"/>
              </a:lnSpc>
              <a:buNone/>
            </a:pPr>
            <a:r>
              <a:rPr lang="pt-BR" sz="2200" dirty="0" smtClean="0">
                <a:latin typeface="Tahoma"/>
                <a:ea typeface="+mn-lt"/>
                <a:cs typeface="Tahoma"/>
              </a:rPr>
              <a:t>1 </a:t>
            </a:r>
            <a:r>
              <a:rPr lang="mr-IN" sz="2200" dirty="0" smtClean="0">
                <a:latin typeface="Tahoma"/>
                <a:ea typeface="+mn-lt"/>
                <a:cs typeface="Tahoma"/>
              </a:rPr>
              <a:t>–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 se a poltrona informada est</a:t>
            </a:r>
            <a:r>
              <a:rPr lang="pt-BR" sz="2200" dirty="0" smtClean="0">
                <a:latin typeface="Tahoma"/>
                <a:ea typeface="+mn-lt"/>
                <a:cs typeface="Tahoma"/>
              </a:rPr>
              <a:t>á reservada.</a:t>
            </a:r>
            <a:endParaRPr lang="en-US" sz="22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603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Documentando as Assinaturas das Fun</a:t>
            </a:r>
            <a:r>
              <a:rPr lang="bg-BG" dirty="0" smtClean="0">
                <a:latin typeface="Tahoma"/>
                <a:cs typeface="Tahoma"/>
              </a:rPr>
              <a:t>ções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cs typeface="Courier New"/>
              </a:rPr>
              <a:t>*</a:t>
            </a:r>
            <a:r>
              <a:rPr lang="en-US" sz="1800" b="1" dirty="0">
                <a:latin typeface="Courier New"/>
                <a:cs typeface="Courier New"/>
              </a:rPr>
              <a:t>****************************************</a:t>
            </a:r>
            <a:r>
              <a:rPr lang="en-US" sz="1800" b="1" dirty="0" smtClean="0">
                <a:latin typeface="Courier New"/>
                <a:cs typeface="Courier New"/>
              </a:rPr>
              <a:t>**************** NAME </a:t>
            </a:r>
            <a:r>
              <a:rPr lang="en-US" sz="1800" b="1" dirty="0">
                <a:latin typeface="Courier New"/>
                <a:cs typeface="Courier New"/>
              </a:rPr>
              <a:t>:</a:t>
            </a:r>
            <a:r>
              <a:rPr lang="en-US" sz="1800" b="1" dirty="0" smtClean="0">
                <a:latin typeface="Courier New"/>
                <a:cs typeface="Courier New"/>
              </a:rPr>
              <a:t> </a:t>
            </a:r>
            <a:r>
              <a:rPr lang="en-US" sz="1800" b="1" dirty="0" err="1">
                <a:latin typeface="Courier New"/>
                <a:cs typeface="Courier New"/>
              </a:rPr>
              <a:t>int</a:t>
            </a:r>
            <a:r>
              <a:rPr lang="en-US" sz="1800" b="1" dirty="0">
                <a:latin typeface="Courier New"/>
                <a:cs typeface="Courier New"/>
              </a:rPr>
              <a:t> </a:t>
            </a:r>
            <a:r>
              <a:rPr lang="en-US" sz="1800" b="1" dirty="0" err="1">
                <a:latin typeface="Courier New"/>
                <a:cs typeface="Courier New"/>
              </a:rPr>
              <a:t>KB_GetLine</a:t>
            </a:r>
            <a:r>
              <a:rPr lang="en-US" sz="1800" b="1" dirty="0">
                <a:latin typeface="Courier New"/>
                <a:cs typeface="Courier New"/>
              </a:rPr>
              <a:t>(</a:t>
            </a:r>
            <a:r>
              <a:rPr lang="en-US" sz="1800" b="1" dirty="0" err="1">
                <a:latin typeface="Courier New"/>
                <a:cs typeface="Courier New"/>
              </a:rPr>
              <a:t>pKbdBuf</a:t>
            </a:r>
            <a:r>
              <a:rPr lang="en-US" sz="1800" b="1" dirty="0">
                <a:latin typeface="Courier New"/>
                <a:cs typeface="Courier New"/>
              </a:rPr>
              <a:t>, </a:t>
            </a:r>
            <a:r>
              <a:rPr lang="en-US" sz="1800" b="1" dirty="0" err="1">
                <a:latin typeface="Courier New"/>
                <a:cs typeface="Courier New"/>
              </a:rPr>
              <a:t>MaxChars</a:t>
            </a:r>
            <a:r>
              <a:rPr lang="en-US" sz="1800" b="1" dirty="0" smtClean="0">
                <a:latin typeface="Courier New"/>
                <a:cs typeface="Courier New"/>
              </a:rPr>
              <a:t>)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cs typeface="Courier New"/>
              </a:rPr>
              <a:t>* DESCRIPTION </a:t>
            </a:r>
            <a:r>
              <a:rPr lang="en-US" sz="1800" b="1" dirty="0">
                <a:latin typeface="Courier New"/>
                <a:cs typeface="Courier New"/>
              </a:rPr>
              <a:t>: </a:t>
            </a:r>
            <a:r>
              <a:rPr lang="en-US" sz="1800" b="1" dirty="0" smtClean="0">
                <a:latin typeface="Courier New"/>
                <a:cs typeface="Courier New"/>
              </a:rPr>
              <a:t>Input </a:t>
            </a:r>
            <a:r>
              <a:rPr lang="en-US" sz="1800" b="1" dirty="0">
                <a:latin typeface="Courier New"/>
                <a:cs typeface="Courier New"/>
              </a:rPr>
              <a:t>line of text from </a:t>
            </a:r>
            <a:r>
              <a:rPr lang="en-US" sz="1800" b="1" dirty="0" smtClean="0">
                <a:latin typeface="Courier New"/>
                <a:cs typeface="Courier New"/>
              </a:rPr>
              <a:t>keyboard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 INPUTS :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  </a:t>
            </a:r>
            <a:r>
              <a:rPr lang="en-US" sz="1800" b="1" dirty="0" smtClean="0">
                <a:latin typeface="Courier New"/>
                <a:cs typeface="Courier New"/>
              </a:rPr>
              <a:t>PARAMETERS :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  </a:t>
            </a:r>
            <a:r>
              <a:rPr lang="en-US" sz="1800" b="1" dirty="0" smtClean="0">
                <a:latin typeface="Courier New"/>
                <a:cs typeface="Courier New"/>
              </a:rPr>
              <a:t>  </a:t>
            </a:r>
            <a:r>
              <a:rPr lang="en-US" sz="1800" b="1" dirty="0" err="1" smtClean="0">
                <a:latin typeface="Courier New"/>
                <a:cs typeface="Courier New"/>
              </a:rPr>
              <a:t>int</a:t>
            </a:r>
            <a:r>
              <a:rPr lang="en-US" sz="1800" b="1" dirty="0">
                <a:latin typeface="Courier New"/>
                <a:cs typeface="Courier New"/>
              </a:rPr>
              <a:t> </a:t>
            </a:r>
            <a:r>
              <a:rPr lang="en-US" sz="1800" b="1" dirty="0" err="1" smtClean="0">
                <a:latin typeface="Courier New"/>
                <a:cs typeface="Courier New"/>
              </a:rPr>
              <a:t>MaxChars</a:t>
            </a:r>
            <a:r>
              <a:rPr lang="en-US" sz="1800" b="1" dirty="0" smtClean="0">
                <a:latin typeface="Courier New"/>
                <a:cs typeface="Courier New"/>
              </a:rPr>
              <a:t> :</a:t>
            </a:r>
            <a:r>
              <a:rPr lang="en-US" sz="1800" b="1" dirty="0">
                <a:latin typeface="Courier New"/>
                <a:cs typeface="Courier New"/>
              </a:rPr>
              <a:t> </a:t>
            </a:r>
            <a:r>
              <a:rPr lang="en-US" sz="1800" b="1" dirty="0" smtClean="0">
                <a:latin typeface="Courier New"/>
                <a:cs typeface="Courier New"/>
              </a:rPr>
              <a:t>max </a:t>
            </a:r>
            <a:r>
              <a:rPr lang="en-US" sz="1800" b="1" dirty="0">
                <a:latin typeface="Courier New"/>
                <a:cs typeface="Courier New"/>
              </a:rPr>
              <a:t>chars to read before beeping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  </a:t>
            </a:r>
            <a:r>
              <a:rPr lang="en-US" sz="1800" b="1" dirty="0" smtClean="0">
                <a:latin typeface="Courier New"/>
                <a:cs typeface="Courier New"/>
              </a:rPr>
              <a:t>  char</a:t>
            </a:r>
            <a:r>
              <a:rPr lang="en-US" sz="1800" b="1" dirty="0">
                <a:latin typeface="Courier New"/>
                <a:cs typeface="Courier New"/>
              </a:rPr>
              <a:t> </a:t>
            </a:r>
            <a:r>
              <a:rPr lang="en-US" sz="1800" b="1" dirty="0" smtClean="0">
                <a:latin typeface="Courier New"/>
                <a:cs typeface="Courier New"/>
              </a:rPr>
              <a:t>*</a:t>
            </a:r>
            <a:r>
              <a:rPr lang="en-US" sz="1800" b="1" dirty="0" err="1" smtClean="0">
                <a:latin typeface="Courier New"/>
                <a:cs typeface="Courier New"/>
              </a:rPr>
              <a:t>pKbdBuf</a:t>
            </a:r>
            <a:r>
              <a:rPr lang="en-US" sz="1800" b="1" dirty="0" smtClean="0">
                <a:latin typeface="Courier New"/>
                <a:cs typeface="Courier New"/>
              </a:rPr>
              <a:t> :</a:t>
            </a:r>
            <a:r>
              <a:rPr lang="en-US" sz="1800" b="1" dirty="0">
                <a:latin typeface="Courier New"/>
                <a:cs typeface="Courier New"/>
              </a:rPr>
              <a:t> </a:t>
            </a:r>
            <a:r>
              <a:rPr lang="en-US" sz="1800" b="1" dirty="0" smtClean="0">
                <a:latin typeface="Courier New"/>
                <a:cs typeface="Courier New"/>
              </a:rPr>
              <a:t>buffer </a:t>
            </a:r>
            <a:r>
              <a:rPr lang="en-US" sz="1800" b="1" dirty="0">
                <a:latin typeface="Courier New"/>
                <a:cs typeface="Courier New"/>
              </a:rPr>
              <a:t>for keyboard chars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</a:t>
            </a:r>
            <a:r>
              <a:rPr lang="en-US" sz="1800" b="1" dirty="0" smtClean="0">
                <a:latin typeface="Courier New"/>
                <a:cs typeface="Courier New"/>
              </a:rPr>
              <a:t>RETURN </a:t>
            </a:r>
            <a:r>
              <a:rPr lang="en-US" sz="1800" b="1" dirty="0">
                <a:latin typeface="Courier New"/>
                <a:cs typeface="Courier New"/>
              </a:rPr>
              <a:t>: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</a:t>
            </a:r>
            <a:r>
              <a:rPr lang="en-US" sz="1800" b="1" dirty="0" smtClean="0">
                <a:latin typeface="Courier New"/>
                <a:cs typeface="Courier New"/>
              </a:rPr>
              <a:t>  Type :</a:t>
            </a:r>
            <a:r>
              <a:rPr lang="en-US" sz="1800" b="1" dirty="0">
                <a:latin typeface="Courier New"/>
                <a:cs typeface="Courier New"/>
              </a:rPr>
              <a:t> </a:t>
            </a:r>
            <a:r>
              <a:rPr lang="en-US" sz="1800" b="1" dirty="0" err="1" smtClean="0">
                <a:latin typeface="Courier New"/>
                <a:cs typeface="Courier New"/>
              </a:rPr>
              <a:t>int</a:t>
            </a:r>
            <a:endParaRPr lang="en-US" sz="1800" b="1" dirty="0" smtClean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 smtClean="0">
                <a:latin typeface="Courier New"/>
                <a:cs typeface="Courier New"/>
              </a:rPr>
              <a:t>*   Error code :</a:t>
            </a:r>
            <a:endParaRPr lang="en-US" sz="1800" b="1" dirty="0">
              <a:latin typeface="Courier New"/>
              <a:cs typeface="Courier New"/>
            </a:endParaRP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    </a:t>
            </a:r>
            <a:r>
              <a:rPr lang="en-US" sz="1800" b="1" dirty="0" smtClean="0">
                <a:latin typeface="Courier New"/>
                <a:cs typeface="Courier New"/>
              </a:rPr>
              <a:t>Values : VALID_DATA : valid </a:t>
            </a:r>
            <a:r>
              <a:rPr lang="en-US" sz="1800" b="1" dirty="0">
                <a:latin typeface="Courier New"/>
                <a:cs typeface="Courier New"/>
              </a:rPr>
              <a:t>read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           </a:t>
            </a:r>
            <a:r>
              <a:rPr lang="en-US" sz="1800" b="1" dirty="0" smtClean="0">
                <a:latin typeface="Courier New"/>
                <a:cs typeface="Courier New"/>
              </a:rPr>
              <a:t>  KB_BAD_DATA</a:t>
            </a:r>
            <a:r>
              <a:rPr lang="en-US" sz="1800" b="1" dirty="0">
                <a:latin typeface="Courier New"/>
                <a:cs typeface="Courier New"/>
              </a:rPr>
              <a:t> </a:t>
            </a:r>
            <a:r>
              <a:rPr lang="en-US" sz="1800" b="1" dirty="0" smtClean="0">
                <a:latin typeface="Courier New"/>
                <a:cs typeface="Courier New"/>
              </a:rPr>
              <a:t>: invalid </a:t>
            </a:r>
            <a:r>
              <a:rPr lang="en-US" sz="1800" b="1" dirty="0" err="1">
                <a:latin typeface="Courier New"/>
                <a:cs typeface="Courier New"/>
              </a:rPr>
              <a:t>kbd</a:t>
            </a:r>
            <a:r>
              <a:rPr lang="en-US" sz="1800" b="1" dirty="0">
                <a:latin typeface="Courier New"/>
                <a:cs typeface="Courier New"/>
              </a:rPr>
              <a:t> data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            </a:t>
            </a:r>
            <a:r>
              <a:rPr lang="en-US" sz="1800" b="1" dirty="0" smtClean="0">
                <a:latin typeface="Courier New"/>
                <a:cs typeface="Courier New"/>
              </a:rPr>
              <a:t>  </a:t>
            </a:r>
            <a:r>
              <a:rPr lang="en-US" sz="1800" b="1" dirty="0">
                <a:latin typeface="Courier New"/>
                <a:cs typeface="Courier New"/>
              </a:rPr>
              <a:t>KB_DISCONNECTED </a:t>
            </a:r>
            <a:r>
              <a:rPr lang="en-US" sz="1800" b="1" dirty="0" smtClean="0">
                <a:latin typeface="Courier New"/>
                <a:cs typeface="Courier New"/>
              </a:rPr>
              <a:t>: keyboard </a:t>
            </a:r>
            <a:r>
              <a:rPr lang="en-US" sz="1800" b="1" dirty="0">
                <a:latin typeface="Courier New"/>
                <a:cs typeface="Courier New"/>
              </a:rPr>
              <a:t>not present</a:t>
            </a:r>
          </a:p>
          <a:p>
            <a:pPr marL="68580" indent="0">
              <a:lnSpc>
                <a:spcPct val="90000"/>
              </a:lnSpc>
              <a:buNone/>
            </a:pPr>
            <a:r>
              <a:rPr lang="en-US" sz="1800" b="1" dirty="0">
                <a:latin typeface="Courier New"/>
                <a:cs typeface="Courier New"/>
              </a:rPr>
              <a:t>****************************************</a:t>
            </a:r>
            <a:r>
              <a:rPr lang="en-US" sz="1800" b="1" dirty="0" smtClean="0">
                <a:latin typeface="Courier New"/>
                <a:cs typeface="Courier New"/>
              </a:rPr>
              <a:t>****************</a:t>
            </a:r>
            <a:endParaRPr lang="en-US" sz="18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760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Documenta</a:t>
            </a:r>
            <a:r>
              <a:rPr lang="bg-BG" dirty="0" smtClean="0">
                <a:latin typeface="Tahoma"/>
                <a:cs typeface="Tahoma"/>
              </a:rPr>
              <a:t>ção para o Usuário do </a:t>
            </a:r>
            <a:r>
              <a:rPr lang="bg-BG" i="1" dirty="0" smtClean="0">
                <a:latin typeface="Tahoma"/>
                <a:cs typeface="Tahoma"/>
              </a:rPr>
              <a:t>Software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40000"/>
              </a:lnSpc>
            </a:pPr>
            <a:r>
              <a:rPr lang="en-US" sz="4400" dirty="0" err="1" smtClean="0">
                <a:latin typeface="Tahoma"/>
                <a:ea typeface="+mn-lt"/>
                <a:cs typeface="Tahoma"/>
              </a:rPr>
              <a:t>Documenta</a:t>
            </a:r>
            <a:r>
              <a:rPr lang="en-US" sz="4400" dirty="0" err="1" smtClean="0">
                <a:latin typeface="Tahoma"/>
                <a:ea typeface="+mn-lt"/>
                <a:cs typeface="Tahoma"/>
              </a:rPr>
              <a:t>ção</a:t>
            </a:r>
            <a:r>
              <a:rPr lang="en-US" sz="4400" dirty="0" smtClean="0">
                <a:latin typeface="Tahoma"/>
                <a:ea typeface="+mn-lt"/>
                <a:cs typeface="Tahoma"/>
              </a:rPr>
              <a:t> de </a:t>
            </a:r>
            <a:r>
              <a:rPr lang="en-US" sz="4400" b="1" dirty="0" smtClean="0">
                <a:latin typeface="Tahoma"/>
                <a:ea typeface="+mn-lt"/>
                <a:cs typeface="Tahoma"/>
              </a:rPr>
              <a:t>alto </a:t>
            </a:r>
            <a:r>
              <a:rPr lang="en-US" sz="4400" b="1" dirty="0" err="1" smtClean="0">
                <a:latin typeface="Tahoma"/>
                <a:ea typeface="+mn-lt"/>
                <a:cs typeface="Tahoma"/>
              </a:rPr>
              <a:t>nível</a:t>
            </a:r>
            <a:r>
              <a:rPr lang="en-US" sz="4400" dirty="0" smtClean="0">
                <a:latin typeface="Tahoma"/>
                <a:ea typeface="+mn-lt"/>
                <a:cs typeface="Tahoma"/>
              </a:rPr>
              <a:t>:</a:t>
            </a:r>
          </a:p>
          <a:p>
            <a:pPr lvl="1">
              <a:lnSpc>
                <a:spcPct val="140000"/>
              </a:lnSpc>
            </a:pPr>
            <a:r>
              <a:rPr lang="en-US" sz="4000" b="1" dirty="0" smtClean="0">
                <a:latin typeface="Tahoma"/>
                <a:ea typeface="+mn-lt"/>
                <a:cs typeface="Tahoma"/>
              </a:rPr>
              <a:t>Manual do </a:t>
            </a:r>
            <a:r>
              <a:rPr lang="en-US" sz="4000" b="1" dirty="0" err="1" smtClean="0">
                <a:latin typeface="Tahoma"/>
                <a:ea typeface="+mn-lt"/>
                <a:cs typeface="Tahoma"/>
              </a:rPr>
              <a:t>sistema</a:t>
            </a:r>
            <a:r>
              <a:rPr lang="en-US" sz="40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40000"/>
              </a:lnSpc>
            </a:pPr>
            <a:r>
              <a:rPr lang="en-US" sz="4000" b="1" dirty="0" smtClean="0">
                <a:latin typeface="Tahoma"/>
                <a:ea typeface="+mn-lt"/>
                <a:cs typeface="Tahoma"/>
              </a:rPr>
              <a:t>Manual do </a:t>
            </a:r>
            <a:r>
              <a:rPr lang="en-US" sz="4000" b="1" dirty="0" err="1" smtClean="0">
                <a:latin typeface="Tahoma"/>
                <a:ea typeface="+mn-lt"/>
                <a:cs typeface="Tahoma"/>
              </a:rPr>
              <a:t>usu</a:t>
            </a:r>
            <a:r>
              <a:rPr lang="en-US" sz="4000" b="1" dirty="0" err="1" smtClean="0">
                <a:latin typeface="Tahoma"/>
                <a:ea typeface="+mn-lt"/>
                <a:cs typeface="Tahoma"/>
              </a:rPr>
              <a:t>ário</a:t>
            </a:r>
            <a:r>
              <a:rPr lang="en-US" sz="40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40000"/>
              </a:lnSpc>
            </a:pPr>
            <a:r>
              <a:rPr lang="en-US" sz="4000" b="1" i="1" dirty="0" smtClean="0">
                <a:latin typeface="Tahoma"/>
                <a:ea typeface="+mn-lt"/>
                <a:cs typeface="Tahoma"/>
              </a:rPr>
              <a:t>Help</a:t>
            </a:r>
            <a:r>
              <a:rPr lang="en-US" sz="4000" dirty="0" smtClean="0">
                <a:latin typeface="Tahoma"/>
                <a:ea typeface="+mn-lt"/>
                <a:cs typeface="Tahoma"/>
              </a:rPr>
              <a:t>.</a:t>
            </a:r>
            <a:endParaRPr lang="en-US" sz="4000" dirty="0" smtClean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163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Median.thmx</Template>
  <TotalTime>8596</TotalTime>
  <Words>509</Words>
  <Application>Microsoft Macintosh PowerPoint</Application>
  <PresentationFormat>On-screen Show (4:3)</PresentationFormat>
  <Paragraphs>111</Paragraphs>
  <Slides>12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Median</vt:lpstr>
      <vt:lpstr>DOCUMENTAÇÃO DE SOFTWARE</vt:lpstr>
      <vt:lpstr>Documentação de Software</vt:lpstr>
      <vt:lpstr>Tipos de Documentação</vt:lpstr>
      <vt:lpstr>Documentos de Especificação de Requisitos de Software</vt:lpstr>
      <vt:lpstr>Documentos de Arquitetura de Software</vt:lpstr>
      <vt:lpstr>Documentação do Código-Fonte</vt:lpstr>
      <vt:lpstr>Cabeçalho de Arquivos</vt:lpstr>
      <vt:lpstr>Assinatura da Função</vt:lpstr>
      <vt:lpstr>Documentando as Assinaturas das Funções</vt:lpstr>
      <vt:lpstr>Documentando as Assinaturas das Funções</vt:lpstr>
      <vt:lpstr>Documentando as Assinaturas das Funções</vt:lpstr>
      <vt:lpstr>Documentação para o Usuário do Software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EVELINE ALONSO</dc:creator>
  <cp:lastModifiedBy>Eveline Alonso Veloso</cp:lastModifiedBy>
  <cp:revision>539</cp:revision>
  <cp:lastPrinted>2022-03-26T23:12:58Z</cp:lastPrinted>
  <dcterms:created xsi:type="dcterms:W3CDTF">2022-02-17T12:52:56Z</dcterms:created>
  <dcterms:modified xsi:type="dcterms:W3CDTF">2022-03-27T12:27:40Z</dcterms:modified>
</cp:coreProperties>
</file>